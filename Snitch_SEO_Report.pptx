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4" r:id="rId9"/>
    <p:sldId id="265"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1" d="100"/>
          <a:sy n="91" d="100"/>
        </p:scale>
        <p:origin x="78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75281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This is the SEO Audit and Strategy Report for Snitch.com, India's fastest-growing men's D2C fashion brand. This presentation covers what we found when auditing their website, the keywords they should target, and what they need to fix to grow their organic (free) traffic from Google.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Snitch is a very successful clothing brand in India. They sell trendy men's clothes online and in stores. Even though millions of people visit their website every month, most of them come directly — meaning they already know the brand. The problem is: not enough new customers are finding Snitch through Google search. That's the gap we want to fix with SEO.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six main tools to do this audit. Think of these tools like a health check-up for the website. Google Search Console and PageSpeed Insights are free. Semrush and Ahrefs are paid tools that professionals use. Screaming Frog acts like a robot that visits every page and notes down what's wrong. Similarweb shows us how people find the website.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technical findings — basically what's happening behind the scenes on the website. Green means it's fine. Yellow means it needs improvement. Red means it's a real problem. The biggest concern is website speed on mobile phones, because most Indian shoppers use mobile to browse. Slow pages = people leave = lower Google rankings.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two types of SEO issues. On-page means problems on the actual web pages — like missing text, weak headings, and no FAQ. Off-page means what's happening outside the website — like how many other websites link to Snitch. Snitch has good brand mentions (especially after Shark Tank), but most of those mentions don't have a clickable link, which is a wasted opportunity.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keywords Snitch should target — they are the search terms people type into Google when they want to buy jeans. The monthly volume tells us how many people search each term. 'Men jeans online India' gets 74,000 searches per month. If Snitch ranks on the first page of Google for these keywords, they can get thousands of free visitors without spending on ads.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6 biggest problems we found. Red means it urgently needs fixing. Yellow means it's important but less urgent. The top 3 issues — speed, no content, and weak headings — should be fixed in the first month. Together, these issues are the main reason Snitch is not ranking higher on Google for jeans-related keywords.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targets we expect to hit if Snitch follows the action plan. In 3 months, organic traffic should go from 1.5 million to 2.5 million visits. In 12 months, the goal is 5–6 million organic visits per month and ranking in the top 10 for 250+ jeans keywords. The green column shows where we want to be in 12 months — all achievable with consistent effort.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Snitch is a fantastic brand that is underusing SEO. They have 7 million visitors per month, but less than a third come from Google. With a strong content plan, faster mobile pages, better headings, and quality backlinks — Snitch can double or triple their organic traffic in 12 months. This means more customers found for free, lower advertising costs, and stronger long-term growth.</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E94560"/>
          </a:solidFill>
          <a:ln w="12700">
            <a:solidFill>
              <a:srgbClr val="E94560"/>
            </a:solidFill>
            <a:prstDash val="solid"/>
          </a:ln>
        </p:spPr>
      </p:sp>
      <p:sp>
        <p:nvSpPr>
          <p:cNvPr id="3" name="Shape 1"/>
          <p:cNvSpPr/>
          <p:nvPr/>
        </p:nvSpPr>
        <p:spPr>
          <a:xfrm>
            <a:off x="5943600" y="274320"/>
            <a:ext cx="91440" cy="91440"/>
          </a:xfrm>
          <a:prstGeom prst="ellipse">
            <a:avLst/>
          </a:prstGeom>
          <a:solidFill>
            <a:srgbClr val="E94560">
              <a:alpha val="40000"/>
            </a:srgbClr>
          </a:solidFill>
          <a:ln w="12700">
            <a:solidFill>
              <a:srgbClr val="E94560">
                <a:alpha val="40000"/>
              </a:srgbClr>
            </a:solidFill>
            <a:prstDash val="solid"/>
          </a:ln>
        </p:spPr>
      </p:sp>
      <p:sp>
        <p:nvSpPr>
          <p:cNvPr id="4" name="Shape 2"/>
          <p:cNvSpPr/>
          <p:nvPr/>
        </p:nvSpPr>
        <p:spPr>
          <a:xfrm>
            <a:off x="6446520" y="274320"/>
            <a:ext cx="91440" cy="91440"/>
          </a:xfrm>
          <a:prstGeom prst="ellipse">
            <a:avLst/>
          </a:prstGeom>
          <a:solidFill>
            <a:srgbClr val="E94560">
              <a:alpha val="40000"/>
            </a:srgbClr>
          </a:solidFill>
          <a:ln w="12700">
            <a:solidFill>
              <a:srgbClr val="E94560">
                <a:alpha val="40000"/>
              </a:srgbClr>
            </a:solidFill>
            <a:prstDash val="solid"/>
          </a:ln>
        </p:spPr>
      </p:sp>
      <p:sp>
        <p:nvSpPr>
          <p:cNvPr id="5" name="Shape 3"/>
          <p:cNvSpPr/>
          <p:nvPr/>
        </p:nvSpPr>
        <p:spPr>
          <a:xfrm>
            <a:off x="6949440" y="274320"/>
            <a:ext cx="91440" cy="91440"/>
          </a:xfrm>
          <a:prstGeom prst="ellipse">
            <a:avLst/>
          </a:prstGeom>
          <a:solidFill>
            <a:srgbClr val="E94560">
              <a:alpha val="40000"/>
            </a:srgbClr>
          </a:solidFill>
          <a:ln w="12700">
            <a:solidFill>
              <a:srgbClr val="E94560">
                <a:alpha val="40000"/>
              </a:srgbClr>
            </a:solidFill>
            <a:prstDash val="solid"/>
          </a:ln>
        </p:spPr>
      </p:sp>
      <p:sp>
        <p:nvSpPr>
          <p:cNvPr id="6" name="Shape 4"/>
          <p:cNvSpPr/>
          <p:nvPr/>
        </p:nvSpPr>
        <p:spPr>
          <a:xfrm>
            <a:off x="7452360" y="274320"/>
            <a:ext cx="91440" cy="91440"/>
          </a:xfrm>
          <a:prstGeom prst="ellipse">
            <a:avLst/>
          </a:prstGeom>
          <a:solidFill>
            <a:srgbClr val="E94560">
              <a:alpha val="40000"/>
            </a:srgbClr>
          </a:solidFill>
          <a:ln w="12700">
            <a:solidFill>
              <a:srgbClr val="E94560">
                <a:alpha val="40000"/>
              </a:srgbClr>
            </a:solidFill>
            <a:prstDash val="solid"/>
          </a:ln>
        </p:spPr>
      </p:sp>
      <p:sp>
        <p:nvSpPr>
          <p:cNvPr id="7" name="Shape 5"/>
          <p:cNvSpPr/>
          <p:nvPr/>
        </p:nvSpPr>
        <p:spPr>
          <a:xfrm>
            <a:off x="7955280" y="274320"/>
            <a:ext cx="91440" cy="91440"/>
          </a:xfrm>
          <a:prstGeom prst="ellipse">
            <a:avLst/>
          </a:prstGeom>
          <a:solidFill>
            <a:srgbClr val="E94560">
              <a:alpha val="40000"/>
            </a:srgbClr>
          </a:solidFill>
          <a:ln w="12700">
            <a:solidFill>
              <a:srgbClr val="E94560">
                <a:alpha val="40000"/>
              </a:srgbClr>
            </a:solidFill>
            <a:prstDash val="solid"/>
          </a:ln>
        </p:spPr>
      </p:sp>
      <p:sp>
        <p:nvSpPr>
          <p:cNvPr id="8" name="Shape 6"/>
          <p:cNvSpPr/>
          <p:nvPr/>
        </p:nvSpPr>
        <p:spPr>
          <a:xfrm>
            <a:off x="8458200" y="274320"/>
            <a:ext cx="91440" cy="91440"/>
          </a:xfrm>
          <a:prstGeom prst="ellipse">
            <a:avLst/>
          </a:prstGeom>
          <a:solidFill>
            <a:srgbClr val="E94560">
              <a:alpha val="40000"/>
            </a:srgbClr>
          </a:solidFill>
          <a:ln w="12700">
            <a:solidFill>
              <a:srgbClr val="E94560">
                <a:alpha val="40000"/>
              </a:srgbClr>
            </a:solidFill>
            <a:prstDash val="solid"/>
          </a:ln>
        </p:spPr>
      </p:sp>
      <p:sp>
        <p:nvSpPr>
          <p:cNvPr id="9" name="Shape 7"/>
          <p:cNvSpPr/>
          <p:nvPr/>
        </p:nvSpPr>
        <p:spPr>
          <a:xfrm>
            <a:off x="5943600" y="777240"/>
            <a:ext cx="91440" cy="91440"/>
          </a:xfrm>
          <a:prstGeom prst="ellipse">
            <a:avLst/>
          </a:prstGeom>
          <a:solidFill>
            <a:srgbClr val="E94560">
              <a:alpha val="40000"/>
            </a:srgbClr>
          </a:solidFill>
          <a:ln w="12700">
            <a:solidFill>
              <a:srgbClr val="E94560">
                <a:alpha val="40000"/>
              </a:srgbClr>
            </a:solidFill>
            <a:prstDash val="solid"/>
          </a:ln>
        </p:spPr>
      </p:sp>
      <p:sp>
        <p:nvSpPr>
          <p:cNvPr id="10" name="Shape 8"/>
          <p:cNvSpPr/>
          <p:nvPr/>
        </p:nvSpPr>
        <p:spPr>
          <a:xfrm>
            <a:off x="6446520" y="777240"/>
            <a:ext cx="91440" cy="91440"/>
          </a:xfrm>
          <a:prstGeom prst="ellipse">
            <a:avLst/>
          </a:prstGeom>
          <a:solidFill>
            <a:srgbClr val="E94560">
              <a:alpha val="40000"/>
            </a:srgbClr>
          </a:solidFill>
          <a:ln w="12700">
            <a:solidFill>
              <a:srgbClr val="E94560">
                <a:alpha val="40000"/>
              </a:srgbClr>
            </a:solidFill>
            <a:prstDash val="solid"/>
          </a:ln>
        </p:spPr>
      </p:sp>
      <p:sp>
        <p:nvSpPr>
          <p:cNvPr id="11" name="Shape 9"/>
          <p:cNvSpPr/>
          <p:nvPr/>
        </p:nvSpPr>
        <p:spPr>
          <a:xfrm>
            <a:off x="6949440" y="777240"/>
            <a:ext cx="91440" cy="91440"/>
          </a:xfrm>
          <a:prstGeom prst="ellipse">
            <a:avLst/>
          </a:prstGeom>
          <a:solidFill>
            <a:srgbClr val="E94560">
              <a:alpha val="40000"/>
            </a:srgbClr>
          </a:solidFill>
          <a:ln w="12700">
            <a:solidFill>
              <a:srgbClr val="E94560">
                <a:alpha val="40000"/>
              </a:srgbClr>
            </a:solidFill>
            <a:prstDash val="solid"/>
          </a:ln>
        </p:spPr>
      </p:sp>
      <p:sp>
        <p:nvSpPr>
          <p:cNvPr id="12" name="Shape 10"/>
          <p:cNvSpPr/>
          <p:nvPr/>
        </p:nvSpPr>
        <p:spPr>
          <a:xfrm>
            <a:off x="7452360" y="777240"/>
            <a:ext cx="91440" cy="91440"/>
          </a:xfrm>
          <a:prstGeom prst="ellipse">
            <a:avLst/>
          </a:prstGeom>
          <a:solidFill>
            <a:srgbClr val="E94560">
              <a:alpha val="40000"/>
            </a:srgbClr>
          </a:solidFill>
          <a:ln w="12700">
            <a:solidFill>
              <a:srgbClr val="E94560">
                <a:alpha val="40000"/>
              </a:srgbClr>
            </a:solidFill>
            <a:prstDash val="solid"/>
          </a:ln>
        </p:spPr>
      </p:sp>
      <p:sp>
        <p:nvSpPr>
          <p:cNvPr id="13" name="Shape 11"/>
          <p:cNvSpPr/>
          <p:nvPr/>
        </p:nvSpPr>
        <p:spPr>
          <a:xfrm>
            <a:off x="7955280" y="777240"/>
            <a:ext cx="91440" cy="91440"/>
          </a:xfrm>
          <a:prstGeom prst="ellipse">
            <a:avLst/>
          </a:prstGeom>
          <a:solidFill>
            <a:srgbClr val="E94560">
              <a:alpha val="40000"/>
            </a:srgbClr>
          </a:solidFill>
          <a:ln w="12700">
            <a:solidFill>
              <a:srgbClr val="E94560">
                <a:alpha val="40000"/>
              </a:srgbClr>
            </a:solidFill>
            <a:prstDash val="solid"/>
          </a:ln>
        </p:spPr>
      </p:sp>
      <p:sp>
        <p:nvSpPr>
          <p:cNvPr id="14" name="Shape 12"/>
          <p:cNvSpPr/>
          <p:nvPr/>
        </p:nvSpPr>
        <p:spPr>
          <a:xfrm>
            <a:off x="8458200" y="777240"/>
            <a:ext cx="91440" cy="91440"/>
          </a:xfrm>
          <a:prstGeom prst="ellipse">
            <a:avLst/>
          </a:prstGeom>
          <a:solidFill>
            <a:srgbClr val="E94560">
              <a:alpha val="40000"/>
            </a:srgbClr>
          </a:solidFill>
          <a:ln w="12700">
            <a:solidFill>
              <a:srgbClr val="E94560">
                <a:alpha val="40000"/>
              </a:srgbClr>
            </a:solidFill>
            <a:prstDash val="solid"/>
          </a:ln>
        </p:spPr>
      </p:sp>
      <p:sp>
        <p:nvSpPr>
          <p:cNvPr id="15" name="Shape 13"/>
          <p:cNvSpPr/>
          <p:nvPr/>
        </p:nvSpPr>
        <p:spPr>
          <a:xfrm>
            <a:off x="5943600" y="1280160"/>
            <a:ext cx="91440" cy="91440"/>
          </a:xfrm>
          <a:prstGeom prst="ellipse">
            <a:avLst/>
          </a:prstGeom>
          <a:solidFill>
            <a:srgbClr val="E94560">
              <a:alpha val="40000"/>
            </a:srgbClr>
          </a:solidFill>
          <a:ln w="12700">
            <a:solidFill>
              <a:srgbClr val="E94560">
                <a:alpha val="40000"/>
              </a:srgbClr>
            </a:solidFill>
            <a:prstDash val="solid"/>
          </a:ln>
        </p:spPr>
      </p:sp>
      <p:sp>
        <p:nvSpPr>
          <p:cNvPr id="16" name="Shape 14"/>
          <p:cNvSpPr/>
          <p:nvPr/>
        </p:nvSpPr>
        <p:spPr>
          <a:xfrm>
            <a:off x="6446520" y="1280160"/>
            <a:ext cx="91440" cy="91440"/>
          </a:xfrm>
          <a:prstGeom prst="ellipse">
            <a:avLst/>
          </a:prstGeom>
          <a:solidFill>
            <a:srgbClr val="E94560">
              <a:alpha val="40000"/>
            </a:srgbClr>
          </a:solidFill>
          <a:ln w="12700">
            <a:solidFill>
              <a:srgbClr val="E94560">
                <a:alpha val="40000"/>
              </a:srgbClr>
            </a:solidFill>
            <a:prstDash val="solid"/>
          </a:ln>
        </p:spPr>
      </p:sp>
      <p:sp>
        <p:nvSpPr>
          <p:cNvPr id="17" name="Shape 15"/>
          <p:cNvSpPr/>
          <p:nvPr/>
        </p:nvSpPr>
        <p:spPr>
          <a:xfrm>
            <a:off x="6949440" y="1280160"/>
            <a:ext cx="91440" cy="91440"/>
          </a:xfrm>
          <a:prstGeom prst="ellipse">
            <a:avLst/>
          </a:prstGeom>
          <a:solidFill>
            <a:srgbClr val="E94560">
              <a:alpha val="40000"/>
            </a:srgbClr>
          </a:solidFill>
          <a:ln w="12700">
            <a:solidFill>
              <a:srgbClr val="E94560">
                <a:alpha val="40000"/>
              </a:srgbClr>
            </a:solidFill>
            <a:prstDash val="solid"/>
          </a:ln>
        </p:spPr>
      </p:sp>
      <p:sp>
        <p:nvSpPr>
          <p:cNvPr id="18" name="Shape 16"/>
          <p:cNvSpPr/>
          <p:nvPr/>
        </p:nvSpPr>
        <p:spPr>
          <a:xfrm>
            <a:off x="7452360" y="1280160"/>
            <a:ext cx="91440" cy="91440"/>
          </a:xfrm>
          <a:prstGeom prst="ellipse">
            <a:avLst/>
          </a:prstGeom>
          <a:solidFill>
            <a:srgbClr val="E94560">
              <a:alpha val="40000"/>
            </a:srgbClr>
          </a:solidFill>
          <a:ln w="12700">
            <a:solidFill>
              <a:srgbClr val="E94560">
                <a:alpha val="40000"/>
              </a:srgbClr>
            </a:solidFill>
            <a:prstDash val="solid"/>
          </a:ln>
        </p:spPr>
      </p:sp>
      <p:sp>
        <p:nvSpPr>
          <p:cNvPr id="19" name="Shape 17"/>
          <p:cNvSpPr/>
          <p:nvPr/>
        </p:nvSpPr>
        <p:spPr>
          <a:xfrm>
            <a:off x="7955280" y="1280160"/>
            <a:ext cx="91440" cy="91440"/>
          </a:xfrm>
          <a:prstGeom prst="ellipse">
            <a:avLst/>
          </a:prstGeom>
          <a:solidFill>
            <a:srgbClr val="E94560">
              <a:alpha val="40000"/>
            </a:srgbClr>
          </a:solidFill>
          <a:ln w="12700">
            <a:solidFill>
              <a:srgbClr val="E94560">
                <a:alpha val="40000"/>
              </a:srgbClr>
            </a:solidFill>
            <a:prstDash val="solid"/>
          </a:ln>
        </p:spPr>
      </p:sp>
      <p:sp>
        <p:nvSpPr>
          <p:cNvPr id="20" name="Shape 18"/>
          <p:cNvSpPr/>
          <p:nvPr/>
        </p:nvSpPr>
        <p:spPr>
          <a:xfrm>
            <a:off x="8458200" y="1280160"/>
            <a:ext cx="91440" cy="91440"/>
          </a:xfrm>
          <a:prstGeom prst="ellipse">
            <a:avLst/>
          </a:prstGeom>
          <a:solidFill>
            <a:srgbClr val="E94560">
              <a:alpha val="40000"/>
            </a:srgbClr>
          </a:solidFill>
          <a:ln w="12700">
            <a:solidFill>
              <a:srgbClr val="E94560">
                <a:alpha val="40000"/>
              </a:srgbClr>
            </a:solidFill>
            <a:prstDash val="solid"/>
          </a:ln>
        </p:spPr>
      </p:sp>
      <p:sp>
        <p:nvSpPr>
          <p:cNvPr id="21" name="Shape 19"/>
          <p:cNvSpPr/>
          <p:nvPr/>
        </p:nvSpPr>
        <p:spPr>
          <a:xfrm>
            <a:off x="5943600" y="1783080"/>
            <a:ext cx="91440" cy="91440"/>
          </a:xfrm>
          <a:prstGeom prst="ellipse">
            <a:avLst/>
          </a:prstGeom>
          <a:solidFill>
            <a:srgbClr val="E94560">
              <a:alpha val="40000"/>
            </a:srgbClr>
          </a:solidFill>
          <a:ln w="12700">
            <a:solidFill>
              <a:srgbClr val="E94560">
                <a:alpha val="40000"/>
              </a:srgbClr>
            </a:solidFill>
            <a:prstDash val="solid"/>
          </a:ln>
        </p:spPr>
      </p:sp>
      <p:sp>
        <p:nvSpPr>
          <p:cNvPr id="22" name="Shape 20"/>
          <p:cNvSpPr/>
          <p:nvPr/>
        </p:nvSpPr>
        <p:spPr>
          <a:xfrm>
            <a:off x="6446520" y="1783080"/>
            <a:ext cx="91440" cy="91440"/>
          </a:xfrm>
          <a:prstGeom prst="ellipse">
            <a:avLst/>
          </a:prstGeom>
          <a:solidFill>
            <a:srgbClr val="E94560">
              <a:alpha val="40000"/>
            </a:srgbClr>
          </a:solidFill>
          <a:ln w="12700">
            <a:solidFill>
              <a:srgbClr val="E94560">
                <a:alpha val="40000"/>
              </a:srgbClr>
            </a:solidFill>
            <a:prstDash val="solid"/>
          </a:ln>
        </p:spPr>
      </p:sp>
      <p:sp>
        <p:nvSpPr>
          <p:cNvPr id="23" name="Shape 21"/>
          <p:cNvSpPr/>
          <p:nvPr/>
        </p:nvSpPr>
        <p:spPr>
          <a:xfrm>
            <a:off x="6949440" y="1783080"/>
            <a:ext cx="91440" cy="91440"/>
          </a:xfrm>
          <a:prstGeom prst="ellipse">
            <a:avLst/>
          </a:prstGeom>
          <a:solidFill>
            <a:srgbClr val="E94560">
              <a:alpha val="40000"/>
            </a:srgbClr>
          </a:solidFill>
          <a:ln w="12700">
            <a:solidFill>
              <a:srgbClr val="E94560">
                <a:alpha val="40000"/>
              </a:srgbClr>
            </a:solidFill>
            <a:prstDash val="solid"/>
          </a:ln>
        </p:spPr>
      </p:sp>
      <p:sp>
        <p:nvSpPr>
          <p:cNvPr id="24" name="Shape 22"/>
          <p:cNvSpPr/>
          <p:nvPr/>
        </p:nvSpPr>
        <p:spPr>
          <a:xfrm>
            <a:off x="7452360" y="1783080"/>
            <a:ext cx="91440" cy="91440"/>
          </a:xfrm>
          <a:prstGeom prst="ellipse">
            <a:avLst/>
          </a:prstGeom>
          <a:solidFill>
            <a:srgbClr val="E94560">
              <a:alpha val="40000"/>
            </a:srgbClr>
          </a:solidFill>
          <a:ln w="12700">
            <a:solidFill>
              <a:srgbClr val="E94560">
                <a:alpha val="40000"/>
              </a:srgbClr>
            </a:solidFill>
            <a:prstDash val="solid"/>
          </a:ln>
        </p:spPr>
      </p:sp>
      <p:sp>
        <p:nvSpPr>
          <p:cNvPr id="25" name="Shape 23"/>
          <p:cNvSpPr/>
          <p:nvPr/>
        </p:nvSpPr>
        <p:spPr>
          <a:xfrm>
            <a:off x="7955280" y="1783080"/>
            <a:ext cx="91440" cy="91440"/>
          </a:xfrm>
          <a:prstGeom prst="ellipse">
            <a:avLst/>
          </a:prstGeom>
          <a:solidFill>
            <a:srgbClr val="E94560">
              <a:alpha val="40000"/>
            </a:srgbClr>
          </a:solidFill>
          <a:ln w="12700">
            <a:solidFill>
              <a:srgbClr val="E94560">
                <a:alpha val="40000"/>
              </a:srgbClr>
            </a:solidFill>
            <a:prstDash val="solid"/>
          </a:ln>
        </p:spPr>
      </p:sp>
      <p:sp>
        <p:nvSpPr>
          <p:cNvPr id="26" name="Shape 24"/>
          <p:cNvSpPr/>
          <p:nvPr/>
        </p:nvSpPr>
        <p:spPr>
          <a:xfrm>
            <a:off x="8458200" y="1783080"/>
            <a:ext cx="91440" cy="91440"/>
          </a:xfrm>
          <a:prstGeom prst="ellipse">
            <a:avLst/>
          </a:prstGeom>
          <a:solidFill>
            <a:srgbClr val="E94560">
              <a:alpha val="40000"/>
            </a:srgbClr>
          </a:solidFill>
          <a:ln w="12700">
            <a:solidFill>
              <a:srgbClr val="E94560">
                <a:alpha val="40000"/>
              </a:srgbClr>
            </a:solidFill>
            <a:prstDash val="solid"/>
          </a:ln>
        </p:spPr>
      </p:sp>
      <p:sp>
        <p:nvSpPr>
          <p:cNvPr id="27" name="Text 25"/>
          <p:cNvSpPr/>
          <p:nvPr/>
        </p:nvSpPr>
        <p:spPr>
          <a:xfrm>
            <a:off x="411480" y="502920"/>
            <a:ext cx="4572000" cy="411480"/>
          </a:xfrm>
          <a:prstGeom prst="rect">
            <a:avLst/>
          </a:prstGeom>
          <a:noFill/>
          <a:ln/>
        </p:spPr>
        <p:txBody>
          <a:bodyPr wrap="square" lIns="0" tIns="0" rIns="0" bIns="0" rtlCol="0" anchor="ctr"/>
          <a:lstStyle/>
          <a:p>
            <a:pPr marL="0" indent="0">
              <a:buNone/>
            </a:pPr>
            <a:r>
              <a:rPr lang="en-US" sz="1300" b="1" kern="0" spc="400" dirty="0">
                <a:solidFill>
                  <a:srgbClr val="E94560"/>
                </a:solidFill>
                <a:latin typeface="Calibri" pitchFamily="34" charset="0"/>
                <a:ea typeface="Calibri" pitchFamily="34" charset="-122"/>
                <a:cs typeface="Calibri" pitchFamily="34" charset="-120"/>
              </a:rPr>
              <a:t>SNITCH.COM</a:t>
            </a:r>
            <a:endParaRPr lang="en-US" sz="1300" dirty="0"/>
          </a:p>
        </p:txBody>
      </p:sp>
      <p:sp>
        <p:nvSpPr>
          <p:cNvPr id="28" name="Text 26"/>
          <p:cNvSpPr/>
          <p:nvPr/>
        </p:nvSpPr>
        <p:spPr>
          <a:xfrm>
            <a:off x="411480" y="1005840"/>
            <a:ext cx="7772400" cy="1737360"/>
          </a:xfrm>
          <a:prstGeom prst="rect">
            <a:avLst/>
          </a:prstGeom>
          <a:noFill/>
          <a:ln/>
        </p:spPr>
        <p:txBody>
          <a:bodyPr wrap="square" lIns="0" tIns="0" rIns="0" bIns="0" rtlCol="0" anchor="ctr"/>
          <a:lstStyle/>
          <a:p>
            <a:pPr marL="0" indent="0">
              <a:lnSpc>
                <a:spcPct val="110000"/>
              </a:lnSpc>
              <a:buNone/>
            </a:pPr>
            <a:r>
              <a:rPr lang="en-US" sz="4600" b="1" dirty="0">
                <a:solidFill>
                  <a:srgbClr val="FFFFFF"/>
                </a:solidFill>
                <a:latin typeface="Calibri" pitchFamily="34" charset="0"/>
                <a:ea typeface="Calibri" pitchFamily="34" charset="-122"/>
                <a:cs typeface="Calibri" pitchFamily="34" charset="-120"/>
              </a:rPr>
              <a:t>SEO Audit &amp;</a:t>
            </a:r>
            <a:endParaRPr lang="en-US" sz="4600" dirty="0"/>
          </a:p>
          <a:p>
            <a:pPr marL="0" indent="0">
              <a:lnSpc>
                <a:spcPct val="110000"/>
              </a:lnSpc>
              <a:buNone/>
            </a:pPr>
            <a:r>
              <a:rPr lang="en-US" sz="4600" b="1" dirty="0">
                <a:solidFill>
                  <a:srgbClr val="FFFFFF"/>
                </a:solidFill>
                <a:latin typeface="Calibri" pitchFamily="34" charset="0"/>
                <a:ea typeface="Calibri" pitchFamily="34" charset="-122"/>
                <a:cs typeface="Calibri" pitchFamily="34" charset="-120"/>
              </a:rPr>
              <a:t>Strategy Report</a:t>
            </a:r>
            <a:endParaRPr lang="en-US" sz="4600" dirty="0"/>
          </a:p>
        </p:txBody>
      </p:sp>
      <p:sp>
        <p:nvSpPr>
          <p:cNvPr id="29" name="Text 27"/>
          <p:cNvSpPr/>
          <p:nvPr/>
        </p:nvSpPr>
        <p:spPr>
          <a:xfrm>
            <a:off x="411480" y="2834640"/>
            <a:ext cx="6400800" cy="365760"/>
          </a:xfrm>
          <a:prstGeom prst="rect">
            <a:avLst/>
          </a:prstGeom>
          <a:noFill/>
          <a:ln/>
        </p:spPr>
        <p:txBody>
          <a:bodyPr wrap="square" lIns="0" tIns="0" rIns="0" bIns="0" rtlCol="0" anchor="ctr"/>
          <a:lstStyle/>
          <a:p>
            <a:pPr marL="0" indent="0">
              <a:buNone/>
            </a:pPr>
            <a:r>
              <a:rPr lang="en-US" sz="1500" dirty="0">
                <a:solidFill>
                  <a:srgbClr val="CADCFC"/>
                </a:solidFill>
                <a:latin typeface="Calibri" pitchFamily="34" charset="0"/>
                <a:ea typeface="Calibri" pitchFamily="34" charset="-122"/>
                <a:cs typeface="Calibri" pitchFamily="34" charset="-120"/>
              </a:rPr>
              <a:t>Men's Jeans Category  |  India D2C  |  2026</a:t>
            </a:r>
            <a:endParaRPr lang="en-US" sz="1500" dirty="0"/>
          </a:p>
        </p:txBody>
      </p:sp>
      <p:sp>
        <p:nvSpPr>
          <p:cNvPr id="30" name="Shape 28"/>
          <p:cNvSpPr/>
          <p:nvPr/>
        </p:nvSpPr>
        <p:spPr>
          <a:xfrm>
            <a:off x="411480" y="3291840"/>
            <a:ext cx="5029200" cy="0"/>
          </a:xfrm>
          <a:prstGeom prst="line">
            <a:avLst/>
          </a:prstGeom>
          <a:noFill/>
          <a:ln w="19050">
            <a:solidFill>
              <a:srgbClr val="E94560"/>
            </a:solidFill>
            <a:prstDash val="solid"/>
          </a:ln>
        </p:spPr>
      </p:sp>
      <p:sp>
        <p:nvSpPr>
          <p:cNvPr id="31" name="Text 29"/>
          <p:cNvSpPr/>
          <p:nvPr/>
        </p:nvSpPr>
        <p:spPr>
          <a:xfrm>
            <a:off x="411480" y="3429000"/>
            <a:ext cx="2560320" cy="228600"/>
          </a:xfrm>
          <a:prstGeom prst="rect">
            <a:avLst/>
          </a:prstGeom>
          <a:noFill/>
          <a:ln/>
        </p:spPr>
        <p:txBody>
          <a:bodyPr wrap="square" lIns="0" tIns="0" rIns="0" bIns="0" rtlCol="0" anchor="ctr"/>
          <a:lstStyle/>
          <a:p>
            <a:pPr marL="0" indent="0">
              <a:buNone/>
            </a:pPr>
            <a:r>
              <a:rPr lang="en-US" sz="800" kern="0" spc="200" dirty="0">
                <a:solidFill>
                  <a:srgbClr val="6B7280"/>
                </a:solidFill>
                <a:latin typeface="Calibri" pitchFamily="34" charset="0"/>
                <a:ea typeface="Calibri" pitchFamily="34" charset="-122"/>
                <a:cs typeface="Calibri" pitchFamily="34" charset="-120"/>
              </a:rPr>
              <a:t>PREPARED</a:t>
            </a:r>
            <a:endParaRPr lang="en-US" sz="800" dirty="0"/>
          </a:p>
        </p:txBody>
      </p:sp>
      <p:sp>
        <p:nvSpPr>
          <p:cNvPr id="32" name="Text 30"/>
          <p:cNvSpPr/>
          <p:nvPr/>
        </p:nvSpPr>
        <p:spPr>
          <a:xfrm>
            <a:off x="411480" y="3657600"/>
            <a:ext cx="256032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March 2026</a:t>
            </a:r>
            <a:endParaRPr lang="en-US" sz="1300" dirty="0"/>
          </a:p>
        </p:txBody>
      </p:sp>
      <p:sp>
        <p:nvSpPr>
          <p:cNvPr id="33" name="Text 31"/>
          <p:cNvSpPr/>
          <p:nvPr/>
        </p:nvSpPr>
        <p:spPr>
          <a:xfrm>
            <a:off x="3154680" y="3429000"/>
            <a:ext cx="2560320" cy="228600"/>
          </a:xfrm>
          <a:prstGeom prst="rect">
            <a:avLst/>
          </a:prstGeom>
          <a:noFill/>
          <a:ln/>
        </p:spPr>
        <p:txBody>
          <a:bodyPr wrap="square" lIns="0" tIns="0" rIns="0" bIns="0" rtlCol="0" anchor="ctr"/>
          <a:lstStyle/>
          <a:p>
            <a:pPr marL="0" indent="0">
              <a:buNone/>
            </a:pPr>
            <a:r>
              <a:rPr lang="en-US" sz="800" kern="0" spc="200" dirty="0">
                <a:solidFill>
                  <a:srgbClr val="6B7280"/>
                </a:solidFill>
                <a:latin typeface="Calibri" pitchFamily="34" charset="0"/>
                <a:ea typeface="Calibri" pitchFamily="34" charset="-122"/>
                <a:cs typeface="Calibri" pitchFamily="34" charset="-120"/>
              </a:rPr>
              <a:t>TARGET MARKET</a:t>
            </a:r>
            <a:endParaRPr lang="en-US" sz="800" dirty="0"/>
          </a:p>
        </p:txBody>
      </p:sp>
      <p:sp>
        <p:nvSpPr>
          <p:cNvPr id="34" name="Text 32"/>
          <p:cNvSpPr/>
          <p:nvPr/>
        </p:nvSpPr>
        <p:spPr>
          <a:xfrm>
            <a:off x="3154680" y="3657600"/>
            <a:ext cx="256032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India B2C</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A1A2E"/>
          </a:solidFill>
          <a:ln w="12700">
            <a:solidFill>
              <a:srgbClr val="1A1A2E"/>
            </a:solidFill>
            <a:prstDash val="solid"/>
          </a:ln>
        </p:spPr>
      </p:sp>
      <p:sp>
        <p:nvSpPr>
          <p:cNvPr id="3" name="Shape 1"/>
          <p:cNvSpPr/>
          <p:nvPr/>
        </p:nvSpPr>
        <p:spPr>
          <a:xfrm>
            <a:off x="0" y="0"/>
            <a:ext cx="109728" cy="5143500"/>
          </a:xfrm>
          <a:prstGeom prst="rect">
            <a:avLst/>
          </a:prstGeom>
          <a:solidFill>
            <a:srgbClr val="E94560"/>
          </a:solidFill>
          <a:ln w="12700">
            <a:solidFill>
              <a:srgbClr val="E94560"/>
            </a:solidFill>
            <a:prstDash val="solid"/>
          </a:ln>
        </p:spPr>
      </p:sp>
      <p:sp>
        <p:nvSpPr>
          <p:cNvPr id="4" name="Text 2"/>
          <p:cNvSpPr/>
          <p:nvPr/>
        </p:nvSpPr>
        <p:spPr>
          <a:xfrm>
            <a:off x="274320" y="73152"/>
            <a:ext cx="8595360" cy="384048"/>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Introduction — About Snitch</a:t>
            </a:r>
            <a:endParaRPr lang="en-US" sz="1700" dirty="0"/>
          </a:p>
        </p:txBody>
      </p:sp>
      <p:sp>
        <p:nvSpPr>
          <p:cNvPr id="5" name="Shape 3"/>
          <p:cNvSpPr/>
          <p:nvPr/>
        </p:nvSpPr>
        <p:spPr>
          <a:xfrm>
            <a:off x="0" y="4892040"/>
            <a:ext cx="9144000" cy="251460"/>
          </a:xfrm>
          <a:prstGeom prst="rect">
            <a:avLst/>
          </a:prstGeom>
          <a:solidFill>
            <a:srgbClr val="1A1A2E"/>
          </a:solidFill>
          <a:ln w="12700">
            <a:solidFill>
              <a:srgbClr val="1A1A2E"/>
            </a:solidFill>
            <a:prstDash val="solid"/>
          </a:ln>
        </p:spPr>
      </p:sp>
      <p:sp>
        <p:nvSpPr>
          <p:cNvPr id="6" name="Text 4"/>
          <p:cNvSpPr/>
          <p:nvPr/>
        </p:nvSpPr>
        <p:spPr>
          <a:xfrm>
            <a:off x="182880" y="4892040"/>
            <a:ext cx="8778240" cy="25146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Snitch.com — SEO Strategy Report 2026  |  India B2C</a:t>
            </a:r>
            <a:endParaRPr lang="en-US" sz="900" dirty="0"/>
          </a:p>
        </p:txBody>
      </p:sp>
      <p:sp>
        <p:nvSpPr>
          <p:cNvPr id="7" name="Shape 5"/>
          <p:cNvSpPr/>
          <p:nvPr/>
        </p:nvSpPr>
        <p:spPr>
          <a:xfrm>
            <a:off x="228600" y="640080"/>
            <a:ext cx="4114800" cy="4023360"/>
          </a:xfrm>
          <a:prstGeom prst="rect">
            <a:avLst/>
          </a:prstGeom>
          <a:solidFill>
            <a:srgbClr val="1A1A2E"/>
          </a:solidFill>
          <a:ln w="6350">
            <a:solidFill>
              <a:srgbClr val="D0D5DD"/>
            </a:solidFill>
            <a:prstDash val="solid"/>
          </a:ln>
          <a:effectLst>
            <a:outerShdw blurRad="63500" dist="25400" dir="8100000" algn="bl" rotWithShape="0">
              <a:srgbClr val="000000">
                <a:alpha val="10000"/>
              </a:srgbClr>
            </a:outerShdw>
          </a:effectLst>
        </p:spPr>
      </p:sp>
      <p:sp>
        <p:nvSpPr>
          <p:cNvPr id="8" name="Text 6"/>
          <p:cNvSpPr/>
          <p:nvPr/>
        </p:nvSpPr>
        <p:spPr>
          <a:xfrm>
            <a:off x="365760" y="777240"/>
            <a:ext cx="3840480" cy="320040"/>
          </a:xfrm>
          <a:prstGeom prst="rect">
            <a:avLst/>
          </a:prstGeom>
          <a:noFill/>
          <a:ln/>
        </p:spPr>
        <p:txBody>
          <a:bodyPr wrap="square" lIns="0" tIns="0" rIns="0" bIns="0" rtlCol="0" anchor="ctr"/>
          <a:lstStyle/>
          <a:p>
            <a:pPr marL="0" indent="0">
              <a:buNone/>
            </a:pPr>
            <a:r>
              <a:rPr lang="en-US" sz="1300" b="1" dirty="0">
                <a:solidFill>
                  <a:srgbClr val="E94560"/>
                </a:solidFill>
                <a:latin typeface="Calibri" pitchFamily="34" charset="0"/>
                <a:ea typeface="Calibri" pitchFamily="34" charset="-122"/>
                <a:cs typeface="Calibri" pitchFamily="34" charset="-120"/>
              </a:rPr>
              <a:t>Who is Snitch?</a:t>
            </a:r>
            <a:endParaRPr lang="en-US" sz="1300" dirty="0"/>
          </a:p>
        </p:txBody>
      </p:sp>
      <p:sp>
        <p:nvSpPr>
          <p:cNvPr id="9" name="Text 7"/>
          <p:cNvSpPr/>
          <p:nvPr/>
        </p:nvSpPr>
        <p:spPr>
          <a:xfrm>
            <a:off x="365760" y="1188720"/>
            <a:ext cx="3840480" cy="3291840"/>
          </a:xfrm>
          <a:prstGeom prst="rect">
            <a:avLst/>
          </a:prstGeom>
          <a:noFill/>
          <a:ln/>
        </p:spPr>
        <p:txBody>
          <a:bodyPr wrap="square" rtlCol="0" anchor="ctr"/>
          <a:lstStyle/>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India's #1 men's D2C fast-fashion brand</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Founded in 2019, headquartered in Bengaluru</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51+ offline stores across India</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Famous from Shark Tank India</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2-week design-to-shelf cycle (like Zara)</a:t>
            </a:r>
            <a:endParaRPr lang="en-US" sz="1200" dirty="0"/>
          </a:p>
        </p:txBody>
      </p:sp>
      <p:sp>
        <p:nvSpPr>
          <p:cNvPr id="10" name="Shape 8"/>
          <p:cNvSpPr/>
          <p:nvPr/>
        </p:nvSpPr>
        <p:spPr>
          <a:xfrm>
            <a:off x="4526280" y="640080"/>
            <a:ext cx="4389120" cy="4023360"/>
          </a:xfrm>
          <a:prstGeom prst="rect">
            <a:avLst/>
          </a:prstGeom>
          <a:solidFill>
            <a:srgbClr val="FFFFFF"/>
          </a:solidFill>
          <a:ln w="6350">
            <a:solidFill>
              <a:srgbClr val="D0D5DD"/>
            </a:solidFill>
            <a:prstDash val="solid"/>
          </a:ln>
          <a:effectLst>
            <a:outerShdw blurRad="63500" dist="25400" dir="8100000" algn="bl" rotWithShape="0">
              <a:srgbClr val="000000">
                <a:alpha val="10000"/>
              </a:srgbClr>
            </a:outerShdw>
          </a:effectLst>
        </p:spPr>
      </p:sp>
      <p:sp>
        <p:nvSpPr>
          <p:cNvPr id="11" name="Text 9"/>
          <p:cNvSpPr/>
          <p:nvPr/>
        </p:nvSpPr>
        <p:spPr>
          <a:xfrm>
            <a:off x="4663440" y="777240"/>
            <a:ext cx="4114800" cy="320040"/>
          </a:xfrm>
          <a:prstGeom prst="rect">
            <a:avLst/>
          </a:prstGeom>
          <a:noFill/>
          <a:ln/>
        </p:spPr>
        <p:txBody>
          <a:bodyPr wrap="square" lIns="0" tIns="0" rIns="0" bIns="0"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SEO Snapshot</a:t>
            </a:r>
            <a:endParaRPr lang="en-US" sz="1300" dirty="0"/>
          </a:p>
        </p:txBody>
      </p:sp>
      <p:sp>
        <p:nvSpPr>
          <p:cNvPr id="12" name="Shape 10"/>
          <p:cNvSpPr/>
          <p:nvPr/>
        </p:nvSpPr>
        <p:spPr>
          <a:xfrm>
            <a:off x="4663440" y="1188720"/>
            <a:ext cx="4114800" cy="713232"/>
          </a:xfrm>
          <a:prstGeom prst="rect">
            <a:avLst/>
          </a:prstGeom>
          <a:solidFill>
            <a:srgbClr val="EEF2FF"/>
          </a:solidFill>
          <a:ln w="3810">
            <a:solidFill>
              <a:srgbClr val="D0D5DD"/>
            </a:solidFill>
            <a:prstDash val="solid"/>
          </a:ln>
        </p:spPr>
      </p:sp>
      <p:sp>
        <p:nvSpPr>
          <p:cNvPr id="13" name="Text 11"/>
          <p:cNvSpPr/>
          <p:nvPr/>
        </p:nvSpPr>
        <p:spPr>
          <a:xfrm>
            <a:off x="4754880" y="1243584"/>
            <a:ext cx="2286000" cy="256032"/>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Domain Authority</a:t>
            </a:r>
            <a:endParaRPr lang="en-US" sz="1000" dirty="0"/>
          </a:p>
        </p:txBody>
      </p:sp>
      <p:sp>
        <p:nvSpPr>
          <p:cNvPr id="14" name="Text 12"/>
          <p:cNvSpPr/>
          <p:nvPr/>
        </p:nvSpPr>
        <p:spPr>
          <a:xfrm>
            <a:off x="4754880" y="1499616"/>
            <a:ext cx="1371600" cy="274320"/>
          </a:xfrm>
          <a:prstGeom prst="rect">
            <a:avLst/>
          </a:prstGeom>
          <a:noFill/>
          <a:ln/>
        </p:spPr>
        <p:txBody>
          <a:bodyPr wrap="square" lIns="0" tIns="0" rIns="0" bIns="0" rtlCol="0" anchor="ctr"/>
          <a:lstStyle/>
          <a:p>
            <a:pPr marL="0" indent="0">
              <a:buNone/>
            </a:pPr>
            <a:r>
              <a:rPr lang="en-US" sz="1400" b="1" dirty="0">
                <a:solidFill>
                  <a:srgbClr val="1A1A2E"/>
                </a:solidFill>
                <a:latin typeface="Calibri" pitchFamily="34" charset="0"/>
                <a:ea typeface="Calibri" pitchFamily="34" charset="-122"/>
                <a:cs typeface="Calibri" pitchFamily="34" charset="-120"/>
              </a:rPr>
              <a:t>38/100</a:t>
            </a:r>
            <a:endParaRPr lang="en-US" sz="1400" dirty="0"/>
          </a:p>
        </p:txBody>
      </p:sp>
      <p:sp>
        <p:nvSpPr>
          <p:cNvPr id="15" name="Text 13"/>
          <p:cNvSpPr/>
          <p:nvPr/>
        </p:nvSpPr>
        <p:spPr>
          <a:xfrm>
            <a:off x="6217920" y="1499616"/>
            <a:ext cx="2468880" cy="274320"/>
          </a:xfrm>
          <a:prstGeom prst="rect">
            <a:avLst/>
          </a:prstGeom>
          <a:noFill/>
          <a:ln/>
        </p:spPr>
        <p:txBody>
          <a:bodyPr wrap="square" lIns="0" tIns="0" rIns="0" bIns="0" rtlCol="0" anchor="ctr"/>
          <a:lstStyle/>
          <a:p>
            <a:pPr marL="0" indent="0">
              <a:buNone/>
            </a:pPr>
            <a:r>
              <a:rPr lang="en-US" sz="900" i="1" dirty="0">
                <a:solidFill>
                  <a:srgbClr val="6B7280"/>
                </a:solidFill>
                <a:latin typeface="Calibri" pitchFamily="34" charset="0"/>
                <a:ea typeface="Calibri" pitchFamily="34" charset="-122"/>
                <a:cs typeface="Calibri" pitchFamily="34" charset="-120"/>
              </a:rPr>
              <a:t>Target: 55+</a:t>
            </a:r>
            <a:endParaRPr lang="en-US" sz="900" dirty="0"/>
          </a:p>
        </p:txBody>
      </p:sp>
      <p:sp>
        <p:nvSpPr>
          <p:cNvPr id="16" name="Shape 14"/>
          <p:cNvSpPr/>
          <p:nvPr/>
        </p:nvSpPr>
        <p:spPr>
          <a:xfrm>
            <a:off x="4663440" y="2029968"/>
            <a:ext cx="4114800" cy="713232"/>
          </a:xfrm>
          <a:prstGeom prst="rect">
            <a:avLst/>
          </a:prstGeom>
          <a:solidFill>
            <a:srgbClr val="F5F5F5"/>
          </a:solidFill>
          <a:ln w="3810">
            <a:solidFill>
              <a:srgbClr val="D0D5DD"/>
            </a:solidFill>
            <a:prstDash val="solid"/>
          </a:ln>
        </p:spPr>
      </p:sp>
      <p:sp>
        <p:nvSpPr>
          <p:cNvPr id="17" name="Text 15"/>
          <p:cNvSpPr/>
          <p:nvPr/>
        </p:nvSpPr>
        <p:spPr>
          <a:xfrm>
            <a:off x="4754880" y="2084832"/>
            <a:ext cx="2286000" cy="256032"/>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Organic Traffic Share</a:t>
            </a:r>
            <a:endParaRPr lang="en-US" sz="1000" dirty="0"/>
          </a:p>
        </p:txBody>
      </p:sp>
      <p:sp>
        <p:nvSpPr>
          <p:cNvPr id="18" name="Text 16"/>
          <p:cNvSpPr/>
          <p:nvPr/>
        </p:nvSpPr>
        <p:spPr>
          <a:xfrm>
            <a:off x="4754880" y="2340864"/>
            <a:ext cx="1371600" cy="274320"/>
          </a:xfrm>
          <a:prstGeom prst="rect">
            <a:avLst/>
          </a:prstGeom>
          <a:noFill/>
          <a:ln/>
        </p:spPr>
        <p:txBody>
          <a:bodyPr wrap="square" lIns="0" tIns="0" rIns="0" bIns="0" rtlCol="0" anchor="ctr"/>
          <a:lstStyle/>
          <a:p>
            <a:pPr marL="0" indent="0">
              <a:buNone/>
            </a:pPr>
            <a:r>
              <a:rPr lang="en-US" sz="1400" b="1" dirty="0">
                <a:solidFill>
                  <a:srgbClr val="1A1A2E"/>
                </a:solidFill>
                <a:latin typeface="Calibri" pitchFamily="34" charset="0"/>
                <a:ea typeface="Calibri" pitchFamily="34" charset="-122"/>
                <a:cs typeface="Calibri" pitchFamily="34" charset="-120"/>
              </a:rPr>
              <a:t>~25–30%</a:t>
            </a:r>
            <a:endParaRPr lang="en-US" sz="1400" dirty="0"/>
          </a:p>
        </p:txBody>
      </p:sp>
      <p:sp>
        <p:nvSpPr>
          <p:cNvPr id="19" name="Text 17"/>
          <p:cNvSpPr/>
          <p:nvPr/>
        </p:nvSpPr>
        <p:spPr>
          <a:xfrm>
            <a:off x="6217920" y="2340864"/>
            <a:ext cx="2468880" cy="274320"/>
          </a:xfrm>
          <a:prstGeom prst="rect">
            <a:avLst/>
          </a:prstGeom>
          <a:noFill/>
          <a:ln/>
        </p:spPr>
        <p:txBody>
          <a:bodyPr wrap="square" lIns="0" tIns="0" rIns="0" bIns="0" rtlCol="0" anchor="ctr"/>
          <a:lstStyle/>
          <a:p>
            <a:pPr marL="0" indent="0">
              <a:buNone/>
            </a:pPr>
            <a:r>
              <a:rPr lang="en-US" sz="900" i="1" dirty="0">
                <a:solidFill>
                  <a:srgbClr val="6B7280"/>
                </a:solidFill>
                <a:latin typeface="Calibri" pitchFamily="34" charset="0"/>
                <a:ea typeface="Calibri" pitchFamily="34" charset="-122"/>
                <a:cs typeface="Calibri" pitchFamily="34" charset="-120"/>
              </a:rPr>
              <a:t>Target: 50%+</a:t>
            </a:r>
            <a:endParaRPr lang="en-US" sz="900" dirty="0"/>
          </a:p>
        </p:txBody>
      </p:sp>
      <p:sp>
        <p:nvSpPr>
          <p:cNvPr id="20" name="Shape 18"/>
          <p:cNvSpPr/>
          <p:nvPr/>
        </p:nvSpPr>
        <p:spPr>
          <a:xfrm>
            <a:off x="4663440" y="2871216"/>
            <a:ext cx="4114800" cy="713232"/>
          </a:xfrm>
          <a:prstGeom prst="rect">
            <a:avLst/>
          </a:prstGeom>
          <a:solidFill>
            <a:srgbClr val="EEF2FF"/>
          </a:solidFill>
          <a:ln w="3810">
            <a:solidFill>
              <a:srgbClr val="D0D5DD"/>
            </a:solidFill>
            <a:prstDash val="solid"/>
          </a:ln>
        </p:spPr>
      </p:sp>
      <p:sp>
        <p:nvSpPr>
          <p:cNvPr id="21" name="Text 19"/>
          <p:cNvSpPr/>
          <p:nvPr/>
        </p:nvSpPr>
        <p:spPr>
          <a:xfrm>
            <a:off x="4754880" y="2926080"/>
            <a:ext cx="2286000" cy="256032"/>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Direct Traffic Share</a:t>
            </a:r>
            <a:endParaRPr lang="en-US" sz="1000" dirty="0"/>
          </a:p>
        </p:txBody>
      </p:sp>
      <p:sp>
        <p:nvSpPr>
          <p:cNvPr id="22" name="Text 20"/>
          <p:cNvSpPr/>
          <p:nvPr/>
        </p:nvSpPr>
        <p:spPr>
          <a:xfrm>
            <a:off x="4754880" y="3182112"/>
            <a:ext cx="1371600" cy="274320"/>
          </a:xfrm>
          <a:prstGeom prst="rect">
            <a:avLst/>
          </a:prstGeom>
          <a:noFill/>
          <a:ln/>
        </p:spPr>
        <p:txBody>
          <a:bodyPr wrap="square" lIns="0" tIns="0" rIns="0" bIns="0" rtlCol="0" anchor="ctr"/>
          <a:lstStyle/>
          <a:p>
            <a:pPr marL="0" indent="0">
              <a:buNone/>
            </a:pPr>
            <a:r>
              <a:rPr lang="en-US" sz="1400" b="1" dirty="0">
                <a:solidFill>
                  <a:srgbClr val="1A1A2E"/>
                </a:solidFill>
                <a:latin typeface="Calibri" pitchFamily="34" charset="0"/>
                <a:ea typeface="Calibri" pitchFamily="34" charset="-122"/>
                <a:cs typeface="Calibri" pitchFamily="34" charset="-120"/>
              </a:rPr>
              <a:t>~49%</a:t>
            </a:r>
            <a:endParaRPr lang="en-US" sz="1400" dirty="0"/>
          </a:p>
        </p:txBody>
      </p:sp>
      <p:sp>
        <p:nvSpPr>
          <p:cNvPr id="23" name="Text 21"/>
          <p:cNvSpPr/>
          <p:nvPr/>
        </p:nvSpPr>
        <p:spPr>
          <a:xfrm>
            <a:off x="6217920" y="3182112"/>
            <a:ext cx="2468880" cy="274320"/>
          </a:xfrm>
          <a:prstGeom prst="rect">
            <a:avLst/>
          </a:prstGeom>
          <a:noFill/>
          <a:ln/>
        </p:spPr>
        <p:txBody>
          <a:bodyPr wrap="square" lIns="0" tIns="0" rIns="0" bIns="0" rtlCol="0" anchor="ctr"/>
          <a:lstStyle/>
          <a:p>
            <a:pPr marL="0" indent="0">
              <a:buNone/>
            </a:pPr>
            <a:r>
              <a:rPr lang="en-US" sz="900" i="1" dirty="0">
                <a:solidFill>
                  <a:srgbClr val="6B7280"/>
                </a:solidFill>
                <a:latin typeface="Calibri" pitchFamily="34" charset="0"/>
                <a:ea typeface="Calibri" pitchFamily="34" charset="-122"/>
                <a:cs typeface="Calibri" pitchFamily="34" charset="-120"/>
              </a:rPr>
              <a:t>Too reliant on repeat visitors</a:t>
            </a:r>
            <a:endParaRPr lang="en-US" sz="900" dirty="0"/>
          </a:p>
        </p:txBody>
      </p:sp>
      <p:sp>
        <p:nvSpPr>
          <p:cNvPr id="24" name="Shape 22"/>
          <p:cNvSpPr/>
          <p:nvPr/>
        </p:nvSpPr>
        <p:spPr>
          <a:xfrm>
            <a:off x="4663440" y="3712464"/>
            <a:ext cx="4114800" cy="713232"/>
          </a:xfrm>
          <a:prstGeom prst="rect">
            <a:avLst/>
          </a:prstGeom>
          <a:solidFill>
            <a:srgbClr val="F5F5F5"/>
          </a:solidFill>
          <a:ln w="3810">
            <a:solidFill>
              <a:srgbClr val="D0D5DD"/>
            </a:solidFill>
            <a:prstDash val="solid"/>
          </a:ln>
        </p:spPr>
      </p:sp>
      <p:sp>
        <p:nvSpPr>
          <p:cNvPr id="25" name="Text 23"/>
          <p:cNvSpPr/>
          <p:nvPr/>
        </p:nvSpPr>
        <p:spPr>
          <a:xfrm>
            <a:off x="4754880" y="3767328"/>
            <a:ext cx="2286000" cy="256032"/>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Jeans PLP Score</a:t>
            </a:r>
            <a:endParaRPr lang="en-US" sz="1000" dirty="0"/>
          </a:p>
        </p:txBody>
      </p:sp>
      <p:sp>
        <p:nvSpPr>
          <p:cNvPr id="26" name="Text 24"/>
          <p:cNvSpPr/>
          <p:nvPr/>
        </p:nvSpPr>
        <p:spPr>
          <a:xfrm>
            <a:off x="4754880" y="4023360"/>
            <a:ext cx="1371600" cy="274320"/>
          </a:xfrm>
          <a:prstGeom prst="rect">
            <a:avLst/>
          </a:prstGeom>
          <a:noFill/>
          <a:ln/>
        </p:spPr>
        <p:txBody>
          <a:bodyPr wrap="square" lIns="0" tIns="0" rIns="0" bIns="0" rtlCol="0" anchor="ctr"/>
          <a:lstStyle/>
          <a:p>
            <a:pPr marL="0" indent="0">
              <a:buNone/>
            </a:pPr>
            <a:r>
              <a:rPr lang="en-US" sz="1400" b="1" dirty="0">
                <a:solidFill>
                  <a:srgbClr val="1A1A2E"/>
                </a:solidFill>
                <a:latin typeface="Calibri" pitchFamily="34" charset="0"/>
                <a:ea typeface="Calibri" pitchFamily="34" charset="-122"/>
                <a:cs typeface="Calibri" pitchFamily="34" charset="-120"/>
              </a:rPr>
              <a:t>Weak</a:t>
            </a:r>
            <a:endParaRPr lang="en-US" sz="1400" dirty="0"/>
          </a:p>
        </p:txBody>
      </p:sp>
      <p:sp>
        <p:nvSpPr>
          <p:cNvPr id="27" name="Text 25"/>
          <p:cNvSpPr/>
          <p:nvPr/>
        </p:nvSpPr>
        <p:spPr>
          <a:xfrm>
            <a:off x="6217920" y="4023360"/>
            <a:ext cx="2468880" cy="274320"/>
          </a:xfrm>
          <a:prstGeom prst="rect">
            <a:avLst/>
          </a:prstGeom>
          <a:noFill/>
          <a:ln/>
        </p:spPr>
        <p:txBody>
          <a:bodyPr wrap="square" lIns="0" tIns="0" rIns="0" bIns="0" rtlCol="0" anchor="ctr"/>
          <a:lstStyle/>
          <a:p>
            <a:pPr marL="0" indent="0">
              <a:buNone/>
            </a:pPr>
            <a:r>
              <a:rPr lang="en-US" sz="900" i="1" dirty="0">
                <a:solidFill>
                  <a:srgbClr val="6B7280"/>
                </a:solidFill>
                <a:latin typeface="Calibri" pitchFamily="34" charset="0"/>
                <a:ea typeface="Calibri" pitchFamily="34" charset="-122"/>
                <a:cs typeface="Calibri" pitchFamily="34" charset="-120"/>
              </a:rPr>
              <a:t>Needs full rebuild</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A1A2E"/>
          </a:solidFill>
          <a:ln w="12700">
            <a:solidFill>
              <a:srgbClr val="1A1A2E"/>
            </a:solidFill>
            <a:prstDash val="solid"/>
          </a:ln>
        </p:spPr>
      </p:sp>
      <p:sp>
        <p:nvSpPr>
          <p:cNvPr id="3" name="Shape 1"/>
          <p:cNvSpPr/>
          <p:nvPr/>
        </p:nvSpPr>
        <p:spPr>
          <a:xfrm>
            <a:off x="0" y="0"/>
            <a:ext cx="109728" cy="5143500"/>
          </a:xfrm>
          <a:prstGeom prst="rect">
            <a:avLst/>
          </a:prstGeom>
          <a:solidFill>
            <a:srgbClr val="E94560"/>
          </a:solidFill>
          <a:ln w="12700">
            <a:solidFill>
              <a:srgbClr val="E94560"/>
            </a:solidFill>
            <a:prstDash val="solid"/>
          </a:ln>
        </p:spPr>
      </p:sp>
      <p:sp>
        <p:nvSpPr>
          <p:cNvPr id="4" name="Text 2"/>
          <p:cNvSpPr/>
          <p:nvPr/>
        </p:nvSpPr>
        <p:spPr>
          <a:xfrm>
            <a:off x="274320" y="73152"/>
            <a:ext cx="8595360" cy="384048"/>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Tools Used for This SEO Audit</a:t>
            </a:r>
            <a:endParaRPr lang="en-US" sz="1700" dirty="0"/>
          </a:p>
        </p:txBody>
      </p:sp>
      <p:sp>
        <p:nvSpPr>
          <p:cNvPr id="5" name="Shape 3"/>
          <p:cNvSpPr/>
          <p:nvPr/>
        </p:nvSpPr>
        <p:spPr>
          <a:xfrm>
            <a:off x="0" y="4892040"/>
            <a:ext cx="9144000" cy="251460"/>
          </a:xfrm>
          <a:prstGeom prst="rect">
            <a:avLst/>
          </a:prstGeom>
          <a:solidFill>
            <a:srgbClr val="1A1A2E"/>
          </a:solidFill>
          <a:ln w="12700">
            <a:solidFill>
              <a:srgbClr val="1A1A2E"/>
            </a:solidFill>
            <a:prstDash val="solid"/>
          </a:ln>
        </p:spPr>
      </p:sp>
      <p:sp>
        <p:nvSpPr>
          <p:cNvPr id="6" name="Text 4"/>
          <p:cNvSpPr/>
          <p:nvPr/>
        </p:nvSpPr>
        <p:spPr>
          <a:xfrm>
            <a:off x="182880" y="4892040"/>
            <a:ext cx="8778240" cy="25146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Snitch.com — SEO Strategy Report 2026  |  India B2C</a:t>
            </a:r>
            <a:endParaRPr lang="en-US" sz="900" dirty="0"/>
          </a:p>
        </p:txBody>
      </p:sp>
      <p:sp>
        <p:nvSpPr>
          <p:cNvPr id="9" name="Text 7"/>
          <p:cNvSpPr/>
          <p:nvPr/>
        </p:nvSpPr>
        <p:spPr>
          <a:xfrm>
            <a:off x="393192" y="777240"/>
            <a:ext cx="3931920" cy="329184"/>
          </a:xfrm>
          <a:prstGeom prst="rect">
            <a:avLst/>
          </a:prstGeom>
          <a:noFill/>
          <a:ln/>
        </p:spPr>
        <p:txBody>
          <a:bodyPr wrap="square" lIns="0" tIns="0" rIns="0" bIns="0" rtlCol="0" anchor="ctr"/>
          <a:lstStyle/>
          <a:p>
            <a:pPr marL="0" indent="0">
              <a:buNone/>
            </a:pPr>
            <a:endParaRPr lang="en-US" sz="1200" dirty="0"/>
          </a:p>
        </p:txBody>
      </p:sp>
      <p:sp>
        <p:nvSpPr>
          <p:cNvPr id="10" name="Text 8"/>
          <p:cNvSpPr/>
          <p:nvPr/>
        </p:nvSpPr>
        <p:spPr>
          <a:xfrm>
            <a:off x="756744" y="1143000"/>
            <a:ext cx="3568367" cy="594360"/>
          </a:xfrm>
          <a:prstGeom prst="rect">
            <a:avLst/>
          </a:prstGeom>
          <a:noFill/>
          <a:ln/>
        </p:spPr>
        <p:txBody>
          <a:bodyPr wrap="square" lIns="0" tIns="0" rIns="0" bIns="0" rtlCol="0" anchor="ctr"/>
          <a:lstStyle/>
          <a:p>
            <a:pPr marL="0" indent="0">
              <a:buNone/>
            </a:pPr>
            <a:endParaRPr lang="en-US" sz="1050" dirty="0"/>
          </a:p>
        </p:txBody>
      </p:sp>
      <p:sp>
        <p:nvSpPr>
          <p:cNvPr id="11" name="Shape 9"/>
          <p:cNvSpPr/>
          <p:nvPr/>
        </p:nvSpPr>
        <p:spPr>
          <a:xfrm>
            <a:off x="4709160" y="685800"/>
            <a:ext cx="4251960" cy="1188720"/>
          </a:xfrm>
          <a:prstGeom prst="rect">
            <a:avLst/>
          </a:prstGeom>
          <a:solidFill>
            <a:srgbClr val="FFFFFF"/>
          </a:solidFill>
          <a:ln w="6350">
            <a:solidFill>
              <a:srgbClr val="D0D5DD"/>
            </a:solidFill>
            <a:prstDash val="solid"/>
          </a:ln>
          <a:effectLst>
            <a:outerShdw blurRad="63500" dist="25400" dir="8100000" algn="bl" rotWithShape="0">
              <a:srgbClr val="000000">
                <a:alpha val="10000"/>
              </a:srgbClr>
            </a:outerShdw>
          </a:effectLst>
        </p:spPr>
      </p:sp>
      <p:sp>
        <p:nvSpPr>
          <p:cNvPr id="12" name="Shape 10"/>
          <p:cNvSpPr/>
          <p:nvPr/>
        </p:nvSpPr>
        <p:spPr>
          <a:xfrm>
            <a:off x="4709160" y="685800"/>
            <a:ext cx="73152" cy="1188720"/>
          </a:xfrm>
          <a:prstGeom prst="rect">
            <a:avLst/>
          </a:prstGeom>
          <a:solidFill>
            <a:srgbClr val="E94560"/>
          </a:solidFill>
          <a:ln w="12700">
            <a:solidFill>
              <a:srgbClr val="E94560"/>
            </a:solidFill>
            <a:prstDash val="solid"/>
          </a:ln>
        </p:spPr>
      </p:sp>
      <p:sp>
        <p:nvSpPr>
          <p:cNvPr id="13" name="Text 11"/>
          <p:cNvSpPr/>
          <p:nvPr/>
        </p:nvSpPr>
        <p:spPr>
          <a:xfrm>
            <a:off x="4873752" y="777240"/>
            <a:ext cx="3931920" cy="329184"/>
          </a:xfrm>
          <a:prstGeom prst="rect">
            <a:avLst/>
          </a:prstGeom>
          <a:noFill/>
          <a:ln/>
        </p:spPr>
        <p:txBody>
          <a:bodyPr wrap="square" lIns="0" tIns="0" rIns="0" bIns="0" rtlCol="0" anchor="ctr"/>
          <a:lstStyle/>
          <a:p>
            <a:pPr marL="0" indent="0">
              <a:buNone/>
            </a:pPr>
            <a:r>
              <a:rPr lang="en-US" sz="1200" b="1" dirty="0">
                <a:solidFill>
                  <a:srgbClr val="1A1A2E"/>
                </a:solidFill>
                <a:latin typeface="Calibri" pitchFamily="34" charset="0"/>
                <a:ea typeface="Calibri" pitchFamily="34" charset="-122"/>
                <a:cs typeface="Calibri" pitchFamily="34" charset="-120"/>
              </a:rPr>
              <a:t>📊  Semrush / Ahrefs</a:t>
            </a:r>
            <a:endParaRPr lang="en-US" sz="1200" dirty="0"/>
          </a:p>
        </p:txBody>
      </p:sp>
      <p:sp>
        <p:nvSpPr>
          <p:cNvPr id="14" name="Text 12"/>
          <p:cNvSpPr/>
          <p:nvPr/>
        </p:nvSpPr>
        <p:spPr>
          <a:xfrm>
            <a:off x="4873752" y="1143000"/>
            <a:ext cx="3931920" cy="594360"/>
          </a:xfrm>
          <a:prstGeom prst="rect">
            <a:avLst/>
          </a:prstGeom>
          <a:noFill/>
          <a:ln/>
        </p:spPr>
        <p:txBody>
          <a:bodyPr wrap="square" lIns="0" tIns="0" rIns="0" bIns="0" rtlCol="0" anchor="ctr"/>
          <a:lstStyle/>
          <a:p>
            <a:pPr marL="0" indent="0">
              <a:buNone/>
            </a:pPr>
            <a:r>
              <a:rPr lang="en-US" sz="1050" dirty="0">
                <a:solidFill>
                  <a:srgbClr val="2D2D2D"/>
                </a:solidFill>
                <a:latin typeface="Calibri" pitchFamily="34" charset="0"/>
                <a:ea typeface="Calibri" pitchFamily="34" charset="-122"/>
                <a:cs typeface="Calibri" pitchFamily="34" charset="-120"/>
              </a:rPr>
              <a:t>Measure domain authority, find keyword gaps, study competitors</a:t>
            </a:r>
            <a:endParaRPr lang="en-US" sz="1050" dirty="0"/>
          </a:p>
        </p:txBody>
      </p:sp>
      <p:sp>
        <p:nvSpPr>
          <p:cNvPr id="15" name="Shape 13"/>
          <p:cNvSpPr/>
          <p:nvPr/>
        </p:nvSpPr>
        <p:spPr>
          <a:xfrm>
            <a:off x="228600" y="2057400"/>
            <a:ext cx="4251960" cy="1188720"/>
          </a:xfrm>
          <a:prstGeom prst="rect">
            <a:avLst/>
          </a:prstGeom>
          <a:solidFill>
            <a:srgbClr val="FFFFFF"/>
          </a:solidFill>
          <a:ln w="6350">
            <a:solidFill>
              <a:srgbClr val="D0D5DD"/>
            </a:solidFill>
            <a:prstDash val="solid"/>
          </a:ln>
          <a:effectLst>
            <a:outerShdw blurRad="63500" dist="25400" dir="8100000" algn="bl" rotWithShape="0">
              <a:srgbClr val="000000">
                <a:alpha val="10000"/>
              </a:srgbClr>
            </a:outerShdw>
          </a:effectLst>
        </p:spPr>
      </p:sp>
      <p:sp>
        <p:nvSpPr>
          <p:cNvPr id="16" name="Shape 14"/>
          <p:cNvSpPr/>
          <p:nvPr/>
        </p:nvSpPr>
        <p:spPr>
          <a:xfrm>
            <a:off x="228600" y="2057400"/>
            <a:ext cx="73152" cy="1188720"/>
          </a:xfrm>
          <a:prstGeom prst="rect">
            <a:avLst/>
          </a:prstGeom>
          <a:solidFill>
            <a:srgbClr val="E94560"/>
          </a:solidFill>
          <a:ln w="12700">
            <a:solidFill>
              <a:srgbClr val="E94560"/>
            </a:solidFill>
            <a:prstDash val="solid"/>
          </a:ln>
        </p:spPr>
      </p:sp>
      <p:sp>
        <p:nvSpPr>
          <p:cNvPr id="17" name="Text 15"/>
          <p:cNvSpPr/>
          <p:nvPr/>
        </p:nvSpPr>
        <p:spPr>
          <a:xfrm>
            <a:off x="393192" y="2148840"/>
            <a:ext cx="3931920" cy="329184"/>
          </a:xfrm>
          <a:prstGeom prst="rect">
            <a:avLst/>
          </a:prstGeom>
          <a:noFill/>
          <a:ln/>
        </p:spPr>
        <p:txBody>
          <a:bodyPr wrap="square" lIns="0" tIns="0" rIns="0" bIns="0" rtlCol="0" anchor="ctr"/>
          <a:lstStyle/>
          <a:p>
            <a:pPr marL="0" indent="0">
              <a:buNone/>
            </a:pPr>
            <a:r>
              <a:rPr lang="en-US" sz="1200" b="1" dirty="0">
                <a:solidFill>
                  <a:srgbClr val="1A1A2E"/>
                </a:solidFill>
                <a:latin typeface="Calibri" pitchFamily="34" charset="0"/>
                <a:ea typeface="Calibri" pitchFamily="34" charset="-122"/>
                <a:cs typeface="Calibri" pitchFamily="34" charset="-120"/>
              </a:rPr>
              <a:t>⚡  Google PageSpeed Insights</a:t>
            </a:r>
            <a:endParaRPr lang="en-US" sz="1200" dirty="0"/>
          </a:p>
        </p:txBody>
      </p:sp>
      <p:sp>
        <p:nvSpPr>
          <p:cNvPr id="18" name="Text 16"/>
          <p:cNvSpPr/>
          <p:nvPr/>
        </p:nvSpPr>
        <p:spPr>
          <a:xfrm>
            <a:off x="393192" y="2514600"/>
            <a:ext cx="3931920" cy="594360"/>
          </a:xfrm>
          <a:prstGeom prst="rect">
            <a:avLst/>
          </a:prstGeom>
          <a:noFill/>
          <a:ln/>
        </p:spPr>
        <p:txBody>
          <a:bodyPr wrap="square" lIns="0" tIns="0" rIns="0" bIns="0" rtlCol="0" anchor="ctr"/>
          <a:lstStyle/>
          <a:p>
            <a:pPr marL="0" indent="0">
              <a:buNone/>
            </a:pPr>
            <a:r>
              <a:rPr lang="en-US" sz="1050" dirty="0">
                <a:solidFill>
                  <a:srgbClr val="2D2D2D"/>
                </a:solidFill>
                <a:latin typeface="Calibri" pitchFamily="34" charset="0"/>
                <a:ea typeface="Calibri" pitchFamily="34" charset="-122"/>
                <a:cs typeface="Calibri" pitchFamily="34" charset="-120"/>
              </a:rPr>
              <a:t>Check website loading speed on mobile and desktop</a:t>
            </a:r>
            <a:endParaRPr lang="en-US" sz="1050" dirty="0"/>
          </a:p>
        </p:txBody>
      </p:sp>
      <p:sp>
        <p:nvSpPr>
          <p:cNvPr id="19" name="Shape 17"/>
          <p:cNvSpPr/>
          <p:nvPr/>
        </p:nvSpPr>
        <p:spPr>
          <a:xfrm>
            <a:off x="4709160" y="2057400"/>
            <a:ext cx="4251960" cy="1188720"/>
          </a:xfrm>
          <a:prstGeom prst="rect">
            <a:avLst/>
          </a:prstGeom>
          <a:solidFill>
            <a:srgbClr val="FFFFFF"/>
          </a:solidFill>
          <a:ln w="6350">
            <a:solidFill>
              <a:srgbClr val="D0D5DD"/>
            </a:solidFill>
            <a:prstDash val="solid"/>
          </a:ln>
          <a:effectLst>
            <a:outerShdw blurRad="63500" dist="25400" dir="8100000" algn="bl" rotWithShape="0">
              <a:srgbClr val="000000">
                <a:alpha val="10000"/>
              </a:srgbClr>
            </a:outerShdw>
          </a:effectLst>
        </p:spPr>
      </p:sp>
      <p:sp>
        <p:nvSpPr>
          <p:cNvPr id="20" name="Shape 18"/>
          <p:cNvSpPr/>
          <p:nvPr/>
        </p:nvSpPr>
        <p:spPr>
          <a:xfrm>
            <a:off x="4709160" y="2057400"/>
            <a:ext cx="73152" cy="1188720"/>
          </a:xfrm>
          <a:prstGeom prst="rect">
            <a:avLst/>
          </a:prstGeom>
          <a:solidFill>
            <a:srgbClr val="E94560"/>
          </a:solidFill>
          <a:ln w="12700">
            <a:solidFill>
              <a:srgbClr val="E94560"/>
            </a:solidFill>
            <a:prstDash val="solid"/>
          </a:ln>
        </p:spPr>
      </p:sp>
      <p:sp>
        <p:nvSpPr>
          <p:cNvPr id="21" name="Text 19"/>
          <p:cNvSpPr/>
          <p:nvPr/>
        </p:nvSpPr>
        <p:spPr>
          <a:xfrm>
            <a:off x="4873752" y="2148840"/>
            <a:ext cx="3931920" cy="329184"/>
          </a:xfrm>
          <a:prstGeom prst="rect">
            <a:avLst/>
          </a:prstGeom>
          <a:noFill/>
          <a:ln/>
        </p:spPr>
        <p:txBody>
          <a:bodyPr wrap="square" lIns="0" tIns="0" rIns="0" bIns="0" rtlCol="0" anchor="ctr"/>
          <a:lstStyle/>
          <a:p>
            <a:pPr marL="0" indent="0">
              <a:buNone/>
            </a:pPr>
            <a:r>
              <a:rPr lang="en-US" sz="1200" b="1" dirty="0">
                <a:solidFill>
                  <a:srgbClr val="1A1A2E"/>
                </a:solidFill>
                <a:latin typeface="Calibri" pitchFamily="34" charset="0"/>
                <a:ea typeface="Calibri" pitchFamily="34" charset="-122"/>
                <a:cs typeface="Calibri" pitchFamily="34" charset="-120"/>
              </a:rPr>
              <a:t>🕷️  Screaming Frog</a:t>
            </a:r>
            <a:endParaRPr lang="en-US" sz="1200" dirty="0"/>
          </a:p>
        </p:txBody>
      </p:sp>
      <p:sp>
        <p:nvSpPr>
          <p:cNvPr id="22" name="Text 20"/>
          <p:cNvSpPr/>
          <p:nvPr/>
        </p:nvSpPr>
        <p:spPr>
          <a:xfrm>
            <a:off x="4873752" y="2514600"/>
            <a:ext cx="3931920" cy="594360"/>
          </a:xfrm>
          <a:prstGeom prst="rect">
            <a:avLst/>
          </a:prstGeom>
          <a:noFill/>
          <a:ln/>
        </p:spPr>
        <p:txBody>
          <a:bodyPr wrap="square" lIns="0" tIns="0" rIns="0" bIns="0" rtlCol="0" anchor="ctr"/>
          <a:lstStyle/>
          <a:p>
            <a:pPr marL="0" indent="0">
              <a:buNone/>
            </a:pPr>
            <a:r>
              <a:rPr lang="en-US" sz="1050" dirty="0">
                <a:solidFill>
                  <a:srgbClr val="2D2D2D"/>
                </a:solidFill>
                <a:latin typeface="Calibri" pitchFamily="34" charset="0"/>
                <a:ea typeface="Calibri" pitchFamily="34" charset="-122"/>
                <a:cs typeface="Calibri" pitchFamily="34" charset="-120"/>
              </a:rPr>
              <a:t>Crawl the website to find broken links, missing tags, duplicate content</a:t>
            </a:r>
            <a:endParaRPr lang="en-US" sz="1050" dirty="0"/>
          </a:p>
        </p:txBody>
      </p:sp>
      <p:sp>
        <p:nvSpPr>
          <p:cNvPr id="23" name="Shape 21"/>
          <p:cNvSpPr/>
          <p:nvPr/>
        </p:nvSpPr>
        <p:spPr>
          <a:xfrm>
            <a:off x="228600" y="3429000"/>
            <a:ext cx="4251960" cy="1188720"/>
          </a:xfrm>
          <a:prstGeom prst="rect">
            <a:avLst/>
          </a:prstGeom>
          <a:solidFill>
            <a:srgbClr val="FFFFFF"/>
          </a:solidFill>
          <a:ln w="6350">
            <a:solidFill>
              <a:srgbClr val="D0D5DD"/>
            </a:solidFill>
            <a:prstDash val="solid"/>
          </a:ln>
          <a:effectLst>
            <a:outerShdw blurRad="63500" dist="25400" dir="8100000" algn="bl" rotWithShape="0">
              <a:srgbClr val="000000">
                <a:alpha val="10000"/>
              </a:srgbClr>
            </a:outerShdw>
          </a:effectLst>
        </p:spPr>
      </p:sp>
      <p:sp>
        <p:nvSpPr>
          <p:cNvPr id="24" name="Shape 22"/>
          <p:cNvSpPr/>
          <p:nvPr/>
        </p:nvSpPr>
        <p:spPr>
          <a:xfrm>
            <a:off x="228600" y="3429000"/>
            <a:ext cx="73152" cy="1188720"/>
          </a:xfrm>
          <a:prstGeom prst="rect">
            <a:avLst/>
          </a:prstGeom>
          <a:solidFill>
            <a:srgbClr val="E94560"/>
          </a:solidFill>
          <a:ln w="12700">
            <a:solidFill>
              <a:srgbClr val="E94560"/>
            </a:solidFill>
            <a:prstDash val="solid"/>
          </a:ln>
        </p:spPr>
      </p:sp>
      <p:sp>
        <p:nvSpPr>
          <p:cNvPr id="25" name="Text 23"/>
          <p:cNvSpPr/>
          <p:nvPr/>
        </p:nvSpPr>
        <p:spPr>
          <a:xfrm>
            <a:off x="393192" y="3520440"/>
            <a:ext cx="3931920" cy="329184"/>
          </a:xfrm>
          <a:prstGeom prst="rect">
            <a:avLst/>
          </a:prstGeom>
          <a:noFill/>
          <a:ln/>
        </p:spPr>
        <p:txBody>
          <a:bodyPr wrap="square" lIns="0" tIns="0" rIns="0" bIns="0" rtlCol="0" anchor="ctr"/>
          <a:lstStyle/>
          <a:p>
            <a:pPr marL="0" indent="0">
              <a:buNone/>
            </a:pPr>
            <a:r>
              <a:rPr lang="en-US" sz="1200" b="1" dirty="0">
                <a:solidFill>
                  <a:srgbClr val="1A1A2E"/>
                </a:solidFill>
                <a:latin typeface="Calibri" pitchFamily="34" charset="0"/>
                <a:ea typeface="Calibri" pitchFamily="34" charset="-122"/>
                <a:cs typeface="Calibri" pitchFamily="34" charset="-120"/>
              </a:rPr>
              <a:t>🌐  Similarweb</a:t>
            </a:r>
            <a:endParaRPr lang="en-US" sz="1200" dirty="0"/>
          </a:p>
        </p:txBody>
      </p:sp>
      <p:sp>
        <p:nvSpPr>
          <p:cNvPr id="26" name="Text 24"/>
          <p:cNvSpPr/>
          <p:nvPr/>
        </p:nvSpPr>
        <p:spPr>
          <a:xfrm>
            <a:off x="393192" y="3886200"/>
            <a:ext cx="3931920" cy="594360"/>
          </a:xfrm>
          <a:prstGeom prst="rect">
            <a:avLst/>
          </a:prstGeom>
          <a:noFill/>
          <a:ln/>
        </p:spPr>
        <p:txBody>
          <a:bodyPr wrap="square" lIns="0" tIns="0" rIns="0" bIns="0" rtlCol="0" anchor="ctr"/>
          <a:lstStyle/>
          <a:p>
            <a:pPr marL="0" indent="0">
              <a:buNone/>
            </a:pPr>
            <a:r>
              <a:rPr lang="en-US" sz="1050" dirty="0">
                <a:solidFill>
                  <a:srgbClr val="2D2D2D"/>
                </a:solidFill>
                <a:latin typeface="Calibri" pitchFamily="34" charset="0"/>
                <a:ea typeface="Calibri" pitchFamily="34" charset="-122"/>
                <a:cs typeface="Calibri" pitchFamily="34" charset="-120"/>
              </a:rPr>
              <a:t>Analyse traffic sources and audience behaviour</a:t>
            </a:r>
            <a:endParaRPr lang="en-US" sz="1050" dirty="0"/>
          </a:p>
        </p:txBody>
      </p:sp>
      <p:sp>
        <p:nvSpPr>
          <p:cNvPr id="29" name="Text 27"/>
          <p:cNvSpPr/>
          <p:nvPr/>
        </p:nvSpPr>
        <p:spPr>
          <a:xfrm>
            <a:off x="4873752" y="3520440"/>
            <a:ext cx="3931920" cy="329184"/>
          </a:xfrm>
          <a:prstGeom prst="rect">
            <a:avLst/>
          </a:prstGeom>
          <a:noFill/>
          <a:ln/>
        </p:spPr>
        <p:txBody>
          <a:bodyPr wrap="square" lIns="0" tIns="0" rIns="0" bIns="0" rtlCol="0" anchor="ctr"/>
          <a:lstStyle/>
          <a:p>
            <a:pPr marL="0" indent="0">
              <a:buNone/>
            </a:pPr>
            <a:endParaRPr lang="en-US" sz="1200" dirty="0"/>
          </a:p>
        </p:txBody>
      </p:sp>
      <p:sp>
        <p:nvSpPr>
          <p:cNvPr id="30" name="Text 28"/>
          <p:cNvSpPr/>
          <p:nvPr/>
        </p:nvSpPr>
        <p:spPr>
          <a:xfrm>
            <a:off x="4873752" y="3886200"/>
            <a:ext cx="3931920" cy="594360"/>
          </a:xfrm>
          <a:prstGeom prst="rect">
            <a:avLst/>
          </a:prstGeom>
          <a:noFill/>
          <a:ln/>
        </p:spPr>
        <p:txBody>
          <a:bodyPr wrap="square" lIns="0" tIns="0" rIns="0" bIns="0" rtlCol="0" anchor="ctr"/>
          <a:lstStyle/>
          <a:p>
            <a:pPr marL="0" indent="0">
              <a:buNone/>
            </a:pP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A1A2E"/>
          </a:solidFill>
          <a:ln w="12700">
            <a:solidFill>
              <a:srgbClr val="1A1A2E"/>
            </a:solidFill>
            <a:prstDash val="solid"/>
          </a:ln>
        </p:spPr>
      </p:sp>
      <p:sp>
        <p:nvSpPr>
          <p:cNvPr id="3" name="Shape 1"/>
          <p:cNvSpPr/>
          <p:nvPr/>
        </p:nvSpPr>
        <p:spPr>
          <a:xfrm>
            <a:off x="0" y="0"/>
            <a:ext cx="109728" cy="5143500"/>
          </a:xfrm>
          <a:prstGeom prst="rect">
            <a:avLst/>
          </a:prstGeom>
          <a:solidFill>
            <a:srgbClr val="E94560"/>
          </a:solidFill>
          <a:ln w="12700">
            <a:solidFill>
              <a:srgbClr val="E94560"/>
            </a:solidFill>
            <a:prstDash val="solid"/>
          </a:ln>
        </p:spPr>
      </p:sp>
      <p:sp>
        <p:nvSpPr>
          <p:cNvPr id="4" name="Text 2"/>
          <p:cNvSpPr/>
          <p:nvPr/>
        </p:nvSpPr>
        <p:spPr>
          <a:xfrm>
            <a:off x="274320" y="73152"/>
            <a:ext cx="8595360" cy="384048"/>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SEO Findings — Technical Health</a:t>
            </a:r>
            <a:endParaRPr lang="en-US" sz="1700" dirty="0"/>
          </a:p>
        </p:txBody>
      </p:sp>
      <p:sp>
        <p:nvSpPr>
          <p:cNvPr id="5" name="Shape 3"/>
          <p:cNvSpPr/>
          <p:nvPr/>
        </p:nvSpPr>
        <p:spPr>
          <a:xfrm>
            <a:off x="0" y="4892040"/>
            <a:ext cx="9144000" cy="251460"/>
          </a:xfrm>
          <a:prstGeom prst="rect">
            <a:avLst/>
          </a:prstGeom>
          <a:solidFill>
            <a:srgbClr val="1A1A2E"/>
          </a:solidFill>
          <a:ln w="12700">
            <a:solidFill>
              <a:srgbClr val="1A1A2E"/>
            </a:solidFill>
            <a:prstDash val="solid"/>
          </a:ln>
        </p:spPr>
      </p:sp>
      <p:sp>
        <p:nvSpPr>
          <p:cNvPr id="6" name="Text 4"/>
          <p:cNvSpPr/>
          <p:nvPr/>
        </p:nvSpPr>
        <p:spPr>
          <a:xfrm>
            <a:off x="182880" y="4892040"/>
            <a:ext cx="8778240" cy="25146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Snitch.com — SEO Strategy Report 2026  |  India B2C</a:t>
            </a:r>
            <a:endParaRPr lang="en-US" sz="900" dirty="0"/>
          </a:p>
        </p:txBody>
      </p:sp>
      <p:sp>
        <p:nvSpPr>
          <p:cNvPr id="7" name="Shape 5"/>
          <p:cNvSpPr/>
          <p:nvPr/>
        </p:nvSpPr>
        <p:spPr>
          <a:xfrm>
            <a:off x="201168" y="658368"/>
            <a:ext cx="4251960" cy="1188720"/>
          </a:xfrm>
          <a:prstGeom prst="rect">
            <a:avLst/>
          </a:prstGeom>
          <a:solidFill>
            <a:srgbClr val="FFF3CD"/>
          </a:solidFill>
          <a:ln w="6350">
            <a:solidFill>
              <a:srgbClr val="D0D5DD"/>
            </a:solidFill>
            <a:prstDash val="solid"/>
          </a:ln>
          <a:effectLst>
            <a:outerShdw blurRad="63500" dist="25400" dir="8100000" algn="bl" rotWithShape="0">
              <a:srgbClr val="000000">
                <a:alpha val="10000"/>
              </a:srgbClr>
            </a:outerShdw>
          </a:effectLst>
        </p:spPr>
      </p:sp>
      <p:sp>
        <p:nvSpPr>
          <p:cNvPr id="8" name="Text 6"/>
          <p:cNvSpPr/>
          <p:nvPr/>
        </p:nvSpPr>
        <p:spPr>
          <a:xfrm>
            <a:off x="338328" y="731520"/>
            <a:ext cx="2560320" cy="274320"/>
          </a:xfrm>
          <a:prstGeom prst="rect">
            <a:avLst/>
          </a:prstGeom>
          <a:noFill/>
          <a:ln/>
        </p:spPr>
        <p:txBody>
          <a:bodyPr wrap="square" lIns="0" tIns="0" rIns="0" bIns="0" rtlCol="0" anchor="ctr"/>
          <a:lstStyle/>
          <a:p>
            <a:pPr marL="0" indent="0">
              <a:buNone/>
            </a:pPr>
            <a:r>
              <a:rPr lang="en-US" sz="1100" b="1" dirty="0">
                <a:solidFill>
                  <a:srgbClr val="1A1A2E"/>
                </a:solidFill>
                <a:latin typeface="Calibri" pitchFamily="34" charset="0"/>
                <a:ea typeface="Calibri" pitchFamily="34" charset="-122"/>
                <a:cs typeface="Calibri" pitchFamily="34" charset="-120"/>
              </a:rPr>
              <a:t>Site Speed (Mobile)</a:t>
            </a:r>
            <a:endParaRPr lang="en-US" sz="1100" dirty="0"/>
          </a:p>
        </p:txBody>
      </p:sp>
      <p:sp>
        <p:nvSpPr>
          <p:cNvPr id="9" name="Text 7"/>
          <p:cNvSpPr/>
          <p:nvPr/>
        </p:nvSpPr>
        <p:spPr>
          <a:xfrm>
            <a:off x="2944368" y="731520"/>
            <a:ext cx="1371600" cy="274320"/>
          </a:xfrm>
          <a:prstGeom prst="rect">
            <a:avLst/>
          </a:prstGeom>
          <a:noFill/>
          <a:ln/>
        </p:spPr>
        <p:txBody>
          <a:bodyPr wrap="square" lIns="0" tIns="0" rIns="0" bIns="0" rtlCol="0" anchor="ctr"/>
          <a:lstStyle/>
          <a:p>
            <a:pPr marL="0" indent="0" algn="r">
              <a:buNone/>
            </a:pPr>
            <a:r>
              <a:rPr lang="en-US" sz="1000" b="1" dirty="0">
                <a:solidFill>
                  <a:srgbClr val="2D2D2D"/>
                </a:solidFill>
                <a:latin typeface="Calibri" pitchFamily="34" charset="0"/>
                <a:ea typeface="Calibri" pitchFamily="34" charset="-122"/>
                <a:cs typeface="Calibri" pitchFamily="34" charset="-120"/>
              </a:rPr>
              <a:t>Moderate ⚠️</a:t>
            </a:r>
            <a:endParaRPr lang="en-US" sz="1000" dirty="0"/>
          </a:p>
        </p:txBody>
      </p:sp>
      <p:sp>
        <p:nvSpPr>
          <p:cNvPr id="10" name="Text 8"/>
          <p:cNvSpPr/>
          <p:nvPr/>
        </p:nvSpPr>
        <p:spPr>
          <a:xfrm>
            <a:off x="338328" y="1069848"/>
            <a:ext cx="3977640" cy="658368"/>
          </a:xfrm>
          <a:prstGeom prst="rect">
            <a:avLst/>
          </a:prstGeom>
          <a:noFill/>
          <a:ln/>
        </p:spPr>
        <p:txBody>
          <a:bodyPr wrap="square" lIns="0" tIns="0" rIns="0" bIns="0" rtlCol="0" anchor="ctr"/>
          <a:lstStyle/>
          <a:p>
            <a:pPr marL="0" indent="0">
              <a:buNone/>
            </a:pPr>
            <a:r>
              <a:rPr lang="en-US" sz="1000" dirty="0">
                <a:solidFill>
                  <a:srgbClr val="2D2D2D"/>
                </a:solidFill>
                <a:latin typeface="Calibri" pitchFamily="34" charset="0"/>
                <a:ea typeface="Calibri" pitchFamily="34" charset="-122"/>
                <a:cs typeface="Calibri" pitchFamily="34" charset="-120"/>
              </a:rPr>
              <a:t>Page load estimated at 3–5 seconds on 4G. Heavy images slow things down.</a:t>
            </a:r>
            <a:endParaRPr lang="en-US" sz="1000" dirty="0"/>
          </a:p>
        </p:txBody>
      </p:sp>
      <p:sp>
        <p:nvSpPr>
          <p:cNvPr id="11" name="Shape 9"/>
          <p:cNvSpPr/>
          <p:nvPr/>
        </p:nvSpPr>
        <p:spPr>
          <a:xfrm>
            <a:off x="4681728" y="658368"/>
            <a:ext cx="4251960" cy="1188720"/>
          </a:xfrm>
          <a:prstGeom prst="rect">
            <a:avLst/>
          </a:prstGeom>
          <a:solidFill>
            <a:srgbClr val="FFF3CD"/>
          </a:solidFill>
          <a:ln w="6350">
            <a:solidFill>
              <a:srgbClr val="D0D5DD"/>
            </a:solidFill>
            <a:prstDash val="solid"/>
          </a:ln>
          <a:effectLst>
            <a:outerShdw blurRad="63500" dist="25400" dir="8100000" algn="bl" rotWithShape="0">
              <a:srgbClr val="000000">
                <a:alpha val="10000"/>
              </a:srgbClr>
            </a:outerShdw>
          </a:effectLst>
        </p:spPr>
      </p:sp>
      <p:sp>
        <p:nvSpPr>
          <p:cNvPr id="12" name="Text 10"/>
          <p:cNvSpPr/>
          <p:nvPr/>
        </p:nvSpPr>
        <p:spPr>
          <a:xfrm>
            <a:off x="4818888" y="731520"/>
            <a:ext cx="2560320" cy="274320"/>
          </a:xfrm>
          <a:prstGeom prst="rect">
            <a:avLst/>
          </a:prstGeom>
          <a:noFill/>
          <a:ln/>
        </p:spPr>
        <p:txBody>
          <a:bodyPr wrap="square" lIns="0" tIns="0" rIns="0" bIns="0" rtlCol="0" anchor="ctr"/>
          <a:lstStyle/>
          <a:p>
            <a:pPr marL="0" indent="0">
              <a:buNone/>
            </a:pPr>
            <a:r>
              <a:rPr lang="en-US" sz="1100" b="1" dirty="0">
                <a:solidFill>
                  <a:srgbClr val="1A1A2E"/>
                </a:solidFill>
                <a:latin typeface="Calibri" pitchFamily="34" charset="0"/>
                <a:ea typeface="Calibri" pitchFamily="34" charset="-122"/>
                <a:cs typeface="Calibri" pitchFamily="34" charset="-120"/>
              </a:rPr>
              <a:t>Core Web Vitals</a:t>
            </a:r>
            <a:endParaRPr lang="en-US" sz="1100" dirty="0"/>
          </a:p>
        </p:txBody>
      </p:sp>
      <p:sp>
        <p:nvSpPr>
          <p:cNvPr id="13" name="Text 11"/>
          <p:cNvSpPr/>
          <p:nvPr/>
        </p:nvSpPr>
        <p:spPr>
          <a:xfrm>
            <a:off x="7424928" y="731520"/>
            <a:ext cx="1371600" cy="274320"/>
          </a:xfrm>
          <a:prstGeom prst="rect">
            <a:avLst/>
          </a:prstGeom>
          <a:noFill/>
          <a:ln/>
        </p:spPr>
        <p:txBody>
          <a:bodyPr wrap="square" lIns="0" tIns="0" rIns="0" bIns="0" rtlCol="0" anchor="ctr"/>
          <a:lstStyle/>
          <a:p>
            <a:pPr marL="0" indent="0" algn="r">
              <a:buNone/>
            </a:pPr>
            <a:r>
              <a:rPr lang="en-US" sz="1000" b="1" dirty="0">
                <a:solidFill>
                  <a:srgbClr val="2D2D2D"/>
                </a:solidFill>
                <a:latin typeface="Calibri" pitchFamily="34" charset="0"/>
                <a:ea typeface="Calibri" pitchFamily="34" charset="-122"/>
                <a:cs typeface="Calibri" pitchFamily="34" charset="-120"/>
              </a:rPr>
              <a:t>Needs Work ⚠️</a:t>
            </a:r>
            <a:endParaRPr lang="en-US" sz="1000" dirty="0"/>
          </a:p>
        </p:txBody>
      </p:sp>
      <p:sp>
        <p:nvSpPr>
          <p:cNvPr id="14" name="Text 12"/>
          <p:cNvSpPr/>
          <p:nvPr/>
        </p:nvSpPr>
        <p:spPr>
          <a:xfrm>
            <a:off x="4818888" y="1069848"/>
            <a:ext cx="3977640" cy="658368"/>
          </a:xfrm>
          <a:prstGeom prst="rect">
            <a:avLst/>
          </a:prstGeom>
          <a:noFill/>
          <a:ln/>
        </p:spPr>
        <p:txBody>
          <a:bodyPr wrap="square" lIns="0" tIns="0" rIns="0" bIns="0" rtlCol="0" anchor="ctr"/>
          <a:lstStyle/>
          <a:p>
            <a:pPr marL="0" indent="0">
              <a:buNone/>
            </a:pPr>
            <a:r>
              <a:rPr lang="en-US" sz="1000" dirty="0">
                <a:solidFill>
                  <a:srgbClr val="2D2D2D"/>
                </a:solidFill>
                <a:latin typeface="Calibri" pitchFamily="34" charset="0"/>
                <a:ea typeface="Calibri" pitchFamily="34" charset="-122"/>
                <a:cs typeface="Calibri" pitchFamily="34" charset="-120"/>
              </a:rPr>
              <a:t>Desktop LCP ~4.8s, Mobile LCP ~2.7s. Google uses these scores for rankings.</a:t>
            </a:r>
            <a:endParaRPr lang="en-US" sz="1000" dirty="0"/>
          </a:p>
        </p:txBody>
      </p:sp>
      <p:sp>
        <p:nvSpPr>
          <p:cNvPr id="15" name="Shape 13"/>
          <p:cNvSpPr/>
          <p:nvPr/>
        </p:nvSpPr>
        <p:spPr>
          <a:xfrm>
            <a:off x="201168" y="2011680"/>
            <a:ext cx="4251960" cy="1188720"/>
          </a:xfrm>
          <a:prstGeom prst="rect">
            <a:avLst/>
          </a:prstGeom>
          <a:solidFill>
            <a:srgbClr val="D4EDDA"/>
          </a:solidFill>
          <a:ln w="6350">
            <a:solidFill>
              <a:srgbClr val="D0D5DD"/>
            </a:solidFill>
            <a:prstDash val="solid"/>
          </a:ln>
          <a:effectLst>
            <a:outerShdw blurRad="63500" dist="25400" dir="8100000" algn="bl" rotWithShape="0">
              <a:srgbClr val="000000">
                <a:alpha val="10000"/>
              </a:srgbClr>
            </a:outerShdw>
          </a:effectLst>
        </p:spPr>
      </p:sp>
      <p:sp>
        <p:nvSpPr>
          <p:cNvPr id="16" name="Text 14"/>
          <p:cNvSpPr/>
          <p:nvPr/>
        </p:nvSpPr>
        <p:spPr>
          <a:xfrm>
            <a:off x="338328" y="2084832"/>
            <a:ext cx="2560320" cy="274320"/>
          </a:xfrm>
          <a:prstGeom prst="rect">
            <a:avLst/>
          </a:prstGeom>
          <a:noFill/>
          <a:ln/>
        </p:spPr>
        <p:txBody>
          <a:bodyPr wrap="square" lIns="0" tIns="0" rIns="0" bIns="0" rtlCol="0" anchor="ctr"/>
          <a:lstStyle/>
          <a:p>
            <a:pPr marL="0" indent="0">
              <a:buNone/>
            </a:pPr>
            <a:r>
              <a:rPr lang="en-US" sz="1100" b="1" dirty="0">
                <a:solidFill>
                  <a:srgbClr val="1A1A2E"/>
                </a:solidFill>
                <a:latin typeface="Calibri" pitchFamily="34" charset="0"/>
                <a:ea typeface="Calibri" pitchFamily="34" charset="-122"/>
                <a:cs typeface="Calibri" pitchFamily="34" charset="-120"/>
              </a:rPr>
              <a:t>Mobile Friendliness</a:t>
            </a:r>
            <a:endParaRPr lang="en-US" sz="1100" dirty="0"/>
          </a:p>
        </p:txBody>
      </p:sp>
      <p:sp>
        <p:nvSpPr>
          <p:cNvPr id="17" name="Text 15"/>
          <p:cNvSpPr/>
          <p:nvPr/>
        </p:nvSpPr>
        <p:spPr>
          <a:xfrm>
            <a:off x="2944368" y="2084832"/>
            <a:ext cx="1371600" cy="274320"/>
          </a:xfrm>
          <a:prstGeom prst="rect">
            <a:avLst/>
          </a:prstGeom>
          <a:noFill/>
          <a:ln/>
        </p:spPr>
        <p:txBody>
          <a:bodyPr wrap="square" lIns="0" tIns="0" rIns="0" bIns="0" rtlCol="0" anchor="ctr"/>
          <a:lstStyle/>
          <a:p>
            <a:pPr marL="0" indent="0" algn="r">
              <a:buNone/>
            </a:pPr>
            <a:r>
              <a:rPr lang="en-US" sz="1000" b="1" dirty="0">
                <a:solidFill>
                  <a:srgbClr val="2D2D2D"/>
                </a:solidFill>
                <a:latin typeface="Calibri" pitchFamily="34" charset="0"/>
                <a:ea typeface="Calibri" pitchFamily="34" charset="-122"/>
                <a:cs typeface="Calibri" pitchFamily="34" charset="-120"/>
              </a:rPr>
              <a:t>Good ✅</a:t>
            </a:r>
            <a:endParaRPr lang="en-US" sz="1000" dirty="0"/>
          </a:p>
        </p:txBody>
      </p:sp>
      <p:sp>
        <p:nvSpPr>
          <p:cNvPr id="18" name="Text 16"/>
          <p:cNvSpPr/>
          <p:nvPr/>
        </p:nvSpPr>
        <p:spPr>
          <a:xfrm>
            <a:off x="338328" y="2423160"/>
            <a:ext cx="3977640" cy="658368"/>
          </a:xfrm>
          <a:prstGeom prst="rect">
            <a:avLst/>
          </a:prstGeom>
          <a:noFill/>
          <a:ln/>
        </p:spPr>
        <p:txBody>
          <a:bodyPr wrap="square" lIns="0" tIns="0" rIns="0" bIns="0" rtlCol="0" anchor="ctr"/>
          <a:lstStyle/>
          <a:p>
            <a:pPr marL="0" indent="0">
              <a:buNone/>
            </a:pPr>
            <a:r>
              <a:rPr lang="en-US" sz="1000" dirty="0">
                <a:solidFill>
                  <a:srgbClr val="2D2D2D"/>
                </a:solidFill>
                <a:latin typeface="Calibri" pitchFamily="34" charset="0"/>
                <a:ea typeface="Calibri" pitchFamily="34" charset="-122"/>
                <a:cs typeface="Calibri" pitchFamily="34" charset="-120"/>
              </a:rPr>
              <a:t>Shopify theme is mobile-friendly. Touch buttons and filters need minor fixes.</a:t>
            </a:r>
            <a:endParaRPr lang="en-US" sz="1000" dirty="0"/>
          </a:p>
        </p:txBody>
      </p:sp>
      <p:sp>
        <p:nvSpPr>
          <p:cNvPr id="19" name="Shape 17"/>
          <p:cNvSpPr/>
          <p:nvPr/>
        </p:nvSpPr>
        <p:spPr>
          <a:xfrm>
            <a:off x="4681728" y="2011680"/>
            <a:ext cx="4251960" cy="1188720"/>
          </a:xfrm>
          <a:prstGeom prst="rect">
            <a:avLst/>
          </a:prstGeom>
          <a:solidFill>
            <a:srgbClr val="D4EDDA"/>
          </a:solidFill>
          <a:ln w="6350">
            <a:solidFill>
              <a:srgbClr val="D0D5DD"/>
            </a:solidFill>
            <a:prstDash val="solid"/>
          </a:ln>
          <a:effectLst>
            <a:outerShdw blurRad="63500" dist="25400" dir="8100000" algn="bl" rotWithShape="0">
              <a:srgbClr val="000000">
                <a:alpha val="10000"/>
              </a:srgbClr>
            </a:outerShdw>
          </a:effectLst>
        </p:spPr>
      </p:sp>
      <p:sp>
        <p:nvSpPr>
          <p:cNvPr id="20" name="Text 18"/>
          <p:cNvSpPr/>
          <p:nvPr/>
        </p:nvSpPr>
        <p:spPr>
          <a:xfrm>
            <a:off x="4818888" y="2084832"/>
            <a:ext cx="2560320" cy="274320"/>
          </a:xfrm>
          <a:prstGeom prst="rect">
            <a:avLst/>
          </a:prstGeom>
          <a:noFill/>
          <a:ln/>
        </p:spPr>
        <p:txBody>
          <a:bodyPr wrap="square" lIns="0" tIns="0" rIns="0" bIns="0" rtlCol="0" anchor="ctr"/>
          <a:lstStyle/>
          <a:p>
            <a:pPr marL="0" indent="0">
              <a:buNone/>
            </a:pPr>
            <a:r>
              <a:rPr lang="en-US" sz="1100" b="1" dirty="0">
                <a:solidFill>
                  <a:srgbClr val="1A1A2E"/>
                </a:solidFill>
                <a:latin typeface="Calibri" pitchFamily="34" charset="0"/>
                <a:ea typeface="Calibri" pitchFamily="34" charset="-122"/>
                <a:cs typeface="Calibri" pitchFamily="34" charset="-120"/>
              </a:rPr>
              <a:t>HTTPS / Security</a:t>
            </a:r>
            <a:endParaRPr lang="en-US" sz="1100" dirty="0"/>
          </a:p>
        </p:txBody>
      </p:sp>
      <p:sp>
        <p:nvSpPr>
          <p:cNvPr id="21" name="Text 19"/>
          <p:cNvSpPr/>
          <p:nvPr/>
        </p:nvSpPr>
        <p:spPr>
          <a:xfrm>
            <a:off x="7424928" y="2084832"/>
            <a:ext cx="1371600" cy="274320"/>
          </a:xfrm>
          <a:prstGeom prst="rect">
            <a:avLst/>
          </a:prstGeom>
          <a:noFill/>
          <a:ln/>
        </p:spPr>
        <p:txBody>
          <a:bodyPr wrap="square" lIns="0" tIns="0" rIns="0" bIns="0" rtlCol="0" anchor="ctr"/>
          <a:lstStyle/>
          <a:p>
            <a:pPr marL="0" indent="0" algn="r">
              <a:buNone/>
            </a:pPr>
            <a:r>
              <a:rPr lang="en-US" sz="1000" b="1" dirty="0">
                <a:solidFill>
                  <a:srgbClr val="2D2D2D"/>
                </a:solidFill>
                <a:latin typeface="Calibri" pitchFamily="34" charset="0"/>
                <a:ea typeface="Calibri" pitchFamily="34" charset="-122"/>
                <a:cs typeface="Calibri" pitchFamily="34" charset="-120"/>
              </a:rPr>
              <a:t>Done ✅</a:t>
            </a:r>
            <a:endParaRPr lang="en-US" sz="1000" dirty="0"/>
          </a:p>
        </p:txBody>
      </p:sp>
      <p:sp>
        <p:nvSpPr>
          <p:cNvPr id="22" name="Text 20"/>
          <p:cNvSpPr/>
          <p:nvPr/>
        </p:nvSpPr>
        <p:spPr>
          <a:xfrm>
            <a:off x="4818888" y="2423160"/>
            <a:ext cx="3977640" cy="658368"/>
          </a:xfrm>
          <a:prstGeom prst="rect">
            <a:avLst/>
          </a:prstGeom>
          <a:noFill/>
          <a:ln/>
        </p:spPr>
        <p:txBody>
          <a:bodyPr wrap="square" lIns="0" tIns="0" rIns="0" bIns="0" rtlCol="0" anchor="ctr"/>
          <a:lstStyle/>
          <a:p>
            <a:pPr marL="0" indent="0">
              <a:buNone/>
            </a:pPr>
            <a:r>
              <a:rPr lang="en-US" sz="1000" dirty="0">
                <a:solidFill>
                  <a:srgbClr val="2D2D2D"/>
                </a:solidFill>
                <a:latin typeface="Calibri" pitchFamily="34" charset="0"/>
                <a:ea typeface="Calibri" pitchFamily="34" charset="-122"/>
                <a:cs typeface="Calibri" pitchFamily="34" charset="-120"/>
              </a:rPr>
              <a:t>SSL certificate is active. Website is secure. No mixed content issues.</a:t>
            </a:r>
            <a:endParaRPr lang="en-US" sz="1000" dirty="0"/>
          </a:p>
        </p:txBody>
      </p:sp>
      <p:sp>
        <p:nvSpPr>
          <p:cNvPr id="24" name="Text 22"/>
          <p:cNvSpPr/>
          <p:nvPr/>
        </p:nvSpPr>
        <p:spPr>
          <a:xfrm>
            <a:off x="338328" y="3438144"/>
            <a:ext cx="2560320" cy="274320"/>
          </a:xfrm>
          <a:prstGeom prst="rect">
            <a:avLst/>
          </a:prstGeom>
          <a:noFill/>
          <a:ln/>
        </p:spPr>
        <p:txBody>
          <a:bodyPr wrap="square" lIns="0" tIns="0" rIns="0" bIns="0" rtlCol="0" anchor="ctr"/>
          <a:lstStyle/>
          <a:p>
            <a:pPr marL="0" indent="0">
              <a:buNone/>
            </a:pPr>
            <a:endParaRPr lang="en-US" sz="1100" dirty="0"/>
          </a:p>
        </p:txBody>
      </p:sp>
      <p:sp>
        <p:nvSpPr>
          <p:cNvPr id="25" name="Text 23"/>
          <p:cNvSpPr/>
          <p:nvPr/>
        </p:nvSpPr>
        <p:spPr>
          <a:xfrm>
            <a:off x="2944368" y="3438144"/>
            <a:ext cx="965480" cy="274320"/>
          </a:xfrm>
          <a:prstGeom prst="rect">
            <a:avLst/>
          </a:prstGeom>
          <a:noFill/>
          <a:ln/>
        </p:spPr>
        <p:txBody>
          <a:bodyPr wrap="square" lIns="0" tIns="0" rIns="0" bIns="0" rtlCol="0" anchor="ctr"/>
          <a:lstStyle/>
          <a:p>
            <a:pPr marL="0" indent="0" algn="r">
              <a:buNone/>
            </a:pPr>
            <a:endParaRPr lang="en-US" sz="1000" dirty="0"/>
          </a:p>
        </p:txBody>
      </p:sp>
      <p:sp>
        <p:nvSpPr>
          <p:cNvPr id="26" name="Text 24"/>
          <p:cNvSpPr/>
          <p:nvPr/>
        </p:nvSpPr>
        <p:spPr>
          <a:xfrm>
            <a:off x="338328" y="3776472"/>
            <a:ext cx="3977640" cy="658368"/>
          </a:xfrm>
          <a:prstGeom prst="rect">
            <a:avLst/>
          </a:prstGeom>
          <a:noFill/>
          <a:ln/>
        </p:spPr>
        <p:txBody>
          <a:bodyPr wrap="square" lIns="0" tIns="0" rIns="0" bIns="0" rtlCol="0" anchor="ctr"/>
          <a:lstStyle/>
          <a:p>
            <a:pPr marL="0" indent="0">
              <a:buNone/>
            </a:pPr>
            <a:endParaRPr lang="en-US" sz="1000" dirty="0"/>
          </a:p>
        </p:txBody>
      </p:sp>
      <p:sp>
        <p:nvSpPr>
          <p:cNvPr id="28" name="Text 26"/>
          <p:cNvSpPr/>
          <p:nvPr/>
        </p:nvSpPr>
        <p:spPr>
          <a:xfrm>
            <a:off x="4965194" y="3607308"/>
            <a:ext cx="2560320" cy="274320"/>
          </a:xfrm>
          <a:prstGeom prst="rect">
            <a:avLst/>
          </a:prstGeom>
          <a:noFill/>
          <a:ln/>
        </p:spPr>
        <p:txBody>
          <a:bodyPr wrap="square" lIns="0" tIns="0" rIns="0" bIns="0" rtlCol="0" anchor="ctr"/>
          <a:lstStyle/>
          <a:p>
            <a:pPr marL="0" indent="0">
              <a:buNone/>
            </a:pPr>
            <a:endParaRPr lang="en-US" sz="1100" dirty="0"/>
          </a:p>
        </p:txBody>
      </p:sp>
      <p:sp>
        <p:nvSpPr>
          <p:cNvPr id="29" name="Text 27"/>
          <p:cNvSpPr/>
          <p:nvPr/>
        </p:nvSpPr>
        <p:spPr>
          <a:xfrm>
            <a:off x="7424928" y="3438144"/>
            <a:ext cx="1371600" cy="274320"/>
          </a:xfrm>
          <a:prstGeom prst="rect">
            <a:avLst/>
          </a:prstGeom>
          <a:noFill/>
          <a:ln/>
        </p:spPr>
        <p:txBody>
          <a:bodyPr wrap="square" lIns="0" tIns="0" rIns="0" bIns="0" rtlCol="0" anchor="ctr"/>
          <a:lstStyle/>
          <a:p>
            <a:pPr marL="0" indent="0" algn="r">
              <a:buNone/>
            </a:pPr>
            <a:endParaRPr lang="en-US" sz="1000" dirty="0"/>
          </a:p>
        </p:txBody>
      </p:sp>
      <p:sp>
        <p:nvSpPr>
          <p:cNvPr id="30" name="Text 28"/>
          <p:cNvSpPr/>
          <p:nvPr/>
        </p:nvSpPr>
        <p:spPr>
          <a:xfrm>
            <a:off x="4818888" y="3786982"/>
            <a:ext cx="3977640" cy="658368"/>
          </a:xfrm>
          <a:prstGeom prst="rect">
            <a:avLst/>
          </a:prstGeom>
          <a:noFill/>
          <a:ln/>
        </p:spPr>
        <p:txBody>
          <a:bodyPr wrap="square" lIns="0" tIns="0" rIns="0" bIns="0" rtlCol="0" anchor="ctr"/>
          <a:lstStyle/>
          <a:p>
            <a:pPr marL="0" indent="0">
              <a:buNone/>
            </a:pPr>
            <a:r>
              <a:rPr lang="en-US" sz="1000" dirty="0">
                <a:solidFill>
                  <a:srgbClr val="2D2D2D"/>
                </a:solidFill>
                <a:latin typeface="Calibri" pitchFamily="34" charset="0"/>
                <a:ea typeface="Calibri" pitchFamily="34" charset="-122"/>
                <a:cs typeface="Calibri" pitchFamily="34" charset="-120"/>
              </a:rPr>
              <a: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A1A2E"/>
          </a:solidFill>
          <a:ln w="12700">
            <a:solidFill>
              <a:srgbClr val="1A1A2E"/>
            </a:solidFill>
            <a:prstDash val="solid"/>
          </a:ln>
        </p:spPr>
      </p:sp>
      <p:sp>
        <p:nvSpPr>
          <p:cNvPr id="3" name="Shape 1"/>
          <p:cNvSpPr/>
          <p:nvPr/>
        </p:nvSpPr>
        <p:spPr>
          <a:xfrm>
            <a:off x="0" y="0"/>
            <a:ext cx="109728" cy="5143500"/>
          </a:xfrm>
          <a:prstGeom prst="rect">
            <a:avLst/>
          </a:prstGeom>
          <a:solidFill>
            <a:srgbClr val="E94560"/>
          </a:solidFill>
          <a:ln w="12700">
            <a:solidFill>
              <a:srgbClr val="E94560"/>
            </a:solidFill>
            <a:prstDash val="solid"/>
          </a:ln>
        </p:spPr>
      </p:sp>
      <p:sp>
        <p:nvSpPr>
          <p:cNvPr id="4" name="Text 2"/>
          <p:cNvSpPr/>
          <p:nvPr/>
        </p:nvSpPr>
        <p:spPr>
          <a:xfrm>
            <a:off x="274320" y="73152"/>
            <a:ext cx="8595360" cy="384048"/>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SEO Findings — On-Page &amp; Off-Page</a:t>
            </a:r>
            <a:endParaRPr lang="en-US" sz="1700" dirty="0"/>
          </a:p>
        </p:txBody>
      </p:sp>
      <p:sp>
        <p:nvSpPr>
          <p:cNvPr id="5" name="Shape 3"/>
          <p:cNvSpPr/>
          <p:nvPr/>
        </p:nvSpPr>
        <p:spPr>
          <a:xfrm>
            <a:off x="0" y="4892040"/>
            <a:ext cx="9144000" cy="251460"/>
          </a:xfrm>
          <a:prstGeom prst="rect">
            <a:avLst/>
          </a:prstGeom>
          <a:solidFill>
            <a:srgbClr val="1A1A2E"/>
          </a:solidFill>
          <a:ln w="12700">
            <a:solidFill>
              <a:srgbClr val="1A1A2E"/>
            </a:solidFill>
            <a:prstDash val="solid"/>
          </a:ln>
        </p:spPr>
      </p:sp>
      <p:sp>
        <p:nvSpPr>
          <p:cNvPr id="6" name="Text 4"/>
          <p:cNvSpPr/>
          <p:nvPr/>
        </p:nvSpPr>
        <p:spPr>
          <a:xfrm>
            <a:off x="182880" y="4892040"/>
            <a:ext cx="8778240" cy="25146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Snitch.com — SEO Strategy Report 2026  |  India B2C</a:t>
            </a:r>
            <a:endParaRPr lang="en-US" sz="900" dirty="0"/>
          </a:p>
        </p:txBody>
      </p:sp>
      <p:sp>
        <p:nvSpPr>
          <p:cNvPr id="7" name="Shape 5"/>
          <p:cNvSpPr/>
          <p:nvPr/>
        </p:nvSpPr>
        <p:spPr>
          <a:xfrm>
            <a:off x="201168" y="640080"/>
            <a:ext cx="4251960" cy="4023360"/>
          </a:xfrm>
          <a:prstGeom prst="rect">
            <a:avLst/>
          </a:prstGeom>
          <a:solidFill>
            <a:srgbClr val="FFFFFF"/>
          </a:solidFill>
          <a:ln w="6350">
            <a:solidFill>
              <a:srgbClr val="D0D5DD"/>
            </a:solidFill>
            <a:prstDash val="solid"/>
          </a:ln>
          <a:effectLst>
            <a:outerShdw blurRad="63500" dist="25400" dir="8100000" algn="bl" rotWithShape="0">
              <a:srgbClr val="000000">
                <a:alpha val="10000"/>
              </a:srgbClr>
            </a:outerShdw>
          </a:effectLst>
        </p:spPr>
      </p:sp>
      <p:sp>
        <p:nvSpPr>
          <p:cNvPr id="8" name="Shape 6"/>
          <p:cNvSpPr/>
          <p:nvPr/>
        </p:nvSpPr>
        <p:spPr>
          <a:xfrm>
            <a:off x="201168" y="640080"/>
            <a:ext cx="4251960" cy="347472"/>
          </a:xfrm>
          <a:prstGeom prst="rect">
            <a:avLst/>
          </a:prstGeom>
          <a:solidFill>
            <a:srgbClr val="1A1A2E"/>
          </a:solidFill>
          <a:ln w="12700">
            <a:solidFill>
              <a:srgbClr val="1A1A2E"/>
            </a:solidFill>
            <a:prstDash val="solid"/>
          </a:ln>
        </p:spPr>
      </p:sp>
      <p:sp>
        <p:nvSpPr>
          <p:cNvPr id="9" name="Text 7"/>
          <p:cNvSpPr/>
          <p:nvPr/>
        </p:nvSpPr>
        <p:spPr>
          <a:xfrm>
            <a:off x="320040" y="667512"/>
            <a:ext cx="402336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ON-PAGE SEO</a:t>
            </a:r>
            <a:endParaRPr lang="en-US" sz="1200" dirty="0"/>
          </a:p>
        </p:txBody>
      </p:sp>
      <p:sp>
        <p:nvSpPr>
          <p:cNvPr id="10" name="Shape 8"/>
          <p:cNvSpPr/>
          <p:nvPr/>
        </p:nvSpPr>
        <p:spPr>
          <a:xfrm>
            <a:off x="228600" y="1097280"/>
            <a:ext cx="4206240" cy="420624"/>
          </a:xfrm>
          <a:prstGeom prst="rect">
            <a:avLst/>
          </a:prstGeom>
          <a:solidFill>
            <a:srgbClr val="F8FAFF"/>
          </a:solidFill>
          <a:ln w="3810">
            <a:solidFill>
              <a:srgbClr val="E5E7EB"/>
            </a:solidFill>
            <a:prstDash val="solid"/>
          </a:ln>
        </p:spPr>
      </p:sp>
      <p:sp>
        <p:nvSpPr>
          <p:cNvPr id="11" name="Text 9"/>
          <p:cNvSpPr/>
          <p:nvPr/>
        </p:nvSpPr>
        <p:spPr>
          <a:xfrm>
            <a:off x="320040" y="1152144"/>
            <a:ext cx="1371600" cy="256032"/>
          </a:xfrm>
          <a:prstGeom prst="rect">
            <a:avLst/>
          </a:prstGeom>
          <a:noFill/>
          <a:ln/>
        </p:spPr>
        <p:txBody>
          <a:bodyPr wrap="square" lIns="0" tIns="0" rIns="0" bIns="0" rtlCol="0" anchor="ctr"/>
          <a:lstStyle/>
          <a:p>
            <a:pPr marL="0" indent="0">
              <a:buNone/>
            </a:pPr>
            <a:r>
              <a:rPr lang="en-US" sz="950" b="1" dirty="0">
                <a:solidFill>
                  <a:srgbClr val="1A1A2E"/>
                </a:solidFill>
                <a:latin typeface="Calibri" pitchFamily="34" charset="0"/>
                <a:ea typeface="Calibri" pitchFamily="34" charset="-122"/>
                <a:cs typeface="Calibri" pitchFamily="34" charset="-120"/>
              </a:rPr>
              <a:t>Title Tag</a:t>
            </a:r>
            <a:endParaRPr lang="en-US" sz="950" dirty="0"/>
          </a:p>
        </p:txBody>
      </p:sp>
      <p:sp>
        <p:nvSpPr>
          <p:cNvPr id="12" name="Text 10"/>
          <p:cNvSpPr/>
          <p:nvPr/>
        </p:nvSpPr>
        <p:spPr>
          <a:xfrm>
            <a:off x="1737360" y="1152144"/>
            <a:ext cx="2560320" cy="256032"/>
          </a:xfrm>
          <a:prstGeom prst="rect">
            <a:avLst/>
          </a:prstGeom>
          <a:noFill/>
          <a:ln/>
        </p:spPr>
        <p:txBody>
          <a:bodyPr wrap="square" lIns="0" tIns="0" rIns="0" bIns="0" rtlCol="0" anchor="ctr"/>
          <a:lstStyle/>
          <a:p>
            <a:pPr marL="0" indent="0">
              <a:buNone/>
            </a:pPr>
            <a:r>
              <a:rPr lang="en-US" sz="950" dirty="0">
                <a:solidFill>
                  <a:srgbClr val="2D2D2D"/>
                </a:solidFill>
                <a:latin typeface="Calibri" pitchFamily="34" charset="0"/>
                <a:ea typeface="Calibri" pitchFamily="34" charset="-122"/>
                <a:cs typeface="Calibri" pitchFamily="34" charset="-120"/>
              </a:rPr>
              <a:t>Too generic — no fit types or brand</a:t>
            </a:r>
            <a:endParaRPr lang="en-US" sz="950" dirty="0"/>
          </a:p>
        </p:txBody>
      </p:sp>
      <p:sp>
        <p:nvSpPr>
          <p:cNvPr id="13" name="Shape 11"/>
          <p:cNvSpPr/>
          <p:nvPr/>
        </p:nvSpPr>
        <p:spPr>
          <a:xfrm>
            <a:off x="228600" y="1572768"/>
            <a:ext cx="4206240" cy="420624"/>
          </a:xfrm>
          <a:prstGeom prst="rect">
            <a:avLst/>
          </a:prstGeom>
          <a:solidFill>
            <a:srgbClr val="F5F5F5"/>
          </a:solidFill>
          <a:ln w="3810">
            <a:solidFill>
              <a:srgbClr val="E5E7EB"/>
            </a:solidFill>
            <a:prstDash val="solid"/>
          </a:ln>
        </p:spPr>
      </p:sp>
      <p:sp>
        <p:nvSpPr>
          <p:cNvPr id="14" name="Text 12"/>
          <p:cNvSpPr/>
          <p:nvPr/>
        </p:nvSpPr>
        <p:spPr>
          <a:xfrm>
            <a:off x="320040" y="1627632"/>
            <a:ext cx="1371600" cy="256032"/>
          </a:xfrm>
          <a:prstGeom prst="rect">
            <a:avLst/>
          </a:prstGeom>
          <a:noFill/>
          <a:ln/>
        </p:spPr>
        <p:txBody>
          <a:bodyPr wrap="square" lIns="0" tIns="0" rIns="0" bIns="0" rtlCol="0" anchor="ctr"/>
          <a:lstStyle/>
          <a:p>
            <a:pPr marL="0" indent="0">
              <a:buNone/>
            </a:pPr>
            <a:r>
              <a:rPr lang="en-US" sz="950" b="1" dirty="0">
                <a:solidFill>
                  <a:srgbClr val="1A1A2E"/>
                </a:solidFill>
                <a:latin typeface="Calibri" pitchFamily="34" charset="0"/>
                <a:ea typeface="Calibri" pitchFamily="34" charset="-122"/>
                <a:cs typeface="Calibri" pitchFamily="34" charset="-120"/>
              </a:rPr>
              <a:t>H1 Heading</a:t>
            </a:r>
            <a:endParaRPr lang="en-US" sz="950" dirty="0"/>
          </a:p>
        </p:txBody>
      </p:sp>
      <p:sp>
        <p:nvSpPr>
          <p:cNvPr id="15" name="Text 13"/>
          <p:cNvSpPr/>
          <p:nvPr/>
        </p:nvSpPr>
        <p:spPr>
          <a:xfrm>
            <a:off x="1737360" y="1627632"/>
            <a:ext cx="2560320" cy="256032"/>
          </a:xfrm>
          <a:prstGeom prst="rect">
            <a:avLst/>
          </a:prstGeom>
          <a:noFill/>
          <a:ln/>
        </p:spPr>
        <p:txBody>
          <a:bodyPr wrap="square" lIns="0" tIns="0" rIns="0" bIns="0" rtlCol="0" anchor="ctr"/>
          <a:lstStyle/>
          <a:p>
            <a:pPr marL="0" indent="0">
              <a:buNone/>
            </a:pPr>
            <a:r>
              <a:rPr lang="en-US" sz="950" dirty="0">
                <a:solidFill>
                  <a:srgbClr val="2D2D2D"/>
                </a:solidFill>
                <a:latin typeface="Calibri" pitchFamily="34" charset="0"/>
                <a:ea typeface="Calibri" pitchFamily="34" charset="-122"/>
                <a:cs typeface="Calibri" pitchFamily="34" charset="-120"/>
              </a:rPr>
              <a:t>Just says 'JEANS' — very thin</a:t>
            </a:r>
            <a:endParaRPr lang="en-US" sz="950" dirty="0"/>
          </a:p>
        </p:txBody>
      </p:sp>
      <p:sp>
        <p:nvSpPr>
          <p:cNvPr id="16" name="Shape 14"/>
          <p:cNvSpPr/>
          <p:nvPr/>
        </p:nvSpPr>
        <p:spPr>
          <a:xfrm>
            <a:off x="228600" y="2048256"/>
            <a:ext cx="4206240" cy="420624"/>
          </a:xfrm>
          <a:prstGeom prst="rect">
            <a:avLst/>
          </a:prstGeom>
          <a:solidFill>
            <a:srgbClr val="F8FAFF"/>
          </a:solidFill>
          <a:ln w="3810">
            <a:solidFill>
              <a:srgbClr val="E5E7EB"/>
            </a:solidFill>
            <a:prstDash val="solid"/>
          </a:ln>
        </p:spPr>
      </p:sp>
      <p:sp>
        <p:nvSpPr>
          <p:cNvPr id="17" name="Text 15"/>
          <p:cNvSpPr/>
          <p:nvPr/>
        </p:nvSpPr>
        <p:spPr>
          <a:xfrm>
            <a:off x="320040" y="2103120"/>
            <a:ext cx="1371600" cy="256032"/>
          </a:xfrm>
          <a:prstGeom prst="rect">
            <a:avLst/>
          </a:prstGeom>
          <a:noFill/>
          <a:ln/>
        </p:spPr>
        <p:txBody>
          <a:bodyPr wrap="square" lIns="0" tIns="0" rIns="0" bIns="0" rtlCol="0" anchor="ctr"/>
          <a:lstStyle/>
          <a:p>
            <a:pPr marL="0" indent="0">
              <a:buNone/>
            </a:pPr>
            <a:r>
              <a:rPr lang="en-US" sz="950" b="1" dirty="0">
                <a:solidFill>
                  <a:srgbClr val="1A1A2E"/>
                </a:solidFill>
                <a:latin typeface="Calibri" pitchFamily="34" charset="0"/>
                <a:ea typeface="Calibri" pitchFamily="34" charset="-122"/>
                <a:cs typeface="Calibri" pitchFamily="34" charset="-120"/>
              </a:rPr>
              <a:t>Page Content</a:t>
            </a:r>
            <a:endParaRPr lang="en-US" sz="950" dirty="0"/>
          </a:p>
        </p:txBody>
      </p:sp>
      <p:sp>
        <p:nvSpPr>
          <p:cNvPr id="18" name="Text 16"/>
          <p:cNvSpPr/>
          <p:nvPr/>
        </p:nvSpPr>
        <p:spPr>
          <a:xfrm>
            <a:off x="1737360" y="2103120"/>
            <a:ext cx="2560320" cy="256032"/>
          </a:xfrm>
          <a:prstGeom prst="rect">
            <a:avLst/>
          </a:prstGeom>
          <a:noFill/>
          <a:ln/>
        </p:spPr>
        <p:txBody>
          <a:bodyPr wrap="square" lIns="0" tIns="0" rIns="0" bIns="0" rtlCol="0" anchor="ctr"/>
          <a:lstStyle/>
          <a:p>
            <a:pPr marL="0" indent="0">
              <a:buNone/>
            </a:pPr>
            <a:r>
              <a:rPr lang="en-US" sz="950" dirty="0">
                <a:solidFill>
                  <a:srgbClr val="2D2D2D"/>
                </a:solidFill>
                <a:latin typeface="Calibri" pitchFamily="34" charset="0"/>
                <a:ea typeface="Calibri" pitchFamily="34" charset="-122"/>
                <a:cs typeface="Calibri" pitchFamily="34" charset="-120"/>
              </a:rPr>
              <a:t>Zero text below the product grid</a:t>
            </a:r>
            <a:endParaRPr lang="en-US" sz="950" dirty="0"/>
          </a:p>
        </p:txBody>
      </p:sp>
      <p:sp>
        <p:nvSpPr>
          <p:cNvPr id="19" name="Shape 17"/>
          <p:cNvSpPr/>
          <p:nvPr/>
        </p:nvSpPr>
        <p:spPr>
          <a:xfrm>
            <a:off x="228600" y="2523744"/>
            <a:ext cx="4206240" cy="420624"/>
          </a:xfrm>
          <a:prstGeom prst="rect">
            <a:avLst/>
          </a:prstGeom>
          <a:solidFill>
            <a:srgbClr val="F5F5F5"/>
          </a:solidFill>
          <a:ln w="3810">
            <a:solidFill>
              <a:srgbClr val="E5E7EB"/>
            </a:solidFill>
            <a:prstDash val="solid"/>
          </a:ln>
        </p:spPr>
      </p:sp>
      <p:sp>
        <p:nvSpPr>
          <p:cNvPr id="20" name="Text 18"/>
          <p:cNvSpPr/>
          <p:nvPr/>
        </p:nvSpPr>
        <p:spPr>
          <a:xfrm>
            <a:off x="320040" y="2578608"/>
            <a:ext cx="1371600" cy="256032"/>
          </a:xfrm>
          <a:prstGeom prst="rect">
            <a:avLst/>
          </a:prstGeom>
          <a:noFill/>
          <a:ln/>
        </p:spPr>
        <p:txBody>
          <a:bodyPr wrap="square" lIns="0" tIns="0" rIns="0" bIns="0" rtlCol="0" anchor="ctr"/>
          <a:lstStyle/>
          <a:p>
            <a:pPr marL="0" indent="0">
              <a:buNone/>
            </a:pPr>
            <a:r>
              <a:rPr lang="en-US" sz="950" b="1" dirty="0">
                <a:solidFill>
                  <a:srgbClr val="1A1A2E"/>
                </a:solidFill>
                <a:latin typeface="Calibri" pitchFamily="34" charset="0"/>
                <a:ea typeface="Calibri" pitchFamily="34" charset="-122"/>
                <a:cs typeface="Calibri" pitchFamily="34" charset="-120"/>
              </a:rPr>
              <a:t>Meta Description</a:t>
            </a:r>
            <a:endParaRPr lang="en-US" sz="950" dirty="0"/>
          </a:p>
        </p:txBody>
      </p:sp>
      <p:sp>
        <p:nvSpPr>
          <p:cNvPr id="21" name="Text 19"/>
          <p:cNvSpPr/>
          <p:nvPr/>
        </p:nvSpPr>
        <p:spPr>
          <a:xfrm>
            <a:off x="1737360" y="2578608"/>
            <a:ext cx="2560320" cy="256032"/>
          </a:xfrm>
          <a:prstGeom prst="rect">
            <a:avLst/>
          </a:prstGeom>
          <a:noFill/>
          <a:ln/>
        </p:spPr>
        <p:txBody>
          <a:bodyPr wrap="square" lIns="0" tIns="0" rIns="0" bIns="0" rtlCol="0" anchor="ctr"/>
          <a:lstStyle/>
          <a:p>
            <a:pPr marL="0" indent="0">
              <a:buNone/>
            </a:pPr>
            <a:r>
              <a:rPr lang="en-US" sz="950" dirty="0">
                <a:solidFill>
                  <a:srgbClr val="2D2D2D"/>
                </a:solidFill>
                <a:latin typeface="Calibri" pitchFamily="34" charset="0"/>
                <a:ea typeface="Calibri" pitchFamily="34" charset="-122"/>
                <a:cs typeface="Calibri" pitchFamily="34" charset="-120"/>
              </a:rPr>
              <a:t>Auto-generated, missing keywords</a:t>
            </a:r>
            <a:endParaRPr lang="en-US" sz="950" dirty="0"/>
          </a:p>
        </p:txBody>
      </p:sp>
      <p:sp>
        <p:nvSpPr>
          <p:cNvPr id="22" name="Shape 20"/>
          <p:cNvSpPr/>
          <p:nvPr/>
        </p:nvSpPr>
        <p:spPr>
          <a:xfrm>
            <a:off x="228600" y="2999232"/>
            <a:ext cx="4206240" cy="420624"/>
          </a:xfrm>
          <a:prstGeom prst="rect">
            <a:avLst/>
          </a:prstGeom>
          <a:solidFill>
            <a:srgbClr val="F8FAFF"/>
          </a:solidFill>
          <a:ln w="3810">
            <a:solidFill>
              <a:srgbClr val="E5E7EB"/>
            </a:solidFill>
            <a:prstDash val="solid"/>
          </a:ln>
        </p:spPr>
      </p:sp>
      <p:sp>
        <p:nvSpPr>
          <p:cNvPr id="23" name="Text 21"/>
          <p:cNvSpPr/>
          <p:nvPr/>
        </p:nvSpPr>
        <p:spPr>
          <a:xfrm>
            <a:off x="320040" y="3054096"/>
            <a:ext cx="1371600" cy="256032"/>
          </a:xfrm>
          <a:prstGeom prst="rect">
            <a:avLst/>
          </a:prstGeom>
          <a:noFill/>
          <a:ln/>
        </p:spPr>
        <p:txBody>
          <a:bodyPr wrap="square" lIns="0" tIns="0" rIns="0" bIns="0" rtlCol="0" anchor="ctr"/>
          <a:lstStyle/>
          <a:p>
            <a:pPr marL="0" indent="0">
              <a:buNone/>
            </a:pPr>
            <a:r>
              <a:rPr lang="en-US" sz="950" b="1" dirty="0">
                <a:solidFill>
                  <a:srgbClr val="1A1A2E"/>
                </a:solidFill>
                <a:latin typeface="Calibri" pitchFamily="34" charset="0"/>
                <a:ea typeface="Calibri" pitchFamily="34" charset="-122"/>
                <a:cs typeface="Calibri" pitchFamily="34" charset="-120"/>
              </a:rPr>
              <a:t>Image Alt Text</a:t>
            </a:r>
            <a:endParaRPr lang="en-US" sz="950" dirty="0"/>
          </a:p>
        </p:txBody>
      </p:sp>
      <p:sp>
        <p:nvSpPr>
          <p:cNvPr id="24" name="Text 22"/>
          <p:cNvSpPr/>
          <p:nvPr/>
        </p:nvSpPr>
        <p:spPr>
          <a:xfrm>
            <a:off x="1737360" y="3054096"/>
            <a:ext cx="2560320" cy="256032"/>
          </a:xfrm>
          <a:prstGeom prst="rect">
            <a:avLst/>
          </a:prstGeom>
          <a:noFill/>
          <a:ln/>
        </p:spPr>
        <p:txBody>
          <a:bodyPr wrap="square" lIns="0" tIns="0" rIns="0" bIns="0" rtlCol="0" anchor="ctr"/>
          <a:lstStyle/>
          <a:p>
            <a:pPr marL="0" indent="0">
              <a:buNone/>
            </a:pPr>
            <a:r>
              <a:rPr lang="en-US" sz="950" dirty="0">
                <a:solidFill>
                  <a:srgbClr val="2D2D2D"/>
                </a:solidFill>
                <a:latin typeface="Calibri" pitchFamily="34" charset="0"/>
                <a:ea typeface="Calibri" pitchFamily="34" charset="-122"/>
                <a:cs typeface="Calibri" pitchFamily="34" charset="-120"/>
              </a:rPr>
              <a:t>Generic labels — missing keywords</a:t>
            </a:r>
            <a:endParaRPr lang="en-US" sz="950" dirty="0"/>
          </a:p>
        </p:txBody>
      </p:sp>
      <p:sp>
        <p:nvSpPr>
          <p:cNvPr id="25" name="Shape 23"/>
          <p:cNvSpPr/>
          <p:nvPr/>
        </p:nvSpPr>
        <p:spPr>
          <a:xfrm>
            <a:off x="228600" y="3474720"/>
            <a:ext cx="4206240" cy="420624"/>
          </a:xfrm>
          <a:prstGeom prst="rect">
            <a:avLst/>
          </a:prstGeom>
          <a:solidFill>
            <a:srgbClr val="F5F5F5"/>
          </a:solidFill>
          <a:ln w="3810">
            <a:solidFill>
              <a:srgbClr val="E5E7EB"/>
            </a:solidFill>
            <a:prstDash val="solid"/>
          </a:ln>
        </p:spPr>
      </p:sp>
      <p:sp>
        <p:nvSpPr>
          <p:cNvPr id="26" name="Text 24"/>
          <p:cNvSpPr/>
          <p:nvPr/>
        </p:nvSpPr>
        <p:spPr>
          <a:xfrm>
            <a:off x="320040" y="3529584"/>
            <a:ext cx="1371600" cy="256032"/>
          </a:xfrm>
          <a:prstGeom prst="rect">
            <a:avLst/>
          </a:prstGeom>
          <a:noFill/>
          <a:ln/>
        </p:spPr>
        <p:txBody>
          <a:bodyPr wrap="square" lIns="0" tIns="0" rIns="0" bIns="0" rtlCol="0" anchor="ctr"/>
          <a:lstStyle/>
          <a:p>
            <a:pPr marL="0" indent="0">
              <a:buNone/>
            </a:pPr>
            <a:r>
              <a:rPr lang="en-US" sz="950" b="1" dirty="0">
                <a:solidFill>
                  <a:srgbClr val="1A1A2E"/>
                </a:solidFill>
                <a:latin typeface="Calibri" pitchFamily="34" charset="0"/>
                <a:ea typeface="Calibri" pitchFamily="34" charset="-122"/>
                <a:cs typeface="Calibri" pitchFamily="34" charset="-120"/>
              </a:rPr>
              <a:t>Internal Links</a:t>
            </a:r>
            <a:endParaRPr lang="en-US" sz="950" dirty="0"/>
          </a:p>
        </p:txBody>
      </p:sp>
      <p:sp>
        <p:nvSpPr>
          <p:cNvPr id="27" name="Text 25"/>
          <p:cNvSpPr/>
          <p:nvPr/>
        </p:nvSpPr>
        <p:spPr>
          <a:xfrm>
            <a:off x="1737360" y="3529584"/>
            <a:ext cx="2560320" cy="256032"/>
          </a:xfrm>
          <a:prstGeom prst="rect">
            <a:avLst/>
          </a:prstGeom>
          <a:noFill/>
          <a:ln/>
        </p:spPr>
        <p:txBody>
          <a:bodyPr wrap="square" lIns="0" tIns="0" rIns="0" bIns="0" rtlCol="0" anchor="ctr"/>
          <a:lstStyle/>
          <a:p>
            <a:pPr marL="0" indent="0">
              <a:buNone/>
            </a:pPr>
            <a:r>
              <a:rPr lang="en-US" sz="950" dirty="0">
                <a:solidFill>
                  <a:srgbClr val="2D2D2D"/>
                </a:solidFill>
                <a:latin typeface="Calibri" pitchFamily="34" charset="0"/>
                <a:ea typeface="Calibri" pitchFamily="34" charset="-122"/>
                <a:cs typeface="Calibri" pitchFamily="34" charset="-120"/>
              </a:rPr>
              <a:t>No links to related categories or blogs</a:t>
            </a:r>
            <a:endParaRPr lang="en-US" sz="950" dirty="0"/>
          </a:p>
        </p:txBody>
      </p:sp>
      <p:sp>
        <p:nvSpPr>
          <p:cNvPr id="28" name="Shape 26"/>
          <p:cNvSpPr/>
          <p:nvPr/>
        </p:nvSpPr>
        <p:spPr>
          <a:xfrm>
            <a:off x="228600" y="3950208"/>
            <a:ext cx="4206240" cy="420624"/>
          </a:xfrm>
          <a:prstGeom prst="rect">
            <a:avLst/>
          </a:prstGeom>
          <a:solidFill>
            <a:srgbClr val="F8FAFF"/>
          </a:solidFill>
          <a:ln w="3810">
            <a:solidFill>
              <a:srgbClr val="E5E7EB"/>
            </a:solidFill>
            <a:prstDash val="solid"/>
          </a:ln>
        </p:spPr>
      </p:sp>
      <p:sp>
        <p:nvSpPr>
          <p:cNvPr id="29" name="Text 27"/>
          <p:cNvSpPr/>
          <p:nvPr/>
        </p:nvSpPr>
        <p:spPr>
          <a:xfrm>
            <a:off x="320040" y="4005072"/>
            <a:ext cx="1371600" cy="256032"/>
          </a:xfrm>
          <a:prstGeom prst="rect">
            <a:avLst/>
          </a:prstGeom>
          <a:noFill/>
          <a:ln/>
        </p:spPr>
        <p:txBody>
          <a:bodyPr wrap="square" lIns="0" tIns="0" rIns="0" bIns="0" rtlCol="0" anchor="ctr"/>
          <a:lstStyle/>
          <a:p>
            <a:pPr marL="0" indent="0">
              <a:buNone/>
            </a:pPr>
            <a:r>
              <a:rPr lang="en-US" sz="950" b="1" dirty="0">
                <a:solidFill>
                  <a:srgbClr val="1A1A2E"/>
                </a:solidFill>
                <a:latin typeface="Calibri" pitchFamily="34" charset="0"/>
                <a:ea typeface="Calibri" pitchFamily="34" charset="-122"/>
                <a:cs typeface="Calibri" pitchFamily="34" charset="-120"/>
              </a:rPr>
              <a:t>FAQ Section</a:t>
            </a:r>
            <a:endParaRPr lang="en-US" sz="950" dirty="0"/>
          </a:p>
        </p:txBody>
      </p:sp>
      <p:sp>
        <p:nvSpPr>
          <p:cNvPr id="30" name="Text 28"/>
          <p:cNvSpPr/>
          <p:nvPr/>
        </p:nvSpPr>
        <p:spPr>
          <a:xfrm>
            <a:off x="1737360" y="4005072"/>
            <a:ext cx="2560320" cy="256032"/>
          </a:xfrm>
          <a:prstGeom prst="rect">
            <a:avLst/>
          </a:prstGeom>
          <a:noFill/>
          <a:ln/>
        </p:spPr>
        <p:txBody>
          <a:bodyPr wrap="square" lIns="0" tIns="0" rIns="0" bIns="0" rtlCol="0" anchor="ctr"/>
          <a:lstStyle/>
          <a:p>
            <a:pPr marL="0" indent="0">
              <a:buNone/>
            </a:pPr>
            <a:r>
              <a:rPr lang="en-US" sz="950" dirty="0">
                <a:solidFill>
                  <a:srgbClr val="2D2D2D"/>
                </a:solidFill>
                <a:latin typeface="Calibri" pitchFamily="34" charset="0"/>
                <a:ea typeface="Calibri" pitchFamily="34" charset="-122"/>
                <a:cs typeface="Calibri" pitchFamily="34" charset="-120"/>
              </a:rPr>
              <a:t>Missing — lost featured snippet chance</a:t>
            </a:r>
            <a:endParaRPr lang="en-US" sz="950" dirty="0"/>
          </a:p>
        </p:txBody>
      </p:sp>
      <p:sp>
        <p:nvSpPr>
          <p:cNvPr id="31" name="Shape 29"/>
          <p:cNvSpPr/>
          <p:nvPr/>
        </p:nvSpPr>
        <p:spPr>
          <a:xfrm>
            <a:off x="4681728" y="640080"/>
            <a:ext cx="4251960" cy="4023360"/>
          </a:xfrm>
          <a:prstGeom prst="rect">
            <a:avLst/>
          </a:prstGeom>
          <a:solidFill>
            <a:srgbClr val="FFFFFF"/>
          </a:solidFill>
          <a:ln w="6350">
            <a:solidFill>
              <a:srgbClr val="D0D5DD"/>
            </a:solidFill>
            <a:prstDash val="solid"/>
          </a:ln>
          <a:effectLst>
            <a:outerShdw blurRad="63500" dist="25400" dir="8100000" algn="bl" rotWithShape="0">
              <a:srgbClr val="000000">
                <a:alpha val="10000"/>
              </a:srgbClr>
            </a:outerShdw>
          </a:effectLst>
        </p:spPr>
      </p:sp>
      <p:sp>
        <p:nvSpPr>
          <p:cNvPr id="32" name="Shape 30"/>
          <p:cNvSpPr/>
          <p:nvPr/>
        </p:nvSpPr>
        <p:spPr>
          <a:xfrm>
            <a:off x="4681728" y="640080"/>
            <a:ext cx="4251960" cy="347472"/>
          </a:xfrm>
          <a:prstGeom prst="rect">
            <a:avLst/>
          </a:prstGeom>
          <a:solidFill>
            <a:srgbClr val="0F3460"/>
          </a:solidFill>
          <a:ln w="12700">
            <a:solidFill>
              <a:srgbClr val="0F3460"/>
            </a:solidFill>
            <a:prstDash val="solid"/>
          </a:ln>
        </p:spPr>
      </p:sp>
      <p:sp>
        <p:nvSpPr>
          <p:cNvPr id="33" name="Text 31"/>
          <p:cNvSpPr/>
          <p:nvPr/>
        </p:nvSpPr>
        <p:spPr>
          <a:xfrm>
            <a:off x="4800600" y="667512"/>
            <a:ext cx="402336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OFF-PAGE SEO</a:t>
            </a:r>
            <a:endParaRPr lang="en-US" sz="1200" dirty="0"/>
          </a:p>
        </p:txBody>
      </p:sp>
      <p:sp>
        <p:nvSpPr>
          <p:cNvPr id="34" name="Shape 32"/>
          <p:cNvSpPr/>
          <p:nvPr/>
        </p:nvSpPr>
        <p:spPr>
          <a:xfrm>
            <a:off x="4709160" y="1097280"/>
            <a:ext cx="4206240" cy="420624"/>
          </a:xfrm>
          <a:prstGeom prst="rect">
            <a:avLst/>
          </a:prstGeom>
          <a:solidFill>
            <a:srgbClr val="F8FAFF"/>
          </a:solidFill>
          <a:ln w="3810">
            <a:solidFill>
              <a:srgbClr val="E5E7EB"/>
            </a:solidFill>
            <a:prstDash val="solid"/>
          </a:ln>
        </p:spPr>
      </p:sp>
      <p:sp>
        <p:nvSpPr>
          <p:cNvPr id="35" name="Text 33"/>
          <p:cNvSpPr/>
          <p:nvPr/>
        </p:nvSpPr>
        <p:spPr>
          <a:xfrm>
            <a:off x="4800600" y="1152144"/>
            <a:ext cx="1554480" cy="256032"/>
          </a:xfrm>
          <a:prstGeom prst="rect">
            <a:avLst/>
          </a:prstGeom>
          <a:noFill/>
          <a:ln/>
        </p:spPr>
        <p:txBody>
          <a:bodyPr wrap="square" lIns="0" tIns="0" rIns="0" bIns="0" rtlCol="0" anchor="ctr"/>
          <a:lstStyle/>
          <a:p>
            <a:pPr marL="0" indent="0">
              <a:buNone/>
            </a:pPr>
            <a:r>
              <a:rPr lang="en-US" sz="950" b="1" dirty="0">
                <a:solidFill>
                  <a:srgbClr val="0F3460"/>
                </a:solidFill>
                <a:latin typeface="Calibri" pitchFamily="34" charset="0"/>
                <a:ea typeface="Calibri" pitchFamily="34" charset="-122"/>
                <a:cs typeface="Calibri" pitchFamily="34" charset="-120"/>
              </a:rPr>
              <a:t>⚠️ Domain Authority</a:t>
            </a:r>
            <a:endParaRPr lang="en-US" sz="950" dirty="0"/>
          </a:p>
        </p:txBody>
      </p:sp>
      <p:sp>
        <p:nvSpPr>
          <p:cNvPr id="36" name="Text 34"/>
          <p:cNvSpPr/>
          <p:nvPr/>
        </p:nvSpPr>
        <p:spPr>
          <a:xfrm>
            <a:off x="6400800" y="1152144"/>
            <a:ext cx="2423160" cy="256032"/>
          </a:xfrm>
          <a:prstGeom prst="rect">
            <a:avLst/>
          </a:prstGeom>
          <a:noFill/>
          <a:ln/>
        </p:spPr>
        <p:txBody>
          <a:bodyPr wrap="square" lIns="0" tIns="0" rIns="0" bIns="0" rtlCol="0" anchor="ctr"/>
          <a:lstStyle/>
          <a:p>
            <a:pPr marL="0" indent="0">
              <a:buNone/>
            </a:pPr>
            <a:r>
              <a:rPr lang="en-US" sz="950" dirty="0">
                <a:solidFill>
                  <a:srgbClr val="2D2D2D"/>
                </a:solidFill>
                <a:latin typeface="Calibri" pitchFamily="34" charset="0"/>
                <a:ea typeface="Calibri" pitchFamily="34" charset="-122"/>
                <a:cs typeface="Calibri" pitchFamily="34" charset="-120"/>
              </a:rPr>
              <a:t>38/100 — Below Myntra (90+)</a:t>
            </a:r>
            <a:endParaRPr lang="en-US" sz="950" dirty="0"/>
          </a:p>
        </p:txBody>
      </p:sp>
      <p:sp>
        <p:nvSpPr>
          <p:cNvPr id="37" name="Shape 35"/>
          <p:cNvSpPr/>
          <p:nvPr/>
        </p:nvSpPr>
        <p:spPr>
          <a:xfrm>
            <a:off x="4709160" y="1572768"/>
            <a:ext cx="4206240" cy="420624"/>
          </a:xfrm>
          <a:prstGeom prst="rect">
            <a:avLst/>
          </a:prstGeom>
          <a:solidFill>
            <a:srgbClr val="F5F5F5"/>
          </a:solidFill>
          <a:ln w="3810">
            <a:solidFill>
              <a:srgbClr val="E5E7EB"/>
            </a:solidFill>
            <a:prstDash val="solid"/>
          </a:ln>
        </p:spPr>
      </p:sp>
      <p:sp>
        <p:nvSpPr>
          <p:cNvPr id="38" name="Text 36"/>
          <p:cNvSpPr/>
          <p:nvPr/>
        </p:nvSpPr>
        <p:spPr>
          <a:xfrm>
            <a:off x="4800600" y="1627632"/>
            <a:ext cx="1554480" cy="256032"/>
          </a:xfrm>
          <a:prstGeom prst="rect">
            <a:avLst/>
          </a:prstGeom>
          <a:noFill/>
          <a:ln/>
        </p:spPr>
        <p:txBody>
          <a:bodyPr wrap="square" lIns="0" tIns="0" rIns="0" bIns="0" rtlCol="0" anchor="ctr"/>
          <a:lstStyle/>
          <a:p>
            <a:pPr marL="0" indent="0">
              <a:buNone/>
            </a:pPr>
            <a:r>
              <a:rPr lang="en-US" sz="950" b="1" dirty="0">
                <a:solidFill>
                  <a:srgbClr val="0F3460"/>
                </a:solidFill>
                <a:latin typeface="Calibri" pitchFamily="34" charset="0"/>
                <a:ea typeface="Calibri" pitchFamily="34" charset="-122"/>
                <a:cs typeface="Calibri" pitchFamily="34" charset="-120"/>
              </a:rPr>
              <a:t>✅ Referring Domains</a:t>
            </a:r>
            <a:endParaRPr lang="en-US" sz="950" dirty="0"/>
          </a:p>
        </p:txBody>
      </p:sp>
      <p:sp>
        <p:nvSpPr>
          <p:cNvPr id="39" name="Text 37"/>
          <p:cNvSpPr/>
          <p:nvPr/>
        </p:nvSpPr>
        <p:spPr>
          <a:xfrm>
            <a:off x="6400800" y="1627632"/>
            <a:ext cx="2423160" cy="256032"/>
          </a:xfrm>
          <a:prstGeom prst="rect">
            <a:avLst/>
          </a:prstGeom>
          <a:noFill/>
          <a:ln/>
        </p:spPr>
        <p:txBody>
          <a:bodyPr wrap="square" lIns="0" tIns="0" rIns="0" bIns="0" rtlCol="0" anchor="ctr"/>
          <a:lstStyle/>
          <a:p>
            <a:pPr marL="0" indent="0">
              <a:buNone/>
            </a:pPr>
            <a:r>
              <a:rPr lang="en-US" sz="950" dirty="0">
                <a:solidFill>
                  <a:srgbClr val="2D2D2D"/>
                </a:solidFill>
                <a:latin typeface="Calibri" pitchFamily="34" charset="0"/>
                <a:ea typeface="Calibri" pitchFamily="34" charset="-122"/>
                <a:cs typeface="Calibri" pitchFamily="34" charset="-120"/>
              </a:rPr>
              <a:t>800–1,500 domains linking back</a:t>
            </a:r>
            <a:endParaRPr lang="en-US" sz="950" dirty="0"/>
          </a:p>
        </p:txBody>
      </p:sp>
      <p:sp>
        <p:nvSpPr>
          <p:cNvPr id="40" name="Shape 38"/>
          <p:cNvSpPr/>
          <p:nvPr/>
        </p:nvSpPr>
        <p:spPr>
          <a:xfrm>
            <a:off x="4709160" y="2048256"/>
            <a:ext cx="4206240" cy="420624"/>
          </a:xfrm>
          <a:prstGeom prst="rect">
            <a:avLst/>
          </a:prstGeom>
          <a:solidFill>
            <a:srgbClr val="F8FAFF"/>
          </a:solidFill>
          <a:ln w="3810">
            <a:solidFill>
              <a:srgbClr val="E5E7EB"/>
            </a:solidFill>
            <a:prstDash val="solid"/>
          </a:ln>
        </p:spPr>
      </p:sp>
      <p:sp>
        <p:nvSpPr>
          <p:cNvPr id="41" name="Text 39"/>
          <p:cNvSpPr/>
          <p:nvPr/>
        </p:nvSpPr>
        <p:spPr>
          <a:xfrm>
            <a:off x="4800600" y="2103120"/>
            <a:ext cx="1554480" cy="256032"/>
          </a:xfrm>
          <a:prstGeom prst="rect">
            <a:avLst/>
          </a:prstGeom>
          <a:noFill/>
          <a:ln/>
        </p:spPr>
        <p:txBody>
          <a:bodyPr wrap="square" lIns="0" tIns="0" rIns="0" bIns="0" rtlCol="0" anchor="ctr"/>
          <a:lstStyle/>
          <a:p>
            <a:pPr marL="0" indent="0">
              <a:buNone/>
            </a:pPr>
            <a:r>
              <a:rPr lang="en-US" sz="950" b="1" dirty="0">
                <a:solidFill>
                  <a:srgbClr val="0F3460"/>
                </a:solidFill>
                <a:latin typeface="Calibri" pitchFamily="34" charset="0"/>
                <a:ea typeface="Calibri" pitchFamily="34" charset="-122"/>
                <a:cs typeface="Calibri" pitchFamily="34" charset="-120"/>
              </a:rPr>
              <a:t>✅ Backlink Quality</a:t>
            </a:r>
            <a:endParaRPr lang="en-US" sz="950" dirty="0"/>
          </a:p>
        </p:txBody>
      </p:sp>
      <p:sp>
        <p:nvSpPr>
          <p:cNvPr id="42" name="Text 40"/>
          <p:cNvSpPr/>
          <p:nvPr/>
        </p:nvSpPr>
        <p:spPr>
          <a:xfrm>
            <a:off x="6400800" y="2103120"/>
            <a:ext cx="2423160" cy="256032"/>
          </a:xfrm>
          <a:prstGeom prst="rect">
            <a:avLst/>
          </a:prstGeom>
          <a:noFill/>
          <a:ln/>
        </p:spPr>
        <p:txBody>
          <a:bodyPr wrap="square" lIns="0" tIns="0" rIns="0" bIns="0" rtlCol="0" anchor="ctr"/>
          <a:lstStyle/>
          <a:p>
            <a:pPr marL="0" indent="0">
              <a:buNone/>
            </a:pPr>
            <a:r>
              <a:rPr lang="en-US" sz="950" dirty="0">
                <a:solidFill>
                  <a:srgbClr val="2D2D2D"/>
                </a:solidFill>
                <a:latin typeface="Calibri" pitchFamily="34" charset="0"/>
                <a:ea typeface="Calibri" pitchFamily="34" charset="-122"/>
                <a:cs typeface="Calibri" pitchFamily="34" charset="-120"/>
              </a:rPr>
              <a:t>Good PR links from Shark Tank, Inc42</a:t>
            </a:r>
            <a:endParaRPr lang="en-US" sz="950" dirty="0"/>
          </a:p>
        </p:txBody>
      </p:sp>
      <p:sp>
        <p:nvSpPr>
          <p:cNvPr id="43" name="Shape 41"/>
          <p:cNvSpPr/>
          <p:nvPr/>
        </p:nvSpPr>
        <p:spPr>
          <a:xfrm>
            <a:off x="4709160" y="2523744"/>
            <a:ext cx="4206240" cy="420624"/>
          </a:xfrm>
          <a:prstGeom prst="rect">
            <a:avLst/>
          </a:prstGeom>
          <a:solidFill>
            <a:srgbClr val="F5F5F5"/>
          </a:solidFill>
          <a:ln w="3810">
            <a:solidFill>
              <a:srgbClr val="E5E7EB"/>
            </a:solidFill>
            <a:prstDash val="solid"/>
          </a:ln>
        </p:spPr>
      </p:sp>
      <p:sp>
        <p:nvSpPr>
          <p:cNvPr id="44" name="Text 42"/>
          <p:cNvSpPr/>
          <p:nvPr/>
        </p:nvSpPr>
        <p:spPr>
          <a:xfrm>
            <a:off x="4800600" y="2578608"/>
            <a:ext cx="1554480" cy="256032"/>
          </a:xfrm>
          <a:prstGeom prst="rect">
            <a:avLst/>
          </a:prstGeom>
          <a:noFill/>
          <a:ln/>
        </p:spPr>
        <p:txBody>
          <a:bodyPr wrap="square" lIns="0" tIns="0" rIns="0" bIns="0" rtlCol="0" anchor="ctr"/>
          <a:lstStyle/>
          <a:p>
            <a:pPr marL="0" indent="0">
              <a:buNone/>
            </a:pPr>
            <a:r>
              <a:rPr lang="en-US" sz="950" b="1" dirty="0">
                <a:solidFill>
                  <a:srgbClr val="0F3460"/>
                </a:solidFill>
                <a:latin typeface="Calibri" pitchFamily="34" charset="0"/>
                <a:ea typeface="Calibri" pitchFamily="34" charset="-122"/>
                <a:cs typeface="Calibri" pitchFamily="34" charset="-120"/>
              </a:rPr>
              <a:t>⚠️ Toxic Links</a:t>
            </a:r>
            <a:endParaRPr lang="en-US" sz="950" dirty="0"/>
          </a:p>
        </p:txBody>
      </p:sp>
      <p:sp>
        <p:nvSpPr>
          <p:cNvPr id="45" name="Text 43"/>
          <p:cNvSpPr/>
          <p:nvPr/>
        </p:nvSpPr>
        <p:spPr>
          <a:xfrm>
            <a:off x="6400800" y="2578608"/>
            <a:ext cx="2423160" cy="256032"/>
          </a:xfrm>
          <a:prstGeom prst="rect">
            <a:avLst/>
          </a:prstGeom>
          <a:noFill/>
          <a:ln/>
        </p:spPr>
        <p:txBody>
          <a:bodyPr wrap="square" lIns="0" tIns="0" rIns="0" bIns="0" rtlCol="0" anchor="ctr"/>
          <a:lstStyle/>
          <a:p>
            <a:pPr marL="0" indent="0">
              <a:buNone/>
            </a:pPr>
            <a:r>
              <a:rPr lang="en-US" sz="950" dirty="0">
                <a:solidFill>
                  <a:srgbClr val="2D2D2D"/>
                </a:solidFill>
                <a:latin typeface="Calibri" pitchFamily="34" charset="0"/>
                <a:ea typeface="Calibri" pitchFamily="34" charset="-122"/>
                <a:cs typeface="Calibri" pitchFamily="34" charset="-120"/>
              </a:rPr>
              <a:t>Coupon sites — needs monitoring</a:t>
            </a:r>
            <a:endParaRPr lang="en-US" sz="950" dirty="0"/>
          </a:p>
        </p:txBody>
      </p:sp>
      <p:sp>
        <p:nvSpPr>
          <p:cNvPr id="46" name="Shape 44"/>
          <p:cNvSpPr/>
          <p:nvPr/>
        </p:nvSpPr>
        <p:spPr>
          <a:xfrm>
            <a:off x="4709160" y="2999232"/>
            <a:ext cx="4206240" cy="420624"/>
          </a:xfrm>
          <a:prstGeom prst="rect">
            <a:avLst/>
          </a:prstGeom>
          <a:solidFill>
            <a:srgbClr val="F8FAFF"/>
          </a:solidFill>
          <a:ln w="3810">
            <a:solidFill>
              <a:srgbClr val="E5E7EB"/>
            </a:solidFill>
            <a:prstDash val="solid"/>
          </a:ln>
        </p:spPr>
      </p:sp>
      <p:sp>
        <p:nvSpPr>
          <p:cNvPr id="47" name="Text 45"/>
          <p:cNvSpPr/>
          <p:nvPr/>
        </p:nvSpPr>
        <p:spPr>
          <a:xfrm>
            <a:off x="4800600" y="3054096"/>
            <a:ext cx="1554480" cy="256032"/>
          </a:xfrm>
          <a:prstGeom prst="rect">
            <a:avLst/>
          </a:prstGeom>
          <a:noFill/>
          <a:ln/>
        </p:spPr>
        <p:txBody>
          <a:bodyPr wrap="square" lIns="0" tIns="0" rIns="0" bIns="0" rtlCol="0" anchor="ctr"/>
          <a:lstStyle/>
          <a:p>
            <a:pPr marL="0" indent="0">
              <a:buNone/>
            </a:pPr>
            <a:r>
              <a:rPr lang="en-US" sz="950" b="1" dirty="0">
                <a:solidFill>
                  <a:srgbClr val="0F3460"/>
                </a:solidFill>
                <a:latin typeface="Calibri" pitchFamily="34" charset="0"/>
                <a:ea typeface="Calibri" pitchFamily="34" charset="-122"/>
                <a:cs typeface="Calibri" pitchFamily="34" charset="-120"/>
              </a:rPr>
              <a:t>🎯 Brand Mentions</a:t>
            </a:r>
            <a:endParaRPr lang="en-US" sz="950" dirty="0"/>
          </a:p>
        </p:txBody>
      </p:sp>
      <p:sp>
        <p:nvSpPr>
          <p:cNvPr id="48" name="Text 46"/>
          <p:cNvSpPr/>
          <p:nvPr/>
        </p:nvSpPr>
        <p:spPr>
          <a:xfrm>
            <a:off x="6400800" y="3054096"/>
            <a:ext cx="2423160" cy="256032"/>
          </a:xfrm>
          <a:prstGeom prst="rect">
            <a:avLst/>
          </a:prstGeom>
          <a:noFill/>
          <a:ln/>
        </p:spPr>
        <p:txBody>
          <a:bodyPr wrap="square" lIns="0" tIns="0" rIns="0" bIns="0" rtlCol="0" anchor="ctr"/>
          <a:lstStyle/>
          <a:p>
            <a:pPr marL="0" indent="0">
              <a:buNone/>
            </a:pPr>
            <a:r>
              <a:rPr lang="en-US" sz="950" dirty="0">
                <a:solidFill>
                  <a:srgbClr val="2D2D2D"/>
                </a:solidFill>
                <a:latin typeface="Calibri" pitchFamily="34" charset="0"/>
                <a:ea typeface="Calibri" pitchFamily="34" charset="-122"/>
                <a:cs typeface="Calibri" pitchFamily="34" charset="-120"/>
              </a:rPr>
              <a:t>Many unlinked — convert to backlinks</a:t>
            </a:r>
            <a:endParaRPr lang="en-US" sz="950" dirty="0"/>
          </a:p>
        </p:txBody>
      </p:sp>
      <p:sp>
        <p:nvSpPr>
          <p:cNvPr id="49" name="Shape 47"/>
          <p:cNvSpPr/>
          <p:nvPr/>
        </p:nvSpPr>
        <p:spPr>
          <a:xfrm>
            <a:off x="4709160" y="3474720"/>
            <a:ext cx="4206240" cy="420624"/>
          </a:xfrm>
          <a:prstGeom prst="rect">
            <a:avLst/>
          </a:prstGeom>
          <a:solidFill>
            <a:srgbClr val="F5F5F5"/>
          </a:solidFill>
          <a:ln w="3810">
            <a:solidFill>
              <a:srgbClr val="E5E7EB"/>
            </a:solidFill>
            <a:prstDash val="solid"/>
          </a:ln>
        </p:spPr>
      </p:sp>
      <p:sp>
        <p:nvSpPr>
          <p:cNvPr id="50" name="Text 48"/>
          <p:cNvSpPr/>
          <p:nvPr/>
        </p:nvSpPr>
        <p:spPr>
          <a:xfrm>
            <a:off x="4800600" y="3529584"/>
            <a:ext cx="1554480" cy="256032"/>
          </a:xfrm>
          <a:prstGeom prst="rect">
            <a:avLst/>
          </a:prstGeom>
          <a:noFill/>
          <a:ln/>
        </p:spPr>
        <p:txBody>
          <a:bodyPr wrap="square" lIns="0" tIns="0" rIns="0" bIns="0" rtlCol="0" anchor="ctr"/>
          <a:lstStyle/>
          <a:p>
            <a:pPr marL="0" indent="0">
              <a:buNone/>
            </a:pPr>
            <a:r>
              <a:rPr lang="en-US" sz="950" b="1" dirty="0">
                <a:solidFill>
                  <a:srgbClr val="0F3460"/>
                </a:solidFill>
                <a:latin typeface="Calibri" pitchFamily="34" charset="0"/>
                <a:ea typeface="Calibri" pitchFamily="34" charset="-122"/>
                <a:cs typeface="Calibri" pitchFamily="34" charset="-120"/>
              </a:rPr>
              <a:t>✅ Social Signals</a:t>
            </a:r>
            <a:endParaRPr lang="en-US" sz="950" dirty="0"/>
          </a:p>
        </p:txBody>
      </p:sp>
      <p:sp>
        <p:nvSpPr>
          <p:cNvPr id="51" name="Text 49"/>
          <p:cNvSpPr/>
          <p:nvPr/>
        </p:nvSpPr>
        <p:spPr>
          <a:xfrm>
            <a:off x="6400800" y="3529584"/>
            <a:ext cx="2423160" cy="256032"/>
          </a:xfrm>
          <a:prstGeom prst="rect">
            <a:avLst/>
          </a:prstGeom>
          <a:noFill/>
          <a:ln/>
        </p:spPr>
        <p:txBody>
          <a:bodyPr wrap="square" lIns="0" tIns="0" rIns="0" bIns="0" rtlCol="0" anchor="ctr"/>
          <a:lstStyle/>
          <a:p>
            <a:pPr marL="0" indent="0">
              <a:buNone/>
            </a:pPr>
            <a:r>
              <a:rPr lang="en-US" sz="950" dirty="0">
                <a:solidFill>
                  <a:srgbClr val="2D2D2D"/>
                </a:solidFill>
                <a:latin typeface="Calibri" pitchFamily="34" charset="0"/>
                <a:ea typeface="Calibri" pitchFamily="34" charset="-122"/>
                <a:cs typeface="Calibri" pitchFamily="34" charset="-120"/>
              </a:rPr>
              <a:t>400K+ Instagram, strong Reels strategy</a:t>
            </a:r>
            <a:endParaRPr lang="en-US" sz="950" dirty="0"/>
          </a:p>
        </p:txBody>
      </p:sp>
      <p:sp>
        <p:nvSpPr>
          <p:cNvPr id="52" name="Shape 50"/>
          <p:cNvSpPr/>
          <p:nvPr/>
        </p:nvSpPr>
        <p:spPr>
          <a:xfrm>
            <a:off x="4709160" y="3950208"/>
            <a:ext cx="4206240" cy="420624"/>
          </a:xfrm>
          <a:prstGeom prst="rect">
            <a:avLst/>
          </a:prstGeom>
          <a:solidFill>
            <a:srgbClr val="F8FAFF"/>
          </a:solidFill>
          <a:ln w="3810">
            <a:solidFill>
              <a:srgbClr val="E5E7EB"/>
            </a:solidFill>
            <a:prstDash val="solid"/>
          </a:ln>
        </p:spPr>
      </p:sp>
      <p:sp>
        <p:nvSpPr>
          <p:cNvPr id="53" name="Text 51"/>
          <p:cNvSpPr/>
          <p:nvPr/>
        </p:nvSpPr>
        <p:spPr>
          <a:xfrm>
            <a:off x="4800600" y="4005072"/>
            <a:ext cx="1554480" cy="256032"/>
          </a:xfrm>
          <a:prstGeom prst="rect">
            <a:avLst/>
          </a:prstGeom>
          <a:noFill/>
          <a:ln/>
        </p:spPr>
        <p:txBody>
          <a:bodyPr wrap="square" lIns="0" tIns="0" rIns="0" bIns="0" rtlCol="0" anchor="ctr"/>
          <a:lstStyle/>
          <a:p>
            <a:pPr marL="0" indent="0">
              <a:buNone/>
            </a:pPr>
            <a:r>
              <a:rPr lang="en-US" sz="950" b="1" dirty="0">
                <a:solidFill>
                  <a:srgbClr val="0F3460"/>
                </a:solidFill>
                <a:latin typeface="Calibri" pitchFamily="34" charset="0"/>
                <a:ea typeface="Calibri" pitchFamily="34" charset="-122"/>
                <a:cs typeface="Calibri" pitchFamily="34" charset="-120"/>
              </a:rPr>
              <a:t>⚠️ Anchor Text Mix</a:t>
            </a:r>
            <a:endParaRPr lang="en-US" sz="950" dirty="0"/>
          </a:p>
        </p:txBody>
      </p:sp>
      <p:sp>
        <p:nvSpPr>
          <p:cNvPr id="54" name="Text 52"/>
          <p:cNvSpPr/>
          <p:nvPr/>
        </p:nvSpPr>
        <p:spPr>
          <a:xfrm>
            <a:off x="6400800" y="4005072"/>
            <a:ext cx="2423160" cy="256032"/>
          </a:xfrm>
          <a:prstGeom prst="rect">
            <a:avLst/>
          </a:prstGeom>
          <a:noFill/>
          <a:ln/>
        </p:spPr>
        <p:txBody>
          <a:bodyPr wrap="square" lIns="0" tIns="0" rIns="0" bIns="0" rtlCol="0" anchor="ctr"/>
          <a:lstStyle/>
          <a:p>
            <a:pPr marL="0" indent="0">
              <a:buNone/>
            </a:pPr>
            <a:r>
              <a:rPr lang="en-US" sz="950" dirty="0">
                <a:solidFill>
                  <a:srgbClr val="2D2D2D"/>
                </a:solidFill>
                <a:latin typeface="Calibri" pitchFamily="34" charset="0"/>
                <a:ea typeface="Calibri" pitchFamily="34" charset="-122"/>
                <a:cs typeface="Calibri" pitchFamily="34" charset="-120"/>
              </a:rPr>
              <a:t>Brand anchors dominate — needs balance</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A1A2E"/>
          </a:solidFill>
          <a:ln w="12700">
            <a:solidFill>
              <a:srgbClr val="1A1A2E"/>
            </a:solidFill>
            <a:prstDash val="solid"/>
          </a:ln>
        </p:spPr>
      </p:sp>
      <p:sp>
        <p:nvSpPr>
          <p:cNvPr id="3" name="Shape 1"/>
          <p:cNvSpPr/>
          <p:nvPr/>
        </p:nvSpPr>
        <p:spPr>
          <a:xfrm>
            <a:off x="0" y="0"/>
            <a:ext cx="109728" cy="5143500"/>
          </a:xfrm>
          <a:prstGeom prst="rect">
            <a:avLst/>
          </a:prstGeom>
          <a:solidFill>
            <a:srgbClr val="E94560"/>
          </a:solidFill>
          <a:ln w="12700">
            <a:solidFill>
              <a:srgbClr val="E94560"/>
            </a:solidFill>
            <a:prstDash val="solid"/>
          </a:ln>
        </p:spPr>
      </p:sp>
      <p:sp>
        <p:nvSpPr>
          <p:cNvPr id="4" name="Text 2"/>
          <p:cNvSpPr/>
          <p:nvPr/>
        </p:nvSpPr>
        <p:spPr>
          <a:xfrm>
            <a:off x="274320" y="73152"/>
            <a:ext cx="8595360" cy="384048"/>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Keyword Strategy — Top Targets</a:t>
            </a:r>
            <a:endParaRPr lang="en-US" sz="1700" dirty="0"/>
          </a:p>
        </p:txBody>
      </p:sp>
      <p:sp>
        <p:nvSpPr>
          <p:cNvPr id="5" name="Shape 3"/>
          <p:cNvSpPr/>
          <p:nvPr/>
        </p:nvSpPr>
        <p:spPr>
          <a:xfrm>
            <a:off x="0" y="4892040"/>
            <a:ext cx="9144000" cy="251460"/>
          </a:xfrm>
          <a:prstGeom prst="rect">
            <a:avLst/>
          </a:prstGeom>
          <a:solidFill>
            <a:srgbClr val="1A1A2E"/>
          </a:solidFill>
          <a:ln w="12700">
            <a:solidFill>
              <a:srgbClr val="1A1A2E"/>
            </a:solidFill>
            <a:prstDash val="solid"/>
          </a:ln>
        </p:spPr>
      </p:sp>
      <p:sp>
        <p:nvSpPr>
          <p:cNvPr id="6" name="Text 4"/>
          <p:cNvSpPr/>
          <p:nvPr/>
        </p:nvSpPr>
        <p:spPr>
          <a:xfrm>
            <a:off x="182880" y="4892040"/>
            <a:ext cx="8778240" cy="25146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Snitch.com — SEO Strategy Report 2026  |  India B2C</a:t>
            </a:r>
            <a:endParaRPr lang="en-US" sz="900" dirty="0"/>
          </a:p>
        </p:txBody>
      </p:sp>
      <p:sp>
        <p:nvSpPr>
          <p:cNvPr id="7" name="Text 5"/>
          <p:cNvSpPr/>
          <p:nvPr/>
        </p:nvSpPr>
        <p:spPr>
          <a:xfrm>
            <a:off x="228600" y="594360"/>
            <a:ext cx="8686800" cy="274320"/>
          </a:xfrm>
          <a:prstGeom prst="rect">
            <a:avLst/>
          </a:prstGeom>
          <a:noFill/>
          <a:ln/>
        </p:spPr>
        <p:txBody>
          <a:bodyPr wrap="square" lIns="0" tIns="0" rIns="0" bIns="0"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Focus on 3 intent layers: Transactional (buy now) · Informational (research) · Navigational (brand)</a:t>
            </a:r>
            <a:endParaRPr lang="en-US" sz="1000" dirty="0"/>
          </a:p>
        </p:txBody>
      </p:sp>
      <p:sp>
        <p:nvSpPr>
          <p:cNvPr id="8" name="Shape 6"/>
          <p:cNvSpPr/>
          <p:nvPr/>
        </p:nvSpPr>
        <p:spPr>
          <a:xfrm>
            <a:off x="228600" y="914400"/>
            <a:ext cx="8686800" cy="310896"/>
          </a:xfrm>
          <a:prstGeom prst="rect">
            <a:avLst/>
          </a:prstGeom>
          <a:solidFill>
            <a:srgbClr val="1A1A2E"/>
          </a:solidFill>
          <a:ln w="12700">
            <a:solidFill>
              <a:srgbClr val="1A1A2E"/>
            </a:solidFill>
            <a:prstDash val="solid"/>
          </a:ln>
        </p:spPr>
      </p:sp>
      <p:sp>
        <p:nvSpPr>
          <p:cNvPr id="9" name="Text 7"/>
          <p:cNvSpPr/>
          <p:nvPr/>
        </p:nvSpPr>
        <p:spPr>
          <a:xfrm>
            <a:off x="320040" y="941832"/>
            <a:ext cx="1005840" cy="256032"/>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Keyword</a:t>
            </a:r>
            <a:endParaRPr lang="en-US" sz="950" dirty="0"/>
          </a:p>
        </p:txBody>
      </p:sp>
      <p:sp>
        <p:nvSpPr>
          <p:cNvPr id="10" name="Text 8"/>
          <p:cNvSpPr/>
          <p:nvPr/>
        </p:nvSpPr>
        <p:spPr>
          <a:xfrm>
            <a:off x="3749040" y="941832"/>
            <a:ext cx="1005840" cy="256032"/>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Vol/mo</a:t>
            </a:r>
            <a:endParaRPr lang="en-US" sz="950" dirty="0"/>
          </a:p>
        </p:txBody>
      </p:sp>
      <p:sp>
        <p:nvSpPr>
          <p:cNvPr id="11" name="Text 9"/>
          <p:cNvSpPr/>
          <p:nvPr/>
        </p:nvSpPr>
        <p:spPr>
          <a:xfrm>
            <a:off x="4846320" y="941832"/>
            <a:ext cx="1005840" cy="256032"/>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Difficulty</a:t>
            </a:r>
            <a:endParaRPr lang="en-US" sz="950" dirty="0"/>
          </a:p>
        </p:txBody>
      </p:sp>
      <p:sp>
        <p:nvSpPr>
          <p:cNvPr id="12" name="Text 10"/>
          <p:cNvSpPr/>
          <p:nvPr/>
        </p:nvSpPr>
        <p:spPr>
          <a:xfrm>
            <a:off x="5943600" y="941832"/>
            <a:ext cx="1005840" cy="256032"/>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Type</a:t>
            </a:r>
            <a:endParaRPr lang="en-US" sz="950" dirty="0"/>
          </a:p>
        </p:txBody>
      </p:sp>
      <p:sp>
        <p:nvSpPr>
          <p:cNvPr id="13" name="Text 11"/>
          <p:cNvSpPr/>
          <p:nvPr/>
        </p:nvSpPr>
        <p:spPr>
          <a:xfrm>
            <a:off x="7589520" y="941832"/>
            <a:ext cx="1005840" cy="256032"/>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Opportunity</a:t>
            </a:r>
            <a:endParaRPr lang="en-US" sz="950" dirty="0"/>
          </a:p>
        </p:txBody>
      </p:sp>
      <p:sp>
        <p:nvSpPr>
          <p:cNvPr id="14" name="Shape 12"/>
          <p:cNvSpPr/>
          <p:nvPr/>
        </p:nvSpPr>
        <p:spPr>
          <a:xfrm>
            <a:off x="228600" y="1261872"/>
            <a:ext cx="8686800" cy="347472"/>
          </a:xfrm>
          <a:prstGeom prst="rect">
            <a:avLst/>
          </a:prstGeom>
          <a:solidFill>
            <a:srgbClr val="FFFFFF"/>
          </a:solidFill>
          <a:ln w="3810">
            <a:solidFill>
              <a:srgbClr val="E2E8F0"/>
            </a:solidFill>
            <a:prstDash val="solid"/>
          </a:ln>
        </p:spPr>
      </p:sp>
      <p:sp>
        <p:nvSpPr>
          <p:cNvPr id="15" name="Text 13"/>
          <p:cNvSpPr/>
          <p:nvPr/>
        </p:nvSpPr>
        <p:spPr>
          <a:xfrm>
            <a:off x="320040" y="1316736"/>
            <a:ext cx="3291840" cy="237744"/>
          </a:xfrm>
          <a:prstGeom prst="rect">
            <a:avLst/>
          </a:prstGeom>
          <a:noFill/>
          <a:ln/>
        </p:spPr>
        <p:txBody>
          <a:bodyPr wrap="square" lIns="0" tIns="0" rIns="0" bIns="0" rtlCol="0" anchor="ctr"/>
          <a:lstStyle/>
          <a:p>
            <a:pPr marL="0" indent="0">
              <a:buNone/>
            </a:pPr>
            <a:r>
              <a:rPr lang="en-US" sz="1000" b="1" dirty="0">
                <a:solidFill>
                  <a:srgbClr val="2D2D2D"/>
                </a:solidFill>
                <a:latin typeface="Calibri" pitchFamily="34" charset="0"/>
                <a:ea typeface="Calibri" pitchFamily="34" charset="-122"/>
                <a:cs typeface="Calibri" pitchFamily="34" charset="-120"/>
              </a:rPr>
              <a:t>Men jeans online India</a:t>
            </a:r>
            <a:endParaRPr lang="en-US" sz="1000" dirty="0"/>
          </a:p>
        </p:txBody>
      </p:sp>
      <p:sp>
        <p:nvSpPr>
          <p:cNvPr id="16" name="Text 14"/>
          <p:cNvSpPr/>
          <p:nvPr/>
        </p:nvSpPr>
        <p:spPr>
          <a:xfrm>
            <a:off x="3749040" y="1316736"/>
            <a:ext cx="1005840" cy="237744"/>
          </a:xfrm>
          <a:prstGeom prst="rect">
            <a:avLst/>
          </a:prstGeom>
          <a:noFill/>
          <a:ln/>
        </p:spPr>
        <p:txBody>
          <a:bodyPr wrap="square" lIns="0" tIns="0" rIns="0" bIns="0" rtlCol="0" anchor="ctr"/>
          <a:lstStyle/>
          <a:p>
            <a:pPr marL="0" indent="0">
              <a:buNone/>
            </a:pPr>
            <a:r>
              <a:rPr lang="en-US" sz="950" dirty="0">
                <a:solidFill>
                  <a:srgbClr val="2D2D2D"/>
                </a:solidFill>
                <a:latin typeface="Calibri" pitchFamily="34" charset="0"/>
                <a:ea typeface="Calibri" pitchFamily="34" charset="-122"/>
                <a:cs typeface="Calibri" pitchFamily="34" charset="-120"/>
              </a:rPr>
              <a:t>74,000</a:t>
            </a:r>
            <a:endParaRPr lang="en-US" sz="950" dirty="0"/>
          </a:p>
        </p:txBody>
      </p:sp>
      <p:sp>
        <p:nvSpPr>
          <p:cNvPr id="17" name="Text 15"/>
          <p:cNvSpPr/>
          <p:nvPr/>
        </p:nvSpPr>
        <p:spPr>
          <a:xfrm>
            <a:off x="4846320" y="1316736"/>
            <a:ext cx="1005840" cy="237744"/>
          </a:xfrm>
          <a:prstGeom prst="rect">
            <a:avLst/>
          </a:prstGeom>
          <a:noFill/>
          <a:ln/>
        </p:spPr>
        <p:txBody>
          <a:bodyPr wrap="square" lIns="0" tIns="0" rIns="0" bIns="0" rtlCol="0" anchor="ctr"/>
          <a:lstStyle/>
          <a:p>
            <a:pPr marL="0" indent="0">
              <a:buNone/>
            </a:pPr>
            <a:r>
              <a:rPr lang="en-US" sz="950" dirty="0">
                <a:solidFill>
                  <a:srgbClr val="2D2D2D"/>
                </a:solidFill>
                <a:latin typeface="Calibri" pitchFamily="34" charset="0"/>
                <a:ea typeface="Calibri" pitchFamily="34" charset="-122"/>
                <a:cs typeface="Calibri" pitchFamily="34" charset="-120"/>
              </a:rPr>
              <a:t>Moderate</a:t>
            </a:r>
            <a:endParaRPr lang="en-US" sz="950" dirty="0"/>
          </a:p>
        </p:txBody>
      </p:sp>
      <p:sp>
        <p:nvSpPr>
          <p:cNvPr id="18" name="Text 16"/>
          <p:cNvSpPr/>
          <p:nvPr/>
        </p:nvSpPr>
        <p:spPr>
          <a:xfrm>
            <a:off x="5943600" y="1316736"/>
            <a:ext cx="1554480" cy="237744"/>
          </a:xfrm>
          <a:prstGeom prst="rect">
            <a:avLst/>
          </a:prstGeom>
          <a:noFill/>
          <a:ln/>
        </p:spPr>
        <p:txBody>
          <a:bodyPr wrap="square" lIns="0" tIns="0" rIns="0" bIns="0" rtlCol="0" anchor="ctr"/>
          <a:lstStyle/>
          <a:p>
            <a:pPr marL="0" indent="0">
              <a:buNone/>
            </a:pPr>
            <a:r>
              <a:rPr lang="en-US" sz="950" dirty="0">
                <a:solidFill>
                  <a:srgbClr val="2D2D2D"/>
                </a:solidFill>
                <a:latin typeface="Calibri" pitchFamily="34" charset="0"/>
                <a:ea typeface="Calibri" pitchFamily="34" charset="-122"/>
                <a:cs typeface="Calibri" pitchFamily="34" charset="-120"/>
              </a:rPr>
              <a:t>Transactional</a:t>
            </a:r>
            <a:endParaRPr lang="en-US" sz="950" dirty="0"/>
          </a:p>
        </p:txBody>
      </p:sp>
      <p:sp>
        <p:nvSpPr>
          <p:cNvPr id="19" name="Text 17"/>
          <p:cNvSpPr/>
          <p:nvPr/>
        </p:nvSpPr>
        <p:spPr>
          <a:xfrm>
            <a:off x="7589520" y="1316736"/>
            <a:ext cx="1554480" cy="237744"/>
          </a:xfrm>
          <a:prstGeom prst="rect">
            <a:avLst/>
          </a:prstGeom>
          <a:noFill/>
          <a:ln/>
        </p:spPr>
        <p:txBody>
          <a:bodyPr wrap="square" lIns="0" tIns="0" rIns="0" bIns="0" rtlCol="0" anchor="ctr"/>
          <a:lstStyle/>
          <a:p>
            <a:pPr marL="0" indent="0">
              <a:buNone/>
            </a:pPr>
            <a:r>
              <a:rPr lang="en-US" sz="950" dirty="0">
                <a:solidFill>
                  <a:srgbClr val="E67E00"/>
                </a:solidFill>
                <a:latin typeface="Calibri" pitchFamily="34" charset="0"/>
                <a:ea typeface="Calibri" pitchFamily="34" charset="-122"/>
                <a:cs typeface="Calibri" pitchFamily="34" charset="-120"/>
              </a:rPr>
              <a:t>★★★★★</a:t>
            </a:r>
            <a:endParaRPr lang="en-US" sz="950" dirty="0"/>
          </a:p>
        </p:txBody>
      </p:sp>
      <p:sp>
        <p:nvSpPr>
          <p:cNvPr id="20" name="Shape 18"/>
          <p:cNvSpPr/>
          <p:nvPr/>
        </p:nvSpPr>
        <p:spPr>
          <a:xfrm>
            <a:off x="228600" y="1645920"/>
            <a:ext cx="8686800" cy="347472"/>
          </a:xfrm>
          <a:prstGeom prst="rect">
            <a:avLst/>
          </a:prstGeom>
          <a:solidFill>
            <a:srgbClr val="F1F5F9"/>
          </a:solidFill>
          <a:ln w="3810">
            <a:solidFill>
              <a:srgbClr val="E2E8F0"/>
            </a:solidFill>
            <a:prstDash val="solid"/>
          </a:ln>
        </p:spPr>
      </p:sp>
      <p:sp>
        <p:nvSpPr>
          <p:cNvPr id="21" name="Text 19"/>
          <p:cNvSpPr/>
          <p:nvPr/>
        </p:nvSpPr>
        <p:spPr>
          <a:xfrm>
            <a:off x="320040" y="1700784"/>
            <a:ext cx="3291840" cy="237744"/>
          </a:xfrm>
          <a:prstGeom prst="rect">
            <a:avLst/>
          </a:prstGeom>
          <a:noFill/>
          <a:ln/>
        </p:spPr>
        <p:txBody>
          <a:bodyPr wrap="square" lIns="0" tIns="0" rIns="0" bIns="0" rtlCol="0" anchor="ctr"/>
          <a:lstStyle/>
          <a:p>
            <a:pPr marL="0" indent="0">
              <a:buNone/>
            </a:pPr>
            <a:r>
              <a:rPr lang="en-US" sz="1000" b="1" dirty="0">
                <a:solidFill>
                  <a:srgbClr val="2D2D2D"/>
                </a:solidFill>
                <a:latin typeface="Calibri" pitchFamily="34" charset="0"/>
                <a:ea typeface="Calibri" pitchFamily="34" charset="-122"/>
                <a:cs typeface="Calibri" pitchFamily="34" charset="-120"/>
              </a:rPr>
              <a:t>Baggy jeans for men</a:t>
            </a:r>
            <a:endParaRPr lang="en-US" sz="1000" dirty="0"/>
          </a:p>
        </p:txBody>
      </p:sp>
      <p:sp>
        <p:nvSpPr>
          <p:cNvPr id="22" name="Text 20"/>
          <p:cNvSpPr/>
          <p:nvPr/>
        </p:nvSpPr>
        <p:spPr>
          <a:xfrm>
            <a:off x="3749040" y="1700784"/>
            <a:ext cx="1005840" cy="237744"/>
          </a:xfrm>
          <a:prstGeom prst="rect">
            <a:avLst/>
          </a:prstGeom>
          <a:noFill/>
          <a:ln/>
        </p:spPr>
        <p:txBody>
          <a:bodyPr wrap="square" lIns="0" tIns="0" rIns="0" bIns="0" rtlCol="0" anchor="ctr"/>
          <a:lstStyle/>
          <a:p>
            <a:pPr marL="0" indent="0">
              <a:buNone/>
            </a:pPr>
            <a:r>
              <a:rPr lang="en-US" sz="950" dirty="0">
                <a:solidFill>
                  <a:srgbClr val="2D2D2D"/>
                </a:solidFill>
                <a:latin typeface="Calibri" pitchFamily="34" charset="0"/>
                <a:ea typeface="Calibri" pitchFamily="34" charset="-122"/>
                <a:cs typeface="Calibri" pitchFamily="34" charset="-120"/>
              </a:rPr>
              <a:t>49,500</a:t>
            </a:r>
            <a:endParaRPr lang="en-US" sz="950" dirty="0"/>
          </a:p>
        </p:txBody>
      </p:sp>
      <p:sp>
        <p:nvSpPr>
          <p:cNvPr id="23" name="Text 21"/>
          <p:cNvSpPr/>
          <p:nvPr/>
        </p:nvSpPr>
        <p:spPr>
          <a:xfrm>
            <a:off x="4846320" y="1700784"/>
            <a:ext cx="1005840" cy="237744"/>
          </a:xfrm>
          <a:prstGeom prst="rect">
            <a:avLst/>
          </a:prstGeom>
          <a:noFill/>
          <a:ln/>
        </p:spPr>
        <p:txBody>
          <a:bodyPr wrap="square" lIns="0" tIns="0" rIns="0" bIns="0" rtlCol="0" anchor="ctr"/>
          <a:lstStyle/>
          <a:p>
            <a:pPr marL="0" indent="0">
              <a:buNone/>
            </a:pPr>
            <a:r>
              <a:rPr lang="en-US" sz="950" dirty="0">
                <a:solidFill>
                  <a:srgbClr val="2D2D2D"/>
                </a:solidFill>
                <a:latin typeface="Calibri" pitchFamily="34" charset="0"/>
                <a:ea typeface="Calibri" pitchFamily="34" charset="-122"/>
                <a:cs typeface="Calibri" pitchFamily="34" charset="-120"/>
              </a:rPr>
              <a:t>Moderate</a:t>
            </a:r>
            <a:endParaRPr lang="en-US" sz="950" dirty="0"/>
          </a:p>
        </p:txBody>
      </p:sp>
      <p:sp>
        <p:nvSpPr>
          <p:cNvPr id="24" name="Text 22"/>
          <p:cNvSpPr/>
          <p:nvPr/>
        </p:nvSpPr>
        <p:spPr>
          <a:xfrm>
            <a:off x="5943600" y="1700784"/>
            <a:ext cx="1554480" cy="237744"/>
          </a:xfrm>
          <a:prstGeom prst="rect">
            <a:avLst/>
          </a:prstGeom>
          <a:noFill/>
          <a:ln/>
        </p:spPr>
        <p:txBody>
          <a:bodyPr wrap="square" lIns="0" tIns="0" rIns="0" bIns="0" rtlCol="0" anchor="ctr"/>
          <a:lstStyle/>
          <a:p>
            <a:pPr marL="0" indent="0">
              <a:buNone/>
            </a:pPr>
            <a:r>
              <a:rPr lang="en-US" sz="950" dirty="0">
                <a:solidFill>
                  <a:srgbClr val="2D2D2D"/>
                </a:solidFill>
                <a:latin typeface="Calibri" pitchFamily="34" charset="0"/>
                <a:ea typeface="Calibri" pitchFamily="34" charset="-122"/>
                <a:cs typeface="Calibri" pitchFamily="34" charset="-120"/>
              </a:rPr>
              <a:t>Transactional</a:t>
            </a:r>
            <a:endParaRPr lang="en-US" sz="950" dirty="0"/>
          </a:p>
        </p:txBody>
      </p:sp>
      <p:sp>
        <p:nvSpPr>
          <p:cNvPr id="25" name="Text 23"/>
          <p:cNvSpPr/>
          <p:nvPr/>
        </p:nvSpPr>
        <p:spPr>
          <a:xfrm>
            <a:off x="7589520" y="1700784"/>
            <a:ext cx="1554480" cy="237744"/>
          </a:xfrm>
          <a:prstGeom prst="rect">
            <a:avLst/>
          </a:prstGeom>
          <a:noFill/>
          <a:ln/>
        </p:spPr>
        <p:txBody>
          <a:bodyPr wrap="square" lIns="0" tIns="0" rIns="0" bIns="0" rtlCol="0" anchor="ctr"/>
          <a:lstStyle/>
          <a:p>
            <a:pPr marL="0" indent="0">
              <a:buNone/>
            </a:pPr>
            <a:r>
              <a:rPr lang="en-US" sz="950" dirty="0">
                <a:solidFill>
                  <a:srgbClr val="E67E00"/>
                </a:solidFill>
                <a:latin typeface="Calibri" pitchFamily="34" charset="0"/>
                <a:ea typeface="Calibri" pitchFamily="34" charset="-122"/>
                <a:cs typeface="Calibri" pitchFamily="34" charset="-120"/>
              </a:rPr>
              <a:t>★★★★★</a:t>
            </a:r>
            <a:endParaRPr lang="en-US" sz="950" dirty="0"/>
          </a:p>
        </p:txBody>
      </p:sp>
      <p:sp>
        <p:nvSpPr>
          <p:cNvPr id="26" name="Shape 24"/>
          <p:cNvSpPr/>
          <p:nvPr/>
        </p:nvSpPr>
        <p:spPr>
          <a:xfrm>
            <a:off x="228600" y="2029968"/>
            <a:ext cx="8686800" cy="347472"/>
          </a:xfrm>
          <a:prstGeom prst="rect">
            <a:avLst/>
          </a:prstGeom>
          <a:solidFill>
            <a:srgbClr val="FFFFFF"/>
          </a:solidFill>
          <a:ln w="3810">
            <a:solidFill>
              <a:srgbClr val="E2E8F0"/>
            </a:solidFill>
            <a:prstDash val="solid"/>
          </a:ln>
        </p:spPr>
      </p:sp>
      <p:sp>
        <p:nvSpPr>
          <p:cNvPr id="27" name="Text 25"/>
          <p:cNvSpPr/>
          <p:nvPr/>
        </p:nvSpPr>
        <p:spPr>
          <a:xfrm>
            <a:off x="320040" y="2084832"/>
            <a:ext cx="3291840" cy="237744"/>
          </a:xfrm>
          <a:prstGeom prst="rect">
            <a:avLst/>
          </a:prstGeom>
          <a:noFill/>
          <a:ln/>
        </p:spPr>
        <p:txBody>
          <a:bodyPr wrap="square" lIns="0" tIns="0" rIns="0" bIns="0" rtlCol="0" anchor="ctr"/>
          <a:lstStyle/>
          <a:p>
            <a:pPr marL="0" indent="0">
              <a:buNone/>
            </a:pPr>
            <a:r>
              <a:rPr lang="en-US" sz="1000" b="1" dirty="0">
                <a:solidFill>
                  <a:srgbClr val="2D2D2D"/>
                </a:solidFill>
                <a:latin typeface="Calibri" pitchFamily="34" charset="0"/>
                <a:ea typeface="Calibri" pitchFamily="34" charset="-122"/>
                <a:cs typeface="Calibri" pitchFamily="34" charset="-120"/>
              </a:rPr>
              <a:t>Straight fit jeans men</a:t>
            </a:r>
            <a:endParaRPr lang="en-US" sz="1000" dirty="0"/>
          </a:p>
        </p:txBody>
      </p:sp>
      <p:sp>
        <p:nvSpPr>
          <p:cNvPr id="28" name="Text 26"/>
          <p:cNvSpPr/>
          <p:nvPr/>
        </p:nvSpPr>
        <p:spPr>
          <a:xfrm>
            <a:off x="3749040" y="2084832"/>
            <a:ext cx="1005840" cy="237744"/>
          </a:xfrm>
          <a:prstGeom prst="rect">
            <a:avLst/>
          </a:prstGeom>
          <a:noFill/>
          <a:ln/>
        </p:spPr>
        <p:txBody>
          <a:bodyPr wrap="square" lIns="0" tIns="0" rIns="0" bIns="0" rtlCol="0" anchor="ctr"/>
          <a:lstStyle/>
          <a:p>
            <a:pPr marL="0" indent="0">
              <a:buNone/>
            </a:pPr>
            <a:r>
              <a:rPr lang="en-US" sz="950" dirty="0">
                <a:solidFill>
                  <a:srgbClr val="2D2D2D"/>
                </a:solidFill>
                <a:latin typeface="Calibri" pitchFamily="34" charset="0"/>
                <a:ea typeface="Calibri" pitchFamily="34" charset="-122"/>
                <a:cs typeface="Calibri" pitchFamily="34" charset="-120"/>
              </a:rPr>
              <a:t>33,100</a:t>
            </a:r>
            <a:endParaRPr lang="en-US" sz="950" dirty="0"/>
          </a:p>
        </p:txBody>
      </p:sp>
      <p:sp>
        <p:nvSpPr>
          <p:cNvPr id="29" name="Text 27"/>
          <p:cNvSpPr/>
          <p:nvPr/>
        </p:nvSpPr>
        <p:spPr>
          <a:xfrm>
            <a:off x="4846320" y="2084832"/>
            <a:ext cx="1005840" cy="237744"/>
          </a:xfrm>
          <a:prstGeom prst="rect">
            <a:avLst/>
          </a:prstGeom>
          <a:noFill/>
          <a:ln/>
        </p:spPr>
        <p:txBody>
          <a:bodyPr wrap="square" lIns="0" tIns="0" rIns="0" bIns="0" rtlCol="0" anchor="ctr"/>
          <a:lstStyle/>
          <a:p>
            <a:pPr marL="0" indent="0">
              <a:buNone/>
            </a:pPr>
            <a:r>
              <a:rPr lang="en-US" sz="950" dirty="0">
                <a:solidFill>
                  <a:srgbClr val="2D2D2D"/>
                </a:solidFill>
                <a:latin typeface="Calibri" pitchFamily="34" charset="0"/>
                <a:ea typeface="Calibri" pitchFamily="34" charset="-122"/>
                <a:cs typeface="Calibri" pitchFamily="34" charset="-120"/>
              </a:rPr>
              <a:t>Moderate</a:t>
            </a:r>
            <a:endParaRPr lang="en-US" sz="950" dirty="0"/>
          </a:p>
        </p:txBody>
      </p:sp>
      <p:sp>
        <p:nvSpPr>
          <p:cNvPr id="30" name="Text 28"/>
          <p:cNvSpPr/>
          <p:nvPr/>
        </p:nvSpPr>
        <p:spPr>
          <a:xfrm>
            <a:off x="5943600" y="2084832"/>
            <a:ext cx="1554480" cy="237744"/>
          </a:xfrm>
          <a:prstGeom prst="rect">
            <a:avLst/>
          </a:prstGeom>
          <a:noFill/>
          <a:ln/>
        </p:spPr>
        <p:txBody>
          <a:bodyPr wrap="square" lIns="0" tIns="0" rIns="0" bIns="0" rtlCol="0" anchor="ctr"/>
          <a:lstStyle/>
          <a:p>
            <a:pPr marL="0" indent="0">
              <a:buNone/>
            </a:pPr>
            <a:r>
              <a:rPr lang="en-US" sz="950" dirty="0">
                <a:solidFill>
                  <a:srgbClr val="2D2D2D"/>
                </a:solidFill>
                <a:latin typeface="Calibri" pitchFamily="34" charset="0"/>
                <a:ea typeface="Calibri" pitchFamily="34" charset="-122"/>
                <a:cs typeface="Calibri" pitchFamily="34" charset="-120"/>
              </a:rPr>
              <a:t>Transactional</a:t>
            </a:r>
            <a:endParaRPr lang="en-US" sz="950" dirty="0"/>
          </a:p>
        </p:txBody>
      </p:sp>
      <p:sp>
        <p:nvSpPr>
          <p:cNvPr id="31" name="Text 29"/>
          <p:cNvSpPr/>
          <p:nvPr/>
        </p:nvSpPr>
        <p:spPr>
          <a:xfrm>
            <a:off x="7589520" y="2084832"/>
            <a:ext cx="1554480" cy="237744"/>
          </a:xfrm>
          <a:prstGeom prst="rect">
            <a:avLst/>
          </a:prstGeom>
          <a:noFill/>
          <a:ln/>
        </p:spPr>
        <p:txBody>
          <a:bodyPr wrap="square" lIns="0" tIns="0" rIns="0" bIns="0" rtlCol="0" anchor="ctr"/>
          <a:lstStyle/>
          <a:p>
            <a:pPr marL="0" indent="0">
              <a:buNone/>
            </a:pPr>
            <a:r>
              <a:rPr lang="en-US" sz="950" dirty="0">
                <a:solidFill>
                  <a:srgbClr val="E67E00"/>
                </a:solidFill>
                <a:latin typeface="Calibri" pitchFamily="34" charset="0"/>
                <a:ea typeface="Calibri" pitchFamily="34" charset="-122"/>
                <a:cs typeface="Calibri" pitchFamily="34" charset="-120"/>
              </a:rPr>
              <a:t>★★★★☆</a:t>
            </a:r>
            <a:endParaRPr lang="en-US" sz="950" dirty="0"/>
          </a:p>
        </p:txBody>
      </p:sp>
      <p:sp>
        <p:nvSpPr>
          <p:cNvPr id="32" name="Shape 30"/>
          <p:cNvSpPr/>
          <p:nvPr/>
        </p:nvSpPr>
        <p:spPr>
          <a:xfrm>
            <a:off x="228600" y="2414016"/>
            <a:ext cx="8686800" cy="347472"/>
          </a:xfrm>
          <a:prstGeom prst="rect">
            <a:avLst/>
          </a:prstGeom>
          <a:solidFill>
            <a:srgbClr val="F1F5F9"/>
          </a:solidFill>
          <a:ln w="3810">
            <a:solidFill>
              <a:srgbClr val="E2E8F0"/>
            </a:solidFill>
            <a:prstDash val="solid"/>
          </a:ln>
        </p:spPr>
      </p:sp>
      <p:sp>
        <p:nvSpPr>
          <p:cNvPr id="33" name="Text 31"/>
          <p:cNvSpPr/>
          <p:nvPr/>
        </p:nvSpPr>
        <p:spPr>
          <a:xfrm>
            <a:off x="320040" y="2468880"/>
            <a:ext cx="3291840" cy="237744"/>
          </a:xfrm>
          <a:prstGeom prst="rect">
            <a:avLst/>
          </a:prstGeom>
          <a:noFill/>
          <a:ln/>
        </p:spPr>
        <p:txBody>
          <a:bodyPr wrap="square" lIns="0" tIns="0" rIns="0" bIns="0" rtlCol="0" anchor="ctr"/>
          <a:lstStyle/>
          <a:p>
            <a:pPr marL="0" indent="0">
              <a:buNone/>
            </a:pPr>
            <a:r>
              <a:rPr lang="en-US" sz="1000" b="1" dirty="0">
                <a:solidFill>
                  <a:srgbClr val="2D2D2D"/>
                </a:solidFill>
                <a:latin typeface="Calibri" pitchFamily="34" charset="0"/>
                <a:ea typeface="Calibri" pitchFamily="34" charset="-122"/>
                <a:cs typeface="Calibri" pitchFamily="34" charset="-120"/>
              </a:rPr>
              <a:t>Jeans for men under ₹1000</a:t>
            </a:r>
            <a:endParaRPr lang="en-US" sz="1000" dirty="0"/>
          </a:p>
        </p:txBody>
      </p:sp>
      <p:sp>
        <p:nvSpPr>
          <p:cNvPr id="34" name="Text 32"/>
          <p:cNvSpPr/>
          <p:nvPr/>
        </p:nvSpPr>
        <p:spPr>
          <a:xfrm>
            <a:off x="3749040" y="2468880"/>
            <a:ext cx="1005840" cy="237744"/>
          </a:xfrm>
          <a:prstGeom prst="rect">
            <a:avLst/>
          </a:prstGeom>
          <a:noFill/>
          <a:ln/>
        </p:spPr>
        <p:txBody>
          <a:bodyPr wrap="square" lIns="0" tIns="0" rIns="0" bIns="0" rtlCol="0" anchor="ctr"/>
          <a:lstStyle/>
          <a:p>
            <a:pPr marL="0" indent="0">
              <a:buNone/>
            </a:pPr>
            <a:r>
              <a:rPr lang="en-US" sz="950" dirty="0">
                <a:solidFill>
                  <a:srgbClr val="2D2D2D"/>
                </a:solidFill>
                <a:latin typeface="Calibri" pitchFamily="34" charset="0"/>
                <a:ea typeface="Calibri" pitchFamily="34" charset="-122"/>
                <a:cs typeface="Calibri" pitchFamily="34" charset="-120"/>
              </a:rPr>
              <a:t>40,500</a:t>
            </a:r>
            <a:endParaRPr lang="en-US" sz="950" dirty="0"/>
          </a:p>
        </p:txBody>
      </p:sp>
      <p:sp>
        <p:nvSpPr>
          <p:cNvPr id="35" name="Text 33"/>
          <p:cNvSpPr/>
          <p:nvPr/>
        </p:nvSpPr>
        <p:spPr>
          <a:xfrm>
            <a:off x="4846320" y="2468880"/>
            <a:ext cx="1005840" cy="237744"/>
          </a:xfrm>
          <a:prstGeom prst="rect">
            <a:avLst/>
          </a:prstGeom>
          <a:noFill/>
          <a:ln/>
        </p:spPr>
        <p:txBody>
          <a:bodyPr wrap="square" lIns="0" tIns="0" rIns="0" bIns="0" rtlCol="0" anchor="ctr"/>
          <a:lstStyle/>
          <a:p>
            <a:pPr marL="0" indent="0">
              <a:buNone/>
            </a:pPr>
            <a:r>
              <a:rPr lang="en-US" sz="950" dirty="0">
                <a:solidFill>
                  <a:srgbClr val="2D2D2D"/>
                </a:solidFill>
                <a:latin typeface="Calibri" pitchFamily="34" charset="0"/>
                <a:ea typeface="Calibri" pitchFamily="34" charset="-122"/>
                <a:cs typeface="Calibri" pitchFamily="34" charset="-120"/>
              </a:rPr>
              <a:t>Low</a:t>
            </a:r>
            <a:endParaRPr lang="en-US" sz="950" dirty="0"/>
          </a:p>
        </p:txBody>
      </p:sp>
      <p:sp>
        <p:nvSpPr>
          <p:cNvPr id="36" name="Text 34"/>
          <p:cNvSpPr/>
          <p:nvPr/>
        </p:nvSpPr>
        <p:spPr>
          <a:xfrm>
            <a:off x="5943600" y="2468880"/>
            <a:ext cx="1554480" cy="237744"/>
          </a:xfrm>
          <a:prstGeom prst="rect">
            <a:avLst/>
          </a:prstGeom>
          <a:noFill/>
          <a:ln/>
        </p:spPr>
        <p:txBody>
          <a:bodyPr wrap="square" lIns="0" tIns="0" rIns="0" bIns="0" rtlCol="0" anchor="ctr"/>
          <a:lstStyle/>
          <a:p>
            <a:pPr marL="0" indent="0">
              <a:buNone/>
            </a:pPr>
            <a:r>
              <a:rPr lang="en-US" sz="950" dirty="0">
                <a:solidFill>
                  <a:srgbClr val="2D2D2D"/>
                </a:solidFill>
                <a:latin typeface="Calibri" pitchFamily="34" charset="0"/>
                <a:ea typeface="Calibri" pitchFamily="34" charset="-122"/>
                <a:cs typeface="Calibri" pitchFamily="34" charset="-120"/>
              </a:rPr>
              <a:t>Transactional</a:t>
            </a:r>
            <a:endParaRPr lang="en-US" sz="950" dirty="0"/>
          </a:p>
        </p:txBody>
      </p:sp>
      <p:sp>
        <p:nvSpPr>
          <p:cNvPr id="37" name="Text 35"/>
          <p:cNvSpPr/>
          <p:nvPr/>
        </p:nvSpPr>
        <p:spPr>
          <a:xfrm>
            <a:off x="7589520" y="2468880"/>
            <a:ext cx="1554480" cy="237744"/>
          </a:xfrm>
          <a:prstGeom prst="rect">
            <a:avLst/>
          </a:prstGeom>
          <a:noFill/>
          <a:ln/>
        </p:spPr>
        <p:txBody>
          <a:bodyPr wrap="square" lIns="0" tIns="0" rIns="0" bIns="0" rtlCol="0" anchor="ctr"/>
          <a:lstStyle/>
          <a:p>
            <a:pPr marL="0" indent="0">
              <a:buNone/>
            </a:pPr>
            <a:r>
              <a:rPr lang="en-US" sz="950" dirty="0">
                <a:solidFill>
                  <a:srgbClr val="E67E00"/>
                </a:solidFill>
                <a:latin typeface="Calibri" pitchFamily="34" charset="0"/>
                <a:ea typeface="Calibri" pitchFamily="34" charset="-122"/>
                <a:cs typeface="Calibri" pitchFamily="34" charset="-120"/>
              </a:rPr>
              <a:t>★★★★★</a:t>
            </a:r>
            <a:endParaRPr lang="en-US" sz="950" dirty="0"/>
          </a:p>
        </p:txBody>
      </p:sp>
      <p:sp>
        <p:nvSpPr>
          <p:cNvPr id="38" name="Shape 36"/>
          <p:cNvSpPr/>
          <p:nvPr/>
        </p:nvSpPr>
        <p:spPr>
          <a:xfrm>
            <a:off x="228600" y="2798064"/>
            <a:ext cx="8686800" cy="347472"/>
          </a:xfrm>
          <a:prstGeom prst="rect">
            <a:avLst/>
          </a:prstGeom>
          <a:solidFill>
            <a:srgbClr val="FFFFFF"/>
          </a:solidFill>
          <a:ln w="3810">
            <a:solidFill>
              <a:srgbClr val="E2E8F0"/>
            </a:solidFill>
            <a:prstDash val="solid"/>
          </a:ln>
        </p:spPr>
      </p:sp>
      <p:sp>
        <p:nvSpPr>
          <p:cNvPr id="39" name="Text 37"/>
          <p:cNvSpPr/>
          <p:nvPr/>
        </p:nvSpPr>
        <p:spPr>
          <a:xfrm>
            <a:off x="320040" y="2852928"/>
            <a:ext cx="3291840" cy="237744"/>
          </a:xfrm>
          <a:prstGeom prst="rect">
            <a:avLst/>
          </a:prstGeom>
          <a:noFill/>
          <a:ln/>
        </p:spPr>
        <p:txBody>
          <a:bodyPr wrap="square" lIns="0" tIns="0" rIns="0" bIns="0" rtlCol="0" anchor="ctr"/>
          <a:lstStyle/>
          <a:p>
            <a:pPr marL="0" indent="0">
              <a:buNone/>
            </a:pPr>
            <a:r>
              <a:rPr lang="en-US" sz="1000" b="1" dirty="0">
                <a:solidFill>
                  <a:srgbClr val="2D2D2D"/>
                </a:solidFill>
                <a:latin typeface="Calibri" pitchFamily="34" charset="0"/>
                <a:ea typeface="Calibri" pitchFamily="34" charset="-122"/>
                <a:cs typeface="Calibri" pitchFamily="34" charset="-120"/>
              </a:rPr>
              <a:t>Best jeans brand India men</a:t>
            </a:r>
            <a:endParaRPr lang="en-US" sz="1000" dirty="0"/>
          </a:p>
        </p:txBody>
      </p:sp>
      <p:sp>
        <p:nvSpPr>
          <p:cNvPr id="40" name="Text 38"/>
          <p:cNvSpPr/>
          <p:nvPr/>
        </p:nvSpPr>
        <p:spPr>
          <a:xfrm>
            <a:off x="3749040" y="2852928"/>
            <a:ext cx="1005840" cy="237744"/>
          </a:xfrm>
          <a:prstGeom prst="rect">
            <a:avLst/>
          </a:prstGeom>
          <a:noFill/>
          <a:ln/>
        </p:spPr>
        <p:txBody>
          <a:bodyPr wrap="square" lIns="0" tIns="0" rIns="0" bIns="0" rtlCol="0" anchor="ctr"/>
          <a:lstStyle/>
          <a:p>
            <a:pPr marL="0" indent="0">
              <a:buNone/>
            </a:pPr>
            <a:r>
              <a:rPr lang="en-US" sz="950" dirty="0">
                <a:solidFill>
                  <a:srgbClr val="2D2D2D"/>
                </a:solidFill>
                <a:latin typeface="Calibri" pitchFamily="34" charset="0"/>
                <a:ea typeface="Calibri" pitchFamily="34" charset="-122"/>
                <a:cs typeface="Calibri" pitchFamily="34" charset="-120"/>
              </a:rPr>
              <a:t>27,100</a:t>
            </a:r>
            <a:endParaRPr lang="en-US" sz="950" dirty="0"/>
          </a:p>
        </p:txBody>
      </p:sp>
      <p:sp>
        <p:nvSpPr>
          <p:cNvPr id="41" name="Text 39"/>
          <p:cNvSpPr/>
          <p:nvPr/>
        </p:nvSpPr>
        <p:spPr>
          <a:xfrm>
            <a:off x="4846320" y="2852928"/>
            <a:ext cx="1005840" cy="237744"/>
          </a:xfrm>
          <a:prstGeom prst="rect">
            <a:avLst/>
          </a:prstGeom>
          <a:noFill/>
          <a:ln/>
        </p:spPr>
        <p:txBody>
          <a:bodyPr wrap="square" lIns="0" tIns="0" rIns="0" bIns="0" rtlCol="0" anchor="ctr"/>
          <a:lstStyle/>
          <a:p>
            <a:pPr marL="0" indent="0">
              <a:buNone/>
            </a:pPr>
            <a:r>
              <a:rPr lang="en-US" sz="950" dirty="0">
                <a:solidFill>
                  <a:srgbClr val="2D2D2D"/>
                </a:solidFill>
                <a:latin typeface="Calibri" pitchFamily="34" charset="0"/>
                <a:ea typeface="Calibri" pitchFamily="34" charset="-122"/>
                <a:cs typeface="Calibri" pitchFamily="34" charset="-120"/>
              </a:rPr>
              <a:t>Moderate</a:t>
            </a:r>
            <a:endParaRPr lang="en-US" sz="950" dirty="0"/>
          </a:p>
        </p:txBody>
      </p:sp>
      <p:sp>
        <p:nvSpPr>
          <p:cNvPr id="42" name="Text 40"/>
          <p:cNvSpPr/>
          <p:nvPr/>
        </p:nvSpPr>
        <p:spPr>
          <a:xfrm>
            <a:off x="5943600" y="2852928"/>
            <a:ext cx="1554480" cy="237744"/>
          </a:xfrm>
          <a:prstGeom prst="rect">
            <a:avLst/>
          </a:prstGeom>
          <a:noFill/>
          <a:ln/>
        </p:spPr>
        <p:txBody>
          <a:bodyPr wrap="square" lIns="0" tIns="0" rIns="0" bIns="0" rtlCol="0" anchor="ctr"/>
          <a:lstStyle/>
          <a:p>
            <a:pPr marL="0" indent="0">
              <a:buNone/>
            </a:pPr>
            <a:r>
              <a:rPr lang="en-US" sz="950" dirty="0">
                <a:solidFill>
                  <a:srgbClr val="2D2D2D"/>
                </a:solidFill>
                <a:latin typeface="Calibri" pitchFamily="34" charset="0"/>
                <a:ea typeface="Calibri" pitchFamily="34" charset="-122"/>
                <a:cs typeface="Calibri" pitchFamily="34" charset="-120"/>
              </a:rPr>
              <a:t>Informational</a:t>
            </a:r>
            <a:endParaRPr lang="en-US" sz="950" dirty="0"/>
          </a:p>
        </p:txBody>
      </p:sp>
      <p:sp>
        <p:nvSpPr>
          <p:cNvPr id="43" name="Text 41"/>
          <p:cNvSpPr/>
          <p:nvPr/>
        </p:nvSpPr>
        <p:spPr>
          <a:xfrm>
            <a:off x="7589520" y="2852928"/>
            <a:ext cx="1554480" cy="237744"/>
          </a:xfrm>
          <a:prstGeom prst="rect">
            <a:avLst/>
          </a:prstGeom>
          <a:noFill/>
          <a:ln/>
        </p:spPr>
        <p:txBody>
          <a:bodyPr wrap="square" lIns="0" tIns="0" rIns="0" bIns="0" rtlCol="0" anchor="ctr"/>
          <a:lstStyle/>
          <a:p>
            <a:pPr marL="0" indent="0">
              <a:buNone/>
            </a:pPr>
            <a:r>
              <a:rPr lang="en-US" sz="950" dirty="0">
                <a:solidFill>
                  <a:srgbClr val="E67E00"/>
                </a:solidFill>
                <a:latin typeface="Calibri" pitchFamily="34" charset="0"/>
                <a:ea typeface="Calibri" pitchFamily="34" charset="-122"/>
                <a:cs typeface="Calibri" pitchFamily="34" charset="-120"/>
              </a:rPr>
              <a:t>★★★★☆</a:t>
            </a:r>
            <a:endParaRPr lang="en-US" sz="950" dirty="0"/>
          </a:p>
        </p:txBody>
      </p:sp>
      <p:sp>
        <p:nvSpPr>
          <p:cNvPr id="44" name="Shape 42"/>
          <p:cNvSpPr/>
          <p:nvPr/>
        </p:nvSpPr>
        <p:spPr>
          <a:xfrm>
            <a:off x="228600" y="3182112"/>
            <a:ext cx="8686800" cy="347472"/>
          </a:xfrm>
          <a:prstGeom prst="rect">
            <a:avLst/>
          </a:prstGeom>
          <a:solidFill>
            <a:srgbClr val="F1F5F9"/>
          </a:solidFill>
          <a:ln w="3810">
            <a:solidFill>
              <a:srgbClr val="E2E8F0"/>
            </a:solidFill>
            <a:prstDash val="solid"/>
          </a:ln>
        </p:spPr>
      </p:sp>
      <p:sp>
        <p:nvSpPr>
          <p:cNvPr id="45" name="Text 43"/>
          <p:cNvSpPr/>
          <p:nvPr/>
        </p:nvSpPr>
        <p:spPr>
          <a:xfrm>
            <a:off x="320040" y="3236976"/>
            <a:ext cx="3291840" cy="237744"/>
          </a:xfrm>
          <a:prstGeom prst="rect">
            <a:avLst/>
          </a:prstGeom>
          <a:noFill/>
          <a:ln/>
        </p:spPr>
        <p:txBody>
          <a:bodyPr wrap="square" lIns="0" tIns="0" rIns="0" bIns="0" rtlCol="0" anchor="ctr"/>
          <a:lstStyle/>
          <a:p>
            <a:pPr marL="0" indent="0">
              <a:buNone/>
            </a:pPr>
            <a:r>
              <a:rPr lang="en-US" sz="1000" b="1" dirty="0">
                <a:solidFill>
                  <a:srgbClr val="2D2D2D"/>
                </a:solidFill>
                <a:latin typeface="Calibri" pitchFamily="34" charset="0"/>
                <a:ea typeface="Calibri" pitchFamily="34" charset="-122"/>
                <a:cs typeface="Calibri" pitchFamily="34" charset="-120"/>
              </a:rPr>
              <a:t>How to style baggy jeans men</a:t>
            </a:r>
            <a:endParaRPr lang="en-US" sz="1000" dirty="0"/>
          </a:p>
        </p:txBody>
      </p:sp>
      <p:sp>
        <p:nvSpPr>
          <p:cNvPr id="46" name="Text 44"/>
          <p:cNvSpPr/>
          <p:nvPr/>
        </p:nvSpPr>
        <p:spPr>
          <a:xfrm>
            <a:off x="3749040" y="3236976"/>
            <a:ext cx="1005840" cy="237744"/>
          </a:xfrm>
          <a:prstGeom prst="rect">
            <a:avLst/>
          </a:prstGeom>
          <a:noFill/>
          <a:ln/>
        </p:spPr>
        <p:txBody>
          <a:bodyPr wrap="square" lIns="0" tIns="0" rIns="0" bIns="0" rtlCol="0" anchor="ctr"/>
          <a:lstStyle/>
          <a:p>
            <a:pPr marL="0" indent="0">
              <a:buNone/>
            </a:pPr>
            <a:r>
              <a:rPr lang="en-US" sz="950" dirty="0">
                <a:solidFill>
                  <a:srgbClr val="2D2D2D"/>
                </a:solidFill>
                <a:latin typeface="Calibri" pitchFamily="34" charset="0"/>
                <a:ea typeface="Calibri" pitchFamily="34" charset="-122"/>
                <a:cs typeface="Calibri" pitchFamily="34" charset="-120"/>
              </a:rPr>
              <a:t>18,100</a:t>
            </a:r>
            <a:endParaRPr lang="en-US" sz="950" dirty="0"/>
          </a:p>
        </p:txBody>
      </p:sp>
      <p:sp>
        <p:nvSpPr>
          <p:cNvPr id="47" name="Text 45"/>
          <p:cNvSpPr/>
          <p:nvPr/>
        </p:nvSpPr>
        <p:spPr>
          <a:xfrm>
            <a:off x="4846320" y="3236976"/>
            <a:ext cx="1005840" cy="237744"/>
          </a:xfrm>
          <a:prstGeom prst="rect">
            <a:avLst/>
          </a:prstGeom>
          <a:noFill/>
          <a:ln/>
        </p:spPr>
        <p:txBody>
          <a:bodyPr wrap="square" lIns="0" tIns="0" rIns="0" bIns="0" rtlCol="0" anchor="ctr"/>
          <a:lstStyle/>
          <a:p>
            <a:pPr marL="0" indent="0">
              <a:buNone/>
            </a:pPr>
            <a:r>
              <a:rPr lang="en-US" sz="950" dirty="0">
                <a:solidFill>
                  <a:srgbClr val="2D2D2D"/>
                </a:solidFill>
                <a:latin typeface="Calibri" pitchFamily="34" charset="0"/>
                <a:ea typeface="Calibri" pitchFamily="34" charset="-122"/>
                <a:cs typeface="Calibri" pitchFamily="34" charset="-120"/>
              </a:rPr>
              <a:t>Low</a:t>
            </a:r>
            <a:endParaRPr lang="en-US" sz="950" dirty="0"/>
          </a:p>
        </p:txBody>
      </p:sp>
      <p:sp>
        <p:nvSpPr>
          <p:cNvPr id="48" name="Text 46"/>
          <p:cNvSpPr/>
          <p:nvPr/>
        </p:nvSpPr>
        <p:spPr>
          <a:xfrm>
            <a:off x="5943600" y="3236976"/>
            <a:ext cx="1554480" cy="237744"/>
          </a:xfrm>
          <a:prstGeom prst="rect">
            <a:avLst/>
          </a:prstGeom>
          <a:noFill/>
          <a:ln/>
        </p:spPr>
        <p:txBody>
          <a:bodyPr wrap="square" lIns="0" tIns="0" rIns="0" bIns="0" rtlCol="0" anchor="ctr"/>
          <a:lstStyle/>
          <a:p>
            <a:pPr marL="0" indent="0">
              <a:buNone/>
            </a:pPr>
            <a:r>
              <a:rPr lang="en-US" sz="950" dirty="0">
                <a:solidFill>
                  <a:srgbClr val="2D2D2D"/>
                </a:solidFill>
                <a:latin typeface="Calibri" pitchFamily="34" charset="0"/>
                <a:ea typeface="Calibri" pitchFamily="34" charset="-122"/>
                <a:cs typeface="Calibri" pitchFamily="34" charset="-120"/>
              </a:rPr>
              <a:t>Informational</a:t>
            </a:r>
            <a:endParaRPr lang="en-US" sz="950" dirty="0"/>
          </a:p>
        </p:txBody>
      </p:sp>
      <p:sp>
        <p:nvSpPr>
          <p:cNvPr id="49" name="Text 47"/>
          <p:cNvSpPr/>
          <p:nvPr/>
        </p:nvSpPr>
        <p:spPr>
          <a:xfrm>
            <a:off x="7589520" y="3236976"/>
            <a:ext cx="1554480" cy="237744"/>
          </a:xfrm>
          <a:prstGeom prst="rect">
            <a:avLst/>
          </a:prstGeom>
          <a:noFill/>
          <a:ln/>
        </p:spPr>
        <p:txBody>
          <a:bodyPr wrap="square" lIns="0" tIns="0" rIns="0" bIns="0" rtlCol="0" anchor="ctr"/>
          <a:lstStyle/>
          <a:p>
            <a:pPr marL="0" indent="0">
              <a:buNone/>
            </a:pPr>
            <a:r>
              <a:rPr lang="en-US" sz="950" dirty="0">
                <a:solidFill>
                  <a:srgbClr val="E67E00"/>
                </a:solidFill>
                <a:latin typeface="Calibri" pitchFamily="34" charset="0"/>
                <a:ea typeface="Calibri" pitchFamily="34" charset="-122"/>
                <a:cs typeface="Calibri" pitchFamily="34" charset="-120"/>
              </a:rPr>
              <a:t>★★★★☆</a:t>
            </a:r>
            <a:endParaRPr lang="en-US" sz="950" dirty="0"/>
          </a:p>
        </p:txBody>
      </p:sp>
      <p:sp>
        <p:nvSpPr>
          <p:cNvPr id="50" name="Shape 48"/>
          <p:cNvSpPr/>
          <p:nvPr/>
        </p:nvSpPr>
        <p:spPr>
          <a:xfrm>
            <a:off x="228600" y="3566160"/>
            <a:ext cx="8686800" cy="347472"/>
          </a:xfrm>
          <a:prstGeom prst="rect">
            <a:avLst/>
          </a:prstGeom>
          <a:solidFill>
            <a:srgbClr val="FFFFFF"/>
          </a:solidFill>
          <a:ln w="3810">
            <a:solidFill>
              <a:srgbClr val="E2E8F0"/>
            </a:solidFill>
            <a:prstDash val="solid"/>
          </a:ln>
        </p:spPr>
      </p:sp>
      <p:sp>
        <p:nvSpPr>
          <p:cNvPr id="51" name="Text 49"/>
          <p:cNvSpPr/>
          <p:nvPr/>
        </p:nvSpPr>
        <p:spPr>
          <a:xfrm>
            <a:off x="320040" y="3621024"/>
            <a:ext cx="3291840" cy="237744"/>
          </a:xfrm>
          <a:prstGeom prst="rect">
            <a:avLst/>
          </a:prstGeom>
          <a:noFill/>
          <a:ln/>
        </p:spPr>
        <p:txBody>
          <a:bodyPr wrap="square" lIns="0" tIns="0" rIns="0" bIns="0" rtlCol="0" anchor="ctr"/>
          <a:lstStyle/>
          <a:p>
            <a:pPr marL="0" indent="0">
              <a:buNone/>
            </a:pPr>
            <a:r>
              <a:rPr lang="en-US" sz="1000" b="1" dirty="0">
                <a:solidFill>
                  <a:srgbClr val="2D2D2D"/>
                </a:solidFill>
                <a:latin typeface="Calibri" pitchFamily="34" charset="0"/>
                <a:ea typeface="Calibri" pitchFamily="34" charset="-122"/>
                <a:cs typeface="Calibri" pitchFamily="34" charset="-120"/>
              </a:rPr>
              <a:t>Loose fit jeans men India</a:t>
            </a:r>
            <a:endParaRPr lang="en-US" sz="1000" dirty="0"/>
          </a:p>
        </p:txBody>
      </p:sp>
      <p:sp>
        <p:nvSpPr>
          <p:cNvPr id="52" name="Text 50"/>
          <p:cNvSpPr/>
          <p:nvPr/>
        </p:nvSpPr>
        <p:spPr>
          <a:xfrm>
            <a:off x="3749040" y="3621024"/>
            <a:ext cx="1005840" cy="237744"/>
          </a:xfrm>
          <a:prstGeom prst="rect">
            <a:avLst/>
          </a:prstGeom>
          <a:noFill/>
          <a:ln/>
        </p:spPr>
        <p:txBody>
          <a:bodyPr wrap="square" lIns="0" tIns="0" rIns="0" bIns="0" rtlCol="0" anchor="ctr"/>
          <a:lstStyle/>
          <a:p>
            <a:pPr marL="0" indent="0">
              <a:buNone/>
            </a:pPr>
            <a:r>
              <a:rPr lang="en-US" sz="950" dirty="0">
                <a:solidFill>
                  <a:srgbClr val="2D2D2D"/>
                </a:solidFill>
                <a:latin typeface="Calibri" pitchFamily="34" charset="0"/>
                <a:ea typeface="Calibri" pitchFamily="34" charset="-122"/>
                <a:cs typeface="Calibri" pitchFamily="34" charset="-120"/>
              </a:rPr>
              <a:t>22,200</a:t>
            </a:r>
            <a:endParaRPr lang="en-US" sz="950" dirty="0"/>
          </a:p>
        </p:txBody>
      </p:sp>
      <p:sp>
        <p:nvSpPr>
          <p:cNvPr id="53" name="Text 51"/>
          <p:cNvSpPr/>
          <p:nvPr/>
        </p:nvSpPr>
        <p:spPr>
          <a:xfrm>
            <a:off x="4846320" y="3621024"/>
            <a:ext cx="1005840" cy="237744"/>
          </a:xfrm>
          <a:prstGeom prst="rect">
            <a:avLst/>
          </a:prstGeom>
          <a:noFill/>
          <a:ln/>
        </p:spPr>
        <p:txBody>
          <a:bodyPr wrap="square" lIns="0" tIns="0" rIns="0" bIns="0" rtlCol="0" anchor="ctr"/>
          <a:lstStyle/>
          <a:p>
            <a:pPr marL="0" indent="0">
              <a:buNone/>
            </a:pPr>
            <a:r>
              <a:rPr lang="en-US" sz="950" dirty="0">
                <a:solidFill>
                  <a:srgbClr val="2D2D2D"/>
                </a:solidFill>
                <a:latin typeface="Calibri" pitchFamily="34" charset="0"/>
                <a:ea typeface="Calibri" pitchFamily="34" charset="-122"/>
                <a:cs typeface="Calibri" pitchFamily="34" charset="-120"/>
              </a:rPr>
              <a:t>Low</a:t>
            </a:r>
            <a:endParaRPr lang="en-US" sz="950" dirty="0"/>
          </a:p>
        </p:txBody>
      </p:sp>
      <p:sp>
        <p:nvSpPr>
          <p:cNvPr id="54" name="Text 52"/>
          <p:cNvSpPr/>
          <p:nvPr/>
        </p:nvSpPr>
        <p:spPr>
          <a:xfrm>
            <a:off x="5943600" y="3621024"/>
            <a:ext cx="1554480" cy="237744"/>
          </a:xfrm>
          <a:prstGeom prst="rect">
            <a:avLst/>
          </a:prstGeom>
          <a:noFill/>
          <a:ln/>
        </p:spPr>
        <p:txBody>
          <a:bodyPr wrap="square" lIns="0" tIns="0" rIns="0" bIns="0" rtlCol="0" anchor="ctr"/>
          <a:lstStyle/>
          <a:p>
            <a:pPr marL="0" indent="0">
              <a:buNone/>
            </a:pPr>
            <a:r>
              <a:rPr lang="en-US" sz="950" dirty="0">
                <a:solidFill>
                  <a:srgbClr val="2D2D2D"/>
                </a:solidFill>
                <a:latin typeface="Calibri" pitchFamily="34" charset="0"/>
                <a:ea typeface="Calibri" pitchFamily="34" charset="-122"/>
                <a:cs typeface="Calibri" pitchFamily="34" charset="-120"/>
              </a:rPr>
              <a:t>Transactional</a:t>
            </a:r>
            <a:endParaRPr lang="en-US" sz="950" dirty="0"/>
          </a:p>
        </p:txBody>
      </p:sp>
      <p:sp>
        <p:nvSpPr>
          <p:cNvPr id="55" name="Text 53"/>
          <p:cNvSpPr/>
          <p:nvPr/>
        </p:nvSpPr>
        <p:spPr>
          <a:xfrm>
            <a:off x="7589520" y="3621024"/>
            <a:ext cx="1554480" cy="237744"/>
          </a:xfrm>
          <a:prstGeom prst="rect">
            <a:avLst/>
          </a:prstGeom>
          <a:noFill/>
          <a:ln/>
        </p:spPr>
        <p:txBody>
          <a:bodyPr wrap="square" lIns="0" tIns="0" rIns="0" bIns="0" rtlCol="0" anchor="ctr"/>
          <a:lstStyle/>
          <a:p>
            <a:pPr marL="0" indent="0">
              <a:buNone/>
            </a:pPr>
            <a:r>
              <a:rPr lang="en-US" sz="950" dirty="0">
                <a:solidFill>
                  <a:srgbClr val="E67E00"/>
                </a:solidFill>
                <a:latin typeface="Calibri" pitchFamily="34" charset="0"/>
                <a:ea typeface="Calibri" pitchFamily="34" charset="-122"/>
                <a:cs typeface="Calibri" pitchFamily="34" charset="-120"/>
              </a:rPr>
              <a:t>★★★★☆</a:t>
            </a:r>
            <a:endParaRPr lang="en-US" sz="950" dirty="0"/>
          </a:p>
        </p:txBody>
      </p:sp>
      <p:sp>
        <p:nvSpPr>
          <p:cNvPr id="56" name="Shape 54"/>
          <p:cNvSpPr/>
          <p:nvPr/>
        </p:nvSpPr>
        <p:spPr>
          <a:xfrm>
            <a:off x="228600" y="3950208"/>
            <a:ext cx="8686800" cy="347472"/>
          </a:xfrm>
          <a:prstGeom prst="rect">
            <a:avLst/>
          </a:prstGeom>
          <a:solidFill>
            <a:srgbClr val="F1F5F9"/>
          </a:solidFill>
          <a:ln w="3810">
            <a:solidFill>
              <a:srgbClr val="E2E8F0"/>
            </a:solidFill>
            <a:prstDash val="solid"/>
          </a:ln>
        </p:spPr>
      </p:sp>
      <p:sp>
        <p:nvSpPr>
          <p:cNvPr id="57" name="Text 55"/>
          <p:cNvSpPr/>
          <p:nvPr/>
        </p:nvSpPr>
        <p:spPr>
          <a:xfrm>
            <a:off x="320040" y="4005072"/>
            <a:ext cx="3291840" cy="237744"/>
          </a:xfrm>
          <a:prstGeom prst="rect">
            <a:avLst/>
          </a:prstGeom>
          <a:noFill/>
          <a:ln/>
        </p:spPr>
        <p:txBody>
          <a:bodyPr wrap="square" lIns="0" tIns="0" rIns="0" bIns="0" rtlCol="0" anchor="ctr"/>
          <a:lstStyle/>
          <a:p>
            <a:pPr marL="0" indent="0">
              <a:buNone/>
            </a:pPr>
            <a:r>
              <a:rPr lang="en-US" sz="1000" b="1" dirty="0">
                <a:solidFill>
                  <a:srgbClr val="2D2D2D"/>
                </a:solidFill>
                <a:latin typeface="Calibri" pitchFamily="34" charset="0"/>
                <a:ea typeface="Calibri" pitchFamily="34" charset="-122"/>
                <a:cs typeface="Calibri" pitchFamily="34" charset="-120"/>
              </a:rPr>
              <a:t>Black jeans men online India</a:t>
            </a:r>
            <a:endParaRPr lang="en-US" sz="1000" dirty="0"/>
          </a:p>
        </p:txBody>
      </p:sp>
      <p:sp>
        <p:nvSpPr>
          <p:cNvPr id="58" name="Text 56"/>
          <p:cNvSpPr/>
          <p:nvPr/>
        </p:nvSpPr>
        <p:spPr>
          <a:xfrm>
            <a:off x="3749040" y="4005072"/>
            <a:ext cx="1005840" cy="237744"/>
          </a:xfrm>
          <a:prstGeom prst="rect">
            <a:avLst/>
          </a:prstGeom>
          <a:noFill/>
          <a:ln/>
        </p:spPr>
        <p:txBody>
          <a:bodyPr wrap="square" lIns="0" tIns="0" rIns="0" bIns="0" rtlCol="0" anchor="ctr"/>
          <a:lstStyle/>
          <a:p>
            <a:pPr marL="0" indent="0">
              <a:buNone/>
            </a:pPr>
            <a:r>
              <a:rPr lang="en-US" sz="950" dirty="0">
                <a:solidFill>
                  <a:srgbClr val="2D2D2D"/>
                </a:solidFill>
                <a:latin typeface="Calibri" pitchFamily="34" charset="0"/>
                <a:ea typeface="Calibri" pitchFamily="34" charset="-122"/>
                <a:cs typeface="Calibri" pitchFamily="34" charset="-120"/>
              </a:rPr>
              <a:t>22,200</a:t>
            </a:r>
            <a:endParaRPr lang="en-US" sz="950" dirty="0"/>
          </a:p>
        </p:txBody>
      </p:sp>
      <p:sp>
        <p:nvSpPr>
          <p:cNvPr id="59" name="Text 57"/>
          <p:cNvSpPr/>
          <p:nvPr/>
        </p:nvSpPr>
        <p:spPr>
          <a:xfrm>
            <a:off x="4846320" y="4005072"/>
            <a:ext cx="1005840" cy="237744"/>
          </a:xfrm>
          <a:prstGeom prst="rect">
            <a:avLst/>
          </a:prstGeom>
          <a:noFill/>
          <a:ln/>
        </p:spPr>
        <p:txBody>
          <a:bodyPr wrap="square" lIns="0" tIns="0" rIns="0" bIns="0" rtlCol="0" anchor="ctr"/>
          <a:lstStyle/>
          <a:p>
            <a:pPr marL="0" indent="0">
              <a:buNone/>
            </a:pPr>
            <a:r>
              <a:rPr lang="en-US" sz="950" dirty="0">
                <a:solidFill>
                  <a:srgbClr val="2D2D2D"/>
                </a:solidFill>
                <a:latin typeface="Calibri" pitchFamily="34" charset="0"/>
                <a:ea typeface="Calibri" pitchFamily="34" charset="-122"/>
                <a:cs typeface="Calibri" pitchFamily="34" charset="-120"/>
              </a:rPr>
              <a:t>Moderate</a:t>
            </a:r>
            <a:endParaRPr lang="en-US" sz="950" dirty="0"/>
          </a:p>
        </p:txBody>
      </p:sp>
      <p:sp>
        <p:nvSpPr>
          <p:cNvPr id="60" name="Text 58"/>
          <p:cNvSpPr/>
          <p:nvPr/>
        </p:nvSpPr>
        <p:spPr>
          <a:xfrm>
            <a:off x="5943600" y="4005072"/>
            <a:ext cx="1554480" cy="237744"/>
          </a:xfrm>
          <a:prstGeom prst="rect">
            <a:avLst/>
          </a:prstGeom>
          <a:noFill/>
          <a:ln/>
        </p:spPr>
        <p:txBody>
          <a:bodyPr wrap="square" lIns="0" tIns="0" rIns="0" bIns="0" rtlCol="0" anchor="ctr"/>
          <a:lstStyle/>
          <a:p>
            <a:pPr marL="0" indent="0">
              <a:buNone/>
            </a:pPr>
            <a:r>
              <a:rPr lang="en-US" sz="950" dirty="0">
                <a:solidFill>
                  <a:srgbClr val="2D2D2D"/>
                </a:solidFill>
                <a:latin typeface="Calibri" pitchFamily="34" charset="0"/>
                <a:ea typeface="Calibri" pitchFamily="34" charset="-122"/>
                <a:cs typeface="Calibri" pitchFamily="34" charset="-120"/>
              </a:rPr>
              <a:t>Transactional</a:t>
            </a:r>
            <a:endParaRPr lang="en-US" sz="950" dirty="0"/>
          </a:p>
        </p:txBody>
      </p:sp>
      <p:sp>
        <p:nvSpPr>
          <p:cNvPr id="61" name="Text 59"/>
          <p:cNvSpPr/>
          <p:nvPr/>
        </p:nvSpPr>
        <p:spPr>
          <a:xfrm>
            <a:off x="7589520" y="4005072"/>
            <a:ext cx="1554480" cy="237744"/>
          </a:xfrm>
          <a:prstGeom prst="rect">
            <a:avLst/>
          </a:prstGeom>
          <a:noFill/>
          <a:ln/>
        </p:spPr>
        <p:txBody>
          <a:bodyPr wrap="square" lIns="0" tIns="0" rIns="0" bIns="0" rtlCol="0" anchor="ctr"/>
          <a:lstStyle/>
          <a:p>
            <a:pPr marL="0" indent="0">
              <a:buNone/>
            </a:pPr>
            <a:r>
              <a:rPr lang="en-US" sz="950" dirty="0">
                <a:solidFill>
                  <a:srgbClr val="E67E00"/>
                </a:solidFill>
                <a:latin typeface="Calibri" pitchFamily="34" charset="0"/>
                <a:ea typeface="Calibri" pitchFamily="34" charset="-122"/>
                <a:cs typeface="Calibri" pitchFamily="34" charset="-120"/>
              </a:rPr>
              <a:t>★★★★☆</a:t>
            </a:r>
            <a:endParaRPr lang="en-US" sz="950" dirty="0"/>
          </a:p>
        </p:txBody>
      </p:sp>
      <p:sp>
        <p:nvSpPr>
          <p:cNvPr id="62" name="Shape 60"/>
          <p:cNvSpPr/>
          <p:nvPr/>
        </p:nvSpPr>
        <p:spPr>
          <a:xfrm>
            <a:off x="228600" y="4334256"/>
            <a:ext cx="8686800" cy="347472"/>
          </a:xfrm>
          <a:prstGeom prst="rect">
            <a:avLst/>
          </a:prstGeom>
          <a:solidFill>
            <a:srgbClr val="FFFFFF"/>
          </a:solidFill>
          <a:ln w="3810">
            <a:solidFill>
              <a:srgbClr val="E2E8F0"/>
            </a:solidFill>
            <a:prstDash val="solid"/>
          </a:ln>
        </p:spPr>
      </p:sp>
      <p:sp>
        <p:nvSpPr>
          <p:cNvPr id="63" name="Text 61"/>
          <p:cNvSpPr/>
          <p:nvPr/>
        </p:nvSpPr>
        <p:spPr>
          <a:xfrm>
            <a:off x="320040" y="4389120"/>
            <a:ext cx="3291840" cy="237744"/>
          </a:xfrm>
          <a:prstGeom prst="rect">
            <a:avLst/>
          </a:prstGeom>
          <a:noFill/>
          <a:ln/>
        </p:spPr>
        <p:txBody>
          <a:bodyPr wrap="square" lIns="0" tIns="0" rIns="0" bIns="0" rtlCol="0" anchor="ctr"/>
          <a:lstStyle/>
          <a:p>
            <a:pPr marL="0" indent="0">
              <a:buNone/>
            </a:pPr>
            <a:r>
              <a:rPr lang="en-US" sz="1000" b="1" dirty="0">
                <a:solidFill>
                  <a:srgbClr val="2D2D2D"/>
                </a:solidFill>
                <a:latin typeface="Calibri" pitchFamily="34" charset="0"/>
                <a:ea typeface="Calibri" pitchFamily="34" charset="-122"/>
                <a:cs typeface="Calibri" pitchFamily="34" charset="-120"/>
              </a:rPr>
              <a:t>Ripped jeans men buy online</a:t>
            </a:r>
            <a:endParaRPr lang="en-US" sz="1000" dirty="0"/>
          </a:p>
        </p:txBody>
      </p:sp>
      <p:sp>
        <p:nvSpPr>
          <p:cNvPr id="64" name="Text 62"/>
          <p:cNvSpPr/>
          <p:nvPr/>
        </p:nvSpPr>
        <p:spPr>
          <a:xfrm>
            <a:off x="3749040" y="4389120"/>
            <a:ext cx="1005840" cy="237744"/>
          </a:xfrm>
          <a:prstGeom prst="rect">
            <a:avLst/>
          </a:prstGeom>
          <a:noFill/>
          <a:ln/>
        </p:spPr>
        <p:txBody>
          <a:bodyPr wrap="square" lIns="0" tIns="0" rIns="0" bIns="0" rtlCol="0" anchor="ctr"/>
          <a:lstStyle/>
          <a:p>
            <a:pPr marL="0" indent="0">
              <a:buNone/>
            </a:pPr>
            <a:r>
              <a:rPr lang="en-US" sz="950" dirty="0">
                <a:solidFill>
                  <a:srgbClr val="2D2D2D"/>
                </a:solidFill>
                <a:latin typeface="Calibri" pitchFamily="34" charset="0"/>
                <a:ea typeface="Calibri" pitchFamily="34" charset="-122"/>
                <a:cs typeface="Calibri" pitchFamily="34" charset="-120"/>
              </a:rPr>
              <a:t>27,100</a:t>
            </a:r>
            <a:endParaRPr lang="en-US" sz="950" dirty="0"/>
          </a:p>
        </p:txBody>
      </p:sp>
      <p:sp>
        <p:nvSpPr>
          <p:cNvPr id="65" name="Text 63"/>
          <p:cNvSpPr/>
          <p:nvPr/>
        </p:nvSpPr>
        <p:spPr>
          <a:xfrm>
            <a:off x="4846320" y="4389120"/>
            <a:ext cx="1005840" cy="237744"/>
          </a:xfrm>
          <a:prstGeom prst="rect">
            <a:avLst/>
          </a:prstGeom>
          <a:noFill/>
          <a:ln/>
        </p:spPr>
        <p:txBody>
          <a:bodyPr wrap="square" lIns="0" tIns="0" rIns="0" bIns="0" rtlCol="0" anchor="ctr"/>
          <a:lstStyle/>
          <a:p>
            <a:pPr marL="0" indent="0">
              <a:buNone/>
            </a:pPr>
            <a:r>
              <a:rPr lang="en-US" sz="950" dirty="0">
                <a:solidFill>
                  <a:srgbClr val="2D2D2D"/>
                </a:solidFill>
                <a:latin typeface="Calibri" pitchFamily="34" charset="0"/>
                <a:ea typeface="Calibri" pitchFamily="34" charset="-122"/>
                <a:cs typeface="Calibri" pitchFamily="34" charset="-120"/>
              </a:rPr>
              <a:t>Moderate</a:t>
            </a:r>
            <a:endParaRPr lang="en-US" sz="950" dirty="0"/>
          </a:p>
        </p:txBody>
      </p:sp>
      <p:sp>
        <p:nvSpPr>
          <p:cNvPr id="66" name="Text 64"/>
          <p:cNvSpPr/>
          <p:nvPr/>
        </p:nvSpPr>
        <p:spPr>
          <a:xfrm>
            <a:off x="5943600" y="4389120"/>
            <a:ext cx="1554480" cy="237744"/>
          </a:xfrm>
          <a:prstGeom prst="rect">
            <a:avLst/>
          </a:prstGeom>
          <a:noFill/>
          <a:ln/>
        </p:spPr>
        <p:txBody>
          <a:bodyPr wrap="square" lIns="0" tIns="0" rIns="0" bIns="0" rtlCol="0" anchor="ctr"/>
          <a:lstStyle/>
          <a:p>
            <a:pPr marL="0" indent="0">
              <a:buNone/>
            </a:pPr>
            <a:r>
              <a:rPr lang="en-US" sz="950" dirty="0">
                <a:solidFill>
                  <a:srgbClr val="2D2D2D"/>
                </a:solidFill>
                <a:latin typeface="Calibri" pitchFamily="34" charset="0"/>
                <a:ea typeface="Calibri" pitchFamily="34" charset="-122"/>
                <a:cs typeface="Calibri" pitchFamily="34" charset="-120"/>
              </a:rPr>
              <a:t>Transactional</a:t>
            </a:r>
            <a:endParaRPr lang="en-US" sz="950" dirty="0"/>
          </a:p>
        </p:txBody>
      </p:sp>
      <p:sp>
        <p:nvSpPr>
          <p:cNvPr id="67" name="Text 65"/>
          <p:cNvSpPr/>
          <p:nvPr/>
        </p:nvSpPr>
        <p:spPr>
          <a:xfrm>
            <a:off x="7589520" y="4389120"/>
            <a:ext cx="1554480" cy="237744"/>
          </a:xfrm>
          <a:prstGeom prst="rect">
            <a:avLst/>
          </a:prstGeom>
          <a:noFill/>
          <a:ln/>
        </p:spPr>
        <p:txBody>
          <a:bodyPr wrap="square" lIns="0" tIns="0" rIns="0" bIns="0" rtlCol="0" anchor="ctr"/>
          <a:lstStyle/>
          <a:p>
            <a:pPr marL="0" indent="0">
              <a:buNone/>
            </a:pPr>
            <a:r>
              <a:rPr lang="en-US" sz="950" dirty="0">
                <a:solidFill>
                  <a:srgbClr val="E67E00"/>
                </a:solidFill>
                <a:latin typeface="Calibri" pitchFamily="34" charset="0"/>
                <a:ea typeface="Calibri" pitchFamily="34" charset="-122"/>
                <a:cs typeface="Calibri" pitchFamily="34" charset="-120"/>
              </a:rPr>
              <a:t>★★★☆☆</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A1A2E"/>
          </a:solidFill>
          <a:ln w="12700">
            <a:solidFill>
              <a:srgbClr val="1A1A2E"/>
            </a:solidFill>
            <a:prstDash val="solid"/>
          </a:ln>
        </p:spPr>
      </p:sp>
      <p:sp>
        <p:nvSpPr>
          <p:cNvPr id="3" name="Shape 1"/>
          <p:cNvSpPr/>
          <p:nvPr/>
        </p:nvSpPr>
        <p:spPr>
          <a:xfrm>
            <a:off x="0" y="0"/>
            <a:ext cx="109728" cy="5143500"/>
          </a:xfrm>
          <a:prstGeom prst="rect">
            <a:avLst/>
          </a:prstGeom>
          <a:solidFill>
            <a:srgbClr val="E94560"/>
          </a:solidFill>
          <a:ln w="12700">
            <a:solidFill>
              <a:srgbClr val="E94560"/>
            </a:solidFill>
            <a:prstDash val="solid"/>
          </a:ln>
        </p:spPr>
      </p:sp>
      <p:sp>
        <p:nvSpPr>
          <p:cNvPr id="4" name="Text 2"/>
          <p:cNvSpPr/>
          <p:nvPr/>
        </p:nvSpPr>
        <p:spPr>
          <a:xfrm>
            <a:off x="274320" y="73152"/>
            <a:ext cx="8595360" cy="384048"/>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Key Issues Found</a:t>
            </a:r>
            <a:endParaRPr lang="en-US" sz="1700" dirty="0"/>
          </a:p>
        </p:txBody>
      </p:sp>
      <p:sp>
        <p:nvSpPr>
          <p:cNvPr id="5" name="Shape 3"/>
          <p:cNvSpPr/>
          <p:nvPr/>
        </p:nvSpPr>
        <p:spPr>
          <a:xfrm>
            <a:off x="0" y="4892040"/>
            <a:ext cx="9144000" cy="251460"/>
          </a:xfrm>
          <a:prstGeom prst="rect">
            <a:avLst/>
          </a:prstGeom>
          <a:solidFill>
            <a:srgbClr val="1A1A2E"/>
          </a:solidFill>
          <a:ln w="12700">
            <a:solidFill>
              <a:srgbClr val="1A1A2E"/>
            </a:solidFill>
            <a:prstDash val="solid"/>
          </a:ln>
        </p:spPr>
      </p:sp>
      <p:sp>
        <p:nvSpPr>
          <p:cNvPr id="6" name="Text 4"/>
          <p:cNvSpPr/>
          <p:nvPr/>
        </p:nvSpPr>
        <p:spPr>
          <a:xfrm>
            <a:off x="182880" y="4892040"/>
            <a:ext cx="8778240" cy="25146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Snitch.com — SEO Strategy Report 2026  |  India B2C</a:t>
            </a:r>
            <a:endParaRPr lang="en-US" sz="900" dirty="0"/>
          </a:p>
        </p:txBody>
      </p:sp>
      <p:sp>
        <p:nvSpPr>
          <p:cNvPr id="7" name="Shape 5"/>
          <p:cNvSpPr/>
          <p:nvPr/>
        </p:nvSpPr>
        <p:spPr>
          <a:xfrm>
            <a:off x="201168" y="640080"/>
            <a:ext cx="4251960" cy="1261872"/>
          </a:xfrm>
          <a:prstGeom prst="rect">
            <a:avLst/>
          </a:prstGeom>
          <a:solidFill>
            <a:srgbClr val="FEE2E2"/>
          </a:solidFill>
          <a:ln w="6350">
            <a:solidFill>
              <a:srgbClr val="D0D5DD"/>
            </a:solidFill>
            <a:prstDash val="solid"/>
          </a:ln>
          <a:effectLst>
            <a:outerShdw blurRad="63500" dist="25400" dir="8100000" algn="bl" rotWithShape="0">
              <a:srgbClr val="000000">
                <a:alpha val="10000"/>
              </a:srgbClr>
            </a:outerShdw>
          </a:effectLst>
        </p:spPr>
      </p:sp>
      <p:sp>
        <p:nvSpPr>
          <p:cNvPr id="8" name="Shape 6"/>
          <p:cNvSpPr/>
          <p:nvPr/>
        </p:nvSpPr>
        <p:spPr>
          <a:xfrm>
            <a:off x="310896" y="731520"/>
            <a:ext cx="411480" cy="411480"/>
          </a:xfrm>
          <a:prstGeom prst="ellipse">
            <a:avLst/>
          </a:prstGeom>
          <a:solidFill>
            <a:srgbClr val="E94560"/>
          </a:solidFill>
          <a:ln w="12700">
            <a:solidFill>
              <a:srgbClr val="E94560"/>
            </a:solidFill>
            <a:prstDash val="solid"/>
          </a:ln>
        </p:spPr>
      </p:sp>
      <p:sp>
        <p:nvSpPr>
          <p:cNvPr id="9" name="Text 7"/>
          <p:cNvSpPr/>
          <p:nvPr/>
        </p:nvSpPr>
        <p:spPr>
          <a:xfrm>
            <a:off x="310896" y="731520"/>
            <a:ext cx="41148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sp>
        <p:nvSpPr>
          <p:cNvPr id="10" name="Text 8"/>
          <p:cNvSpPr/>
          <p:nvPr/>
        </p:nvSpPr>
        <p:spPr>
          <a:xfrm>
            <a:off x="822960" y="749808"/>
            <a:ext cx="3474720" cy="292608"/>
          </a:xfrm>
          <a:prstGeom prst="rect">
            <a:avLst/>
          </a:prstGeom>
          <a:noFill/>
          <a:ln/>
        </p:spPr>
        <p:txBody>
          <a:bodyPr wrap="square" lIns="0" tIns="0" rIns="0" bIns="0" rtlCol="0" anchor="ctr"/>
          <a:lstStyle/>
          <a:p>
            <a:pPr marL="0" indent="0">
              <a:buNone/>
            </a:pPr>
            <a:r>
              <a:rPr lang="en-US" sz="1100" b="1" dirty="0">
                <a:solidFill>
                  <a:srgbClr val="1A1A2E"/>
                </a:solidFill>
                <a:latin typeface="Calibri" pitchFamily="34" charset="0"/>
                <a:ea typeface="Calibri" pitchFamily="34" charset="-122"/>
                <a:cs typeface="Calibri" pitchFamily="34" charset="-120"/>
              </a:rPr>
              <a:t>Slow Mobile Speed</a:t>
            </a:r>
            <a:endParaRPr lang="en-US" sz="1100" dirty="0"/>
          </a:p>
        </p:txBody>
      </p:sp>
      <p:sp>
        <p:nvSpPr>
          <p:cNvPr id="11" name="Text 9"/>
          <p:cNvSpPr/>
          <p:nvPr/>
        </p:nvSpPr>
        <p:spPr>
          <a:xfrm>
            <a:off x="822960" y="1051560"/>
            <a:ext cx="1371600" cy="182880"/>
          </a:xfrm>
          <a:prstGeom prst="rect">
            <a:avLst/>
          </a:prstGeom>
          <a:noFill/>
          <a:ln/>
        </p:spPr>
        <p:txBody>
          <a:bodyPr wrap="square" lIns="0" tIns="0" rIns="0" bIns="0" rtlCol="0" anchor="ctr"/>
          <a:lstStyle/>
          <a:p>
            <a:pPr marL="0" indent="0">
              <a:buNone/>
            </a:pPr>
            <a:r>
              <a:rPr lang="en-US" sz="750" b="1" kern="0" spc="100" dirty="0">
                <a:solidFill>
                  <a:srgbClr val="E94560"/>
                </a:solidFill>
                <a:latin typeface="Calibri" pitchFamily="34" charset="0"/>
                <a:ea typeface="Calibri" pitchFamily="34" charset="-122"/>
                <a:cs typeface="Calibri" pitchFamily="34" charset="-120"/>
              </a:rPr>
              <a:t>HIGH PRIORITY</a:t>
            </a:r>
            <a:endParaRPr lang="en-US" sz="750" dirty="0"/>
          </a:p>
        </p:txBody>
      </p:sp>
      <p:sp>
        <p:nvSpPr>
          <p:cNvPr id="12" name="Text 10"/>
          <p:cNvSpPr/>
          <p:nvPr/>
        </p:nvSpPr>
        <p:spPr>
          <a:xfrm>
            <a:off x="338328" y="1298448"/>
            <a:ext cx="3977640" cy="548640"/>
          </a:xfrm>
          <a:prstGeom prst="rect">
            <a:avLst/>
          </a:prstGeom>
          <a:noFill/>
          <a:ln/>
        </p:spPr>
        <p:txBody>
          <a:bodyPr wrap="square" lIns="0" tIns="0" rIns="0" bIns="0" rtlCol="0" anchor="ctr"/>
          <a:lstStyle/>
          <a:p>
            <a:pPr marL="0" indent="0">
              <a:buNone/>
            </a:pPr>
            <a:r>
              <a:rPr lang="en-US" sz="950" dirty="0">
                <a:solidFill>
                  <a:srgbClr val="2D2D2D"/>
                </a:solidFill>
                <a:latin typeface="Calibri" pitchFamily="34" charset="0"/>
                <a:ea typeface="Calibri" pitchFamily="34" charset="-122"/>
                <a:cs typeface="Calibri" pitchFamily="34" charset="-120"/>
              </a:rPr>
              <a:t>Pages take 3–5 seconds to load on 4G. Google penalises slow mobile sites in rankings.</a:t>
            </a:r>
            <a:endParaRPr lang="en-US" sz="950" dirty="0"/>
          </a:p>
        </p:txBody>
      </p:sp>
      <p:sp>
        <p:nvSpPr>
          <p:cNvPr id="13" name="Shape 11"/>
          <p:cNvSpPr/>
          <p:nvPr/>
        </p:nvSpPr>
        <p:spPr>
          <a:xfrm>
            <a:off x="4681728" y="640080"/>
            <a:ext cx="4251960" cy="1261872"/>
          </a:xfrm>
          <a:prstGeom prst="rect">
            <a:avLst/>
          </a:prstGeom>
          <a:solidFill>
            <a:srgbClr val="FEE2E2"/>
          </a:solidFill>
          <a:ln w="6350">
            <a:solidFill>
              <a:srgbClr val="D0D5DD"/>
            </a:solidFill>
            <a:prstDash val="solid"/>
          </a:ln>
          <a:effectLst>
            <a:outerShdw blurRad="63500" dist="25400" dir="8100000" algn="bl" rotWithShape="0">
              <a:srgbClr val="000000">
                <a:alpha val="10000"/>
              </a:srgbClr>
            </a:outerShdw>
          </a:effectLst>
        </p:spPr>
      </p:sp>
      <p:sp>
        <p:nvSpPr>
          <p:cNvPr id="14" name="Shape 12"/>
          <p:cNvSpPr/>
          <p:nvPr/>
        </p:nvSpPr>
        <p:spPr>
          <a:xfrm>
            <a:off x="4791456" y="731520"/>
            <a:ext cx="411480" cy="411480"/>
          </a:xfrm>
          <a:prstGeom prst="ellipse">
            <a:avLst/>
          </a:prstGeom>
          <a:solidFill>
            <a:srgbClr val="E94560"/>
          </a:solidFill>
          <a:ln w="12700">
            <a:solidFill>
              <a:srgbClr val="E94560"/>
            </a:solidFill>
            <a:prstDash val="solid"/>
          </a:ln>
        </p:spPr>
      </p:sp>
      <p:sp>
        <p:nvSpPr>
          <p:cNvPr id="15" name="Text 13"/>
          <p:cNvSpPr/>
          <p:nvPr/>
        </p:nvSpPr>
        <p:spPr>
          <a:xfrm>
            <a:off x="4791456" y="731520"/>
            <a:ext cx="41148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
        <p:nvSpPr>
          <p:cNvPr id="16" name="Text 14"/>
          <p:cNvSpPr/>
          <p:nvPr/>
        </p:nvSpPr>
        <p:spPr>
          <a:xfrm>
            <a:off x="5303520" y="749808"/>
            <a:ext cx="3474720" cy="292608"/>
          </a:xfrm>
          <a:prstGeom prst="rect">
            <a:avLst/>
          </a:prstGeom>
          <a:noFill/>
          <a:ln/>
        </p:spPr>
        <p:txBody>
          <a:bodyPr wrap="square" lIns="0" tIns="0" rIns="0" bIns="0" rtlCol="0" anchor="ctr"/>
          <a:lstStyle/>
          <a:p>
            <a:pPr marL="0" indent="0">
              <a:buNone/>
            </a:pPr>
            <a:r>
              <a:rPr lang="en-US" sz="1100" b="1" dirty="0">
                <a:solidFill>
                  <a:srgbClr val="1A1A2E"/>
                </a:solidFill>
                <a:latin typeface="Calibri" pitchFamily="34" charset="0"/>
                <a:ea typeface="Calibri" pitchFamily="34" charset="-122"/>
                <a:cs typeface="Calibri" pitchFamily="34" charset="-120"/>
              </a:rPr>
              <a:t>No Content on Product Pages</a:t>
            </a:r>
            <a:endParaRPr lang="en-US" sz="1100" dirty="0"/>
          </a:p>
        </p:txBody>
      </p:sp>
      <p:sp>
        <p:nvSpPr>
          <p:cNvPr id="17" name="Text 15"/>
          <p:cNvSpPr/>
          <p:nvPr/>
        </p:nvSpPr>
        <p:spPr>
          <a:xfrm>
            <a:off x="5303520" y="1051560"/>
            <a:ext cx="1371600" cy="182880"/>
          </a:xfrm>
          <a:prstGeom prst="rect">
            <a:avLst/>
          </a:prstGeom>
          <a:noFill/>
          <a:ln/>
        </p:spPr>
        <p:txBody>
          <a:bodyPr wrap="square" lIns="0" tIns="0" rIns="0" bIns="0" rtlCol="0" anchor="ctr"/>
          <a:lstStyle/>
          <a:p>
            <a:pPr marL="0" indent="0">
              <a:buNone/>
            </a:pPr>
            <a:r>
              <a:rPr lang="en-US" sz="750" b="1" kern="0" spc="100" dirty="0">
                <a:solidFill>
                  <a:srgbClr val="E94560"/>
                </a:solidFill>
                <a:latin typeface="Calibri" pitchFamily="34" charset="0"/>
                <a:ea typeface="Calibri" pitchFamily="34" charset="-122"/>
                <a:cs typeface="Calibri" pitchFamily="34" charset="-120"/>
              </a:rPr>
              <a:t>HIGH PRIORITY</a:t>
            </a:r>
            <a:endParaRPr lang="en-US" sz="750" dirty="0"/>
          </a:p>
        </p:txBody>
      </p:sp>
      <p:sp>
        <p:nvSpPr>
          <p:cNvPr id="18" name="Text 16"/>
          <p:cNvSpPr/>
          <p:nvPr/>
        </p:nvSpPr>
        <p:spPr>
          <a:xfrm>
            <a:off x="4818888" y="1298448"/>
            <a:ext cx="3977640" cy="548640"/>
          </a:xfrm>
          <a:prstGeom prst="rect">
            <a:avLst/>
          </a:prstGeom>
          <a:noFill/>
          <a:ln/>
        </p:spPr>
        <p:txBody>
          <a:bodyPr wrap="square" lIns="0" tIns="0" rIns="0" bIns="0" rtlCol="0" anchor="ctr"/>
          <a:lstStyle/>
          <a:p>
            <a:pPr marL="0" indent="0">
              <a:buNone/>
            </a:pPr>
            <a:r>
              <a:rPr lang="en-US" sz="950" dirty="0">
                <a:solidFill>
                  <a:srgbClr val="2D2D2D"/>
                </a:solidFill>
                <a:latin typeface="Calibri" pitchFamily="34" charset="0"/>
                <a:ea typeface="Calibri" pitchFamily="34" charset="-122"/>
                <a:cs typeface="Calibri" pitchFamily="34" charset="-120"/>
              </a:rPr>
              <a:t>The jeans category page has zero text below the product grid. Google needs text to understand what the page is about.</a:t>
            </a:r>
            <a:endParaRPr lang="en-US" sz="950" dirty="0"/>
          </a:p>
        </p:txBody>
      </p:sp>
      <p:sp>
        <p:nvSpPr>
          <p:cNvPr id="19" name="Shape 17"/>
          <p:cNvSpPr/>
          <p:nvPr/>
        </p:nvSpPr>
        <p:spPr>
          <a:xfrm>
            <a:off x="201168" y="2057400"/>
            <a:ext cx="4251960" cy="1261872"/>
          </a:xfrm>
          <a:prstGeom prst="rect">
            <a:avLst/>
          </a:prstGeom>
          <a:solidFill>
            <a:srgbClr val="FEE2E2"/>
          </a:solidFill>
          <a:ln w="6350">
            <a:solidFill>
              <a:srgbClr val="D0D5DD"/>
            </a:solidFill>
            <a:prstDash val="solid"/>
          </a:ln>
          <a:effectLst>
            <a:outerShdw blurRad="63500" dist="25400" dir="8100000" algn="bl" rotWithShape="0">
              <a:srgbClr val="000000">
                <a:alpha val="10000"/>
              </a:srgbClr>
            </a:outerShdw>
          </a:effectLst>
        </p:spPr>
      </p:sp>
      <p:sp>
        <p:nvSpPr>
          <p:cNvPr id="20" name="Shape 18"/>
          <p:cNvSpPr/>
          <p:nvPr/>
        </p:nvSpPr>
        <p:spPr>
          <a:xfrm>
            <a:off x="310896" y="2148840"/>
            <a:ext cx="411480" cy="411480"/>
          </a:xfrm>
          <a:prstGeom prst="ellipse">
            <a:avLst/>
          </a:prstGeom>
          <a:solidFill>
            <a:srgbClr val="E94560"/>
          </a:solidFill>
          <a:ln w="12700">
            <a:solidFill>
              <a:srgbClr val="E94560"/>
            </a:solidFill>
            <a:prstDash val="solid"/>
          </a:ln>
        </p:spPr>
      </p:sp>
      <p:sp>
        <p:nvSpPr>
          <p:cNvPr id="21" name="Text 19"/>
          <p:cNvSpPr/>
          <p:nvPr/>
        </p:nvSpPr>
        <p:spPr>
          <a:xfrm>
            <a:off x="310896" y="2148840"/>
            <a:ext cx="41148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03</a:t>
            </a:r>
            <a:endParaRPr lang="en-US" sz="1100" dirty="0"/>
          </a:p>
        </p:txBody>
      </p:sp>
      <p:sp>
        <p:nvSpPr>
          <p:cNvPr id="22" name="Text 20"/>
          <p:cNvSpPr/>
          <p:nvPr/>
        </p:nvSpPr>
        <p:spPr>
          <a:xfrm>
            <a:off x="822960" y="2167128"/>
            <a:ext cx="3474720" cy="292608"/>
          </a:xfrm>
          <a:prstGeom prst="rect">
            <a:avLst/>
          </a:prstGeom>
          <a:noFill/>
          <a:ln/>
        </p:spPr>
        <p:txBody>
          <a:bodyPr wrap="square" lIns="0" tIns="0" rIns="0" bIns="0" rtlCol="0" anchor="ctr"/>
          <a:lstStyle/>
          <a:p>
            <a:pPr marL="0" indent="0">
              <a:buNone/>
            </a:pPr>
            <a:r>
              <a:rPr lang="en-US" sz="1100" b="1" dirty="0">
                <a:solidFill>
                  <a:srgbClr val="1A1A2E"/>
                </a:solidFill>
                <a:latin typeface="Calibri" pitchFamily="34" charset="0"/>
                <a:ea typeface="Calibri" pitchFamily="34" charset="-122"/>
                <a:cs typeface="Calibri" pitchFamily="34" charset="-120"/>
              </a:rPr>
              <a:t>Weak Title &amp; Headings</a:t>
            </a:r>
            <a:endParaRPr lang="en-US" sz="1100" dirty="0"/>
          </a:p>
        </p:txBody>
      </p:sp>
      <p:sp>
        <p:nvSpPr>
          <p:cNvPr id="23" name="Text 21"/>
          <p:cNvSpPr/>
          <p:nvPr/>
        </p:nvSpPr>
        <p:spPr>
          <a:xfrm>
            <a:off x="822960" y="2468880"/>
            <a:ext cx="1371600" cy="182880"/>
          </a:xfrm>
          <a:prstGeom prst="rect">
            <a:avLst/>
          </a:prstGeom>
          <a:noFill/>
          <a:ln/>
        </p:spPr>
        <p:txBody>
          <a:bodyPr wrap="square" lIns="0" tIns="0" rIns="0" bIns="0" rtlCol="0" anchor="ctr"/>
          <a:lstStyle/>
          <a:p>
            <a:pPr marL="0" indent="0">
              <a:buNone/>
            </a:pPr>
            <a:r>
              <a:rPr lang="en-US" sz="750" b="1" kern="0" spc="100" dirty="0">
                <a:solidFill>
                  <a:srgbClr val="E94560"/>
                </a:solidFill>
                <a:latin typeface="Calibri" pitchFamily="34" charset="0"/>
                <a:ea typeface="Calibri" pitchFamily="34" charset="-122"/>
                <a:cs typeface="Calibri" pitchFamily="34" charset="-120"/>
              </a:rPr>
              <a:t>HIGH PRIORITY</a:t>
            </a:r>
            <a:endParaRPr lang="en-US" sz="750" dirty="0"/>
          </a:p>
        </p:txBody>
      </p:sp>
      <p:sp>
        <p:nvSpPr>
          <p:cNvPr id="24" name="Text 22"/>
          <p:cNvSpPr/>
          <p:nvPr/>
        </p:nvSpPr>
        <p:spPr>
          <a:xfrm>
            <a:off x="338328" y="2715768"/>
            <a:ext cx="3977640" cy="548640"/>
          </a:xfrm>
          <a:prstGeom prst="rect">
            <a:avLst/>
          </a:prstGeom>
          <a:noFill/>
          <a:ln/>
        </p:spPr>
        <p:txBody>
          <a:bodyPr wrap="square" lIns="0" tIns="0" rIns="0" bIns="0" rtlCol="0" anchor="ctr"/>
          <a:lstStyle/>
          <a:p>
            <a:pPr marL="0" indent="0">
              <a:buNone/>
            </a:pPr>
            <a:r>
              <a:rPr lang="en-US" sz="950" dirty="0">
                <a:solidFill>
                  <a:srgbClr val="2D2D2D"/>
                </a:solidFill>
                <a:latin typeface="Calibri" pitchFamily="34" charset="0"/>
                <a:ea typeface="Calibri" pitchFamily="34" charset="-122"/>
                <a:cs typeface="Calibri" pitchFamily="34" charset="-120"/>
              </a:rPr>
              <a:t>The H1 tag just says 'JEANS'. It should say something like 'Men's Baggy, Straight &amp; Loose Fit Jeans Online'.</a:t>
            </a:r>
            <a:endParaRPr lang="en-US" sz="950" dirty="0"/>
          </a:p>
        </p:txBody>
      </p:sp>
      <p:sp>
        <p:nvSpPr>
          <p:cNvPr id="25" name="Shape 23"/>
          <p:cNvSpPr/>
          <p:nvPr/>
        </p:nvSpPr>
        <p:spPr>
          <a:xfrm>
            <a:off x="4681728" y="2057400"/>
            <a:ext cx="4251960" cy="1261872"/>
          </a:xfrm>
          <a:prstGeom prst="rect">
            <a:avLst/>
          </a:prstGeom>
          <a:solidFill>
            <a:srgbClr val="FEF3C7"/>
          </a:solidFill>
          <a:ln w="6350">
            <a:solidFill>
              <a:srgbClr val="D0D5DD"/>
            </a:solidFill>
            <a:prstDash val="solid"/>
          </a:ln>
          <a:effectLst>
            <a:outerShdw blurRad="63500" dist="25400" dir="8100000" algn="bl" rotWithShape="0">
              <a:srgbClr val="000000">
                <a:alpha val="10000"/>
              </a:srgbClr>
            </a:outerShdw>
          </a:effectLst>
        </p:spPr>
      </p:sp>
      <p:sp>
        <p:nvSpPr>
          <p:cNvPr id="26" name="Shape 24"/>
          <p:cNvSpPr/>
          <p:nvPr/>
        </p:nvSpPr>
        <p:spPr>
          <a:xfrm>
            <a:off x="4791456" y="2148840"/>
            <a:ext cx="411480" cy="411480"/>
          </a:xfrm>
          <a:prstGeom prst="ellipse">
            <a:avLst/>
          </a:prstGeom>
          <a:solidFill>
            <a:srgbClr val="F59E0B"/>
          </a:solidFill>
          <a:ln w="12700">
            <a:solidFill>
              <a:srgbClr val="F59E0B"/>
            </a:solidFill>
            <a:prstDash val="solid"/>
          </a:ln>
        </p:spPr>
      </p:sp>
      <p:sp>
        <p:nvSpPr>
          <p:cNvPr id="27" name="Text 25"/>
          <p:cNvSpPr/>
          <p:nvPr/>
        </p:nvSpPr>
        <p:spPr>
          <a:xfrm>
            <a:off x="4791456" y="2148840"/>
            <a:ext cx="41148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04</a:t>
            </a:r>
            <a:endParaRPr lang="en-US" sz="1100" dirty="0"/>
          </a:p>
        </p:txBody>
      </p:sp>
      <p:sp>
        <p:nvSpPr>
          <p:cNvPr id="28" name="Text 26"/>
          <p:cNvSpPr/>
          <p:nvPr/>
        </p:nvSpPr>
        <p:spPr>
          <a:xfrm>
            <a:off x="5303520" y="2167128"/>
            <a:ext cx="3474720" cy="292608"/>
          </a:xfrm>
          <a:prstGeom prst="rect">
            <a:avLst/>
          </a:prstGeom>
          <a:noFill/>
          <a:ln/>
        </p:spPr>
        <p:txBody>
          <a:bodyPr wrap="square" lIns="0" tIns="0" rIns="0" bIns="0" rtlCol="0" anchor="ctr"/>
          <a:lstStyle/>
          <a:p>
            <a:pPr marL="0" indent="0">
              <a:buNone/>
            </a:pPr>
            <a:r>
              <a:rPr lang="en-US" sz="1100" b="1" dirty="0">
                <a:solidFill>
                  <a:srgbClr val="1A1A2E"/>
                </a:solidFill>
                <a:latin typeface="Calibri" pitchFamily="34" charset="0"/>
                <a:ea typeface="Calibri" pitchFamily="34" charset="-122"/>
                <a:cs typeface="Calibri" pitchFamily="34" charset="-120"/>
              </a:rPr>
              <a:t>Messy URL Structure</a:t>
            </a:r>
            <a:endParaRPr lang="en-US" sz="1100" dirty="0"/>
          </a:p>
        </p:txBody>
      </p:sp>
      <p:sp>
        <p:nvSpPr>
          <p:cNvPr id="29" name="Text 27"/>
          <p:cNvSpPr/>
          <p:nvPr/>
        </p:nvSpPr>
        <p:spPr>
          <a:xfrm>
            <a:off x="5303520" y="2468880"/>
            <a:ext cx="1371600" cy="182880"/>
          </a:xfrm>
          <a:prstGeom prst="rect">
            <a:avLst/>
          </a:prstGeom>
          <a:noFill/>
          <a:ln/>
        </p:spPr>
        <p:txBody>
          <a:bodyPr wrap="square" lIns="0" tIns="0" rIns="0" bIns="0" rtlCol="0" anchor="ctr"/>
          <a:lstStyle/>
          <a:p>
            <a:pPr marL="0" indent="0">
              <a:buNone/>
            </a:pPr>
            <a:r>
              <a:rPr lang="en-US" sz="750" b="1" kern="0" spc="100" dirty="0">
                <a:solidFill>
                  <a:srgbClr val="B45309"/>
                </a:solidFill>
                <a:latin typeface="Calibri" pitchFamily="34" charset="0"/>
                <a:ea typeface="Calibri" pitchFamily="34" charset="-122"/>
                <a:cs typeface="Calibri" pitchFamily="34" charset="-120"/>
              </a:rPr>
              <a:t>MEDIUM PRIORITY</a:t>
            </a:r>
            <a:endParaRPr lang="en-US" sz="750" dirty="0"/>
          </a:p>
        </p:txBody>
      </p:sp>
      <p:sp>
        <p:nvSpPr>
          <p:cNvPr id="30" name="Text 28"/>
          <p:cNvSpPr/>
          <p:nvPr/>
        </p:nvSpPr>
        <p:spPr>
          <a:xfrm>
            <a:off x="4818888" y="2715768"/>
            <a:ext cx="3977640" cy="548640"/>
          </a:xfrm>
          <a:prstGeom prst="rect">
            <a:avLst/>
          </a:prstGeom>
          <a:noFill/>
          <a:ln/>
        </p:spPr>
        <p:txBody>
          <a:bodyPr wrap="square" lIns="0" tIns="0" rIns="0" bIns="0" rtlCol="0" anchor="ctr"/>
          <a:lstStyle/>
          <a:p>
            <a:pPr marL="0" indent="0">
              <a:buNone/>
            </a:pPr>
            <a:r>
              <a:rPr lang="en-US" sz="950" dirty="0">
                <a:solidFill>
                  <a:srgbClr val="2D2D2D"/>
                </a:solidFill>
                <a:latin typeface="Calibri" pitchFamily="34" charset="0"/>
                <a:ea typeface="Calibri" pitchFamily="34" charset="-122"/>
                <a:cs typeface="Calibri" pitchFamily="34" charset="-120"/>
              </a:rPr>
              <a:t>Filter pages like /collections/jeans?fit=baggy have ugly URLs. Clean URLs like /collections/baggy-jeans-men rank better.</a:t>
            </a:r>
            <a:endParaRPr lang="en-US" sz="950" dirty="0"/>
          </a:p>
        </p:txBody>
      </p:sp>
      <p:sp>
        <p:nvSpPr>
          <p:cNvPr id="31" name="Shape 29"/>
          <p:cNvSpPr/>
          <p:nvPr/>
        </p:nvSpPr>
        <p:spPr>
          <a:xfrm>
            <a:off x="201168" y="3474720"/>
            <a:ext cx="4251960" cy="1261872"/>
          </a:xfrm>
          <a:prstGeom prst="rect">
            <a:avLst/>
          </a:prstGeom>
          <a:solidFill>
            <a:srgbClr val="FEF3C7"/>
          </a:solidFill>
          <a:ln w="6350">
            <a:solidFill>
              <a:srgbClr val="D0D5DD"/>
            </a:solidFill>
            <a:prstDash val="solid"/>
          </a:ln>
          <a:effectLst>
            <a:outerShdw blurRad="63500" dist="25400" dir="8100000" algn="bl" rotWithShape="0">
              <a:srgbClr val="000000">
                <a:alpha val="10000"/>
              </a:srgbClr>
            </a:outerShdw>
          </a:effectLst>
        </p:spPr>
      </p:sp>
      <p:sp>
        <p:nvSpPr>
          <p:cNvPr id="32" name="Shape 30"/>
          <p:cNvSpPr/>
          <p:nvPr/>
        </p:nvSpPr>
        <p:spPr>
          <a:xfrm>
            <a:off x="310896" y="3566160"/>
            <a:ext cx="411480" cy="411480"/>
          </a:xfrm>
          <a:prstGeom prst="ellipse">
            <a:avLst/>
          </a:prstGeom>
          <a:solidFill>
            <a:srgbClr val="F59E0B"/>
          </a:solidFill>
          <a:ln w="12700">
            <a:solidFill>
              <a:srgbClr val="F59E0B"/>
            </a:solidFill>
            <a:prstDash val="solid"/>
          </a:ln>
        </p:spPr>
      </p:sp>
      <p:sp>
        <p:nvSpPr>
          <p:cNvPr id="33" name="Text 31"/>
          <p:cNvSpPr/>
          <p:nvPr/>
        </p:nvSpPr>
        <p:spPr>
          <a:xfrm>
            <a:off x="310896" y="3566160"/>
            <a:ext cx="41148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05</a:t>
            </a:r>
            <a:endParaRPr lang="en-US" sz="1100" dirty="0"/>
          </a:p>
        </p:txBody>
      </p:sp>
      <p:sp>
        <p:nvSpPr>
          <p:cNvPr id="34" name="Text 32"/>
          <p:cNvSpPr/>
          <p:nvPr/>
        </p:nvSpPr>
        <p:spPr>
          <a:xfrm>
            <a:off x="822960" y="3584448"/>
            <a:ext cx="3474720" cy="292608"/>
          </a:xfrm>
          <a:prstGeom prst="rect">
            <a:avLst/>
          </a:prstGeom>
          <a:noFill/>
          <a:ln/>
        </p:spPr>
        <p:txBody>
          <a:bodyPr wrap="square" lIns="0" tIns="0" rIns="0" bIns="0" rtlCol="0" anchor="ctr"/>
          <a:lstStyle/>
          <a:p>
            <a:pPr marL="0" indent="0">
              <a:buNone/>
            </a:pPr>
            <a:r>
              <a:rPr lang="en-US" sz="1100" b="1" dirty="0">
                <a:solidFill>
                  <a:srgbClr val="1A1A2E"/>
                </a:solidFill>
                <a:latin typeface="Calibri" pitchFamily="34" charset="0"/>
                <a:ea typeface="Calibri" pitchFamily="34" charset="-122"/>
                <a:cs typeface="Calibri" pitchFamily="34" charset="-120"/>
              </a:rPr>
              <a:t>Low Domain Authority</a:t>
            </a:r>
            <a:endParaRPr lang="en-US" sz="1100" dirty="0"/>
          </a:p>
        </p:txBody>
      </p:sp>
      <p:sp>
        <p:nvSpPr>
          <p:cNvPr id="35" name="Text 33"/>
          <p:cNvSpPr/>
          <p:nvPr/>
        </p:nvSpPr>
        <p:spPr>
          <a:xfrm>
            <a:off x="822960" y="3886200"/>
            <a:ext cx="1371600" cy="182880"/>
          </a:xfrm>
          <a:prstGeom prst="rect">
            <a:avLst/>
          </a:prstGeom>
          <a:noFill/>
          <a:ln/>
        </p:spPr>
        <p:txBody>
          <a:bodyPr wrap="square" lIns="0" tIns="0" rIns="0" bIns="0" rtlCol="0" anchor="ctr"/>
          <a:lstStyle/>
          <a:p>
            <a:pPr marL="0" indent="0">
              <a:buNone/>
            </a:pPr>
            <a:r>
              <a:rPr lang="en-US" sz="750" b="1" kern="0" spc="100" dirty="0">
                <a:solidFill>
                  <a:srgbClr val="B45309"/>
                </a:solidFill>
                <a:latin typeface="Calibri" pitchFamily="34" charset="0"/>
                <a:ea typeface="Calibri" pitchFamily="34" charset="-122"/>
                <a:cs typeface="Calibri" pitchFamily="34" charset="-120"/>
              </a:rPr>
              <a:t>MEDIUM PRIORITY</a:t>
            </a:r>
            <a:endParaRPr lang="en-US" sz="750" dirty="0"/>
          </a:p>
        </p:txBody>
      </p:sp>
      <p:sp>
        <p:nvSpPr>
          <p:cNvPr id="36" name="Text 34"/>
          <p:cNvSpPr/>
          <p:nvPr/>
        </p:nvSpPr>
        <p:spPr>
          <a:xfrm>
            <a:off x="338328" y="4133088"/>
            <a:ext cx="3977640" cy="548640"/>
          </a:xfrm>
          <a:prstGeom prst="rect">
            <a:avLst/>
          </a:prstGeom>
          <a:noFill/>
          <a:ln/>
        </p:spPr>
        <p:txBody>
          <a:bodyPr wrap="square" lIns="0" tIns="0" rIns="0" bIns="0" rtlCol="0" anchor="ctr"/>
          <a:lstStyle/>
          <a:p>
            <a:pPr marL="0" indent="0">
              <a:buNone/>
            </a:pPr>
            <a:r>
              <a:rPr lang="en-US" sz="950" dirty="0">
                <a:solidFill>
                  <a:srgbClr val="2D2D2D"/>
                </a:solidFill>
                <a:latin typeface="Calibri" pitchFamily="34" charset="0"/>
                <a:ea typeface="Calibri" pitchFamily="34" charset="-122"/>
                <a:cs typeface="Calibri" pitchFamily="34" charset="-120"/>
              </a:rPr>
              <a:t>Snitch scores 38/100. Competitors like Myntra score 90+. More quality backlinks are needed to improve this.</a:t>
            </a:r>
            <a:endParaRPr lang="en-US" sz="950" dirty="0"/>
          </a:p>
        </p:txBody>
      </p:sp>
      <p:sp>
        <p:nvSpPr>
          <p:cNvPr id="37" name="Shape 35"/>
          <p:cNvSpPr/>
          <p:nvPr/>
        </p:nvSpPr>
        <p:spPr>
          <a:xfrm>
            <a:off x="4681728" y="3474720"/>
            <a:ext cx="4251960" cy="1261872"/>
          </a:xfrm>
          <a:prstGeom prst="rect">
            <a:avLst/>
          </a:prstGeom>
          <a:solidFill>
            <a:srgbClr val="FEF3C7"/>
          </a:solidFill>
          <a:ln w="6350">
            <a:solidFill>
              <a:srgbClr val="D0D5DD"/>
            </a:solidFill>
            <a:prstDash val="solid"/>
          </a:ln>
          <a:effectLst>
            <a:outerShdw blurRad="63500" dist="25400" dir="8100000" algn="bl" rotWithShape="0">
              <a:srgbClr val="000000">
                <a:alpha val="10000"/>
              </a:srgbClr>
            </a:outerShdw>
          </a:effectLst>
        </p:spPr>
      </p:sp>
      <p:sp>
        <p:nvSpPr>
          <p:cNvPr id="38" name="Shape 36"/>
          <p:cNvSpPr/>
          <p:nvPr/>
        </p:nvSpPr>
        <p:spPr>
          <a:xfrm>
            <a:off x="4791456" y="3566160"/>
            <a:ext cx="411480" cy="411480"/>
          </a:xfrm>
          <a:prstGeom prst="ellipse">
            <a:avLst/>
          </a:prstGeom>
          <a:solidFill>
            <a:srgbClr val="F59E0B"/>
          </a:solidFill>
          <a:ln w="12700">
            <a:solidFill>
              <a:srgbClr val="F59E0B"/>
            </a:solidFill>
            <a:prstDash val="solid"/>
          </a:ln>
        </p:spPr>
      </p:sp>
      <p:sp>
        <p:nvSpPr>
          <p:cNvPr id="39" name="Text 37"/>
          <p:cNvSpPr/>
          <p:nvPr/>
        </p:nvSpPr>
        <p:spPr>
          <a:xfrm>
            <a:off x="4791456" y="3566160"/>
            <a:ext cx="41148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06</a:t>
            </a:r>
            <a:endParaRPr lang="en-US" sz="1100" dirty="0"/>
          </a:p>
        </p:txBody>
      </p:sp>
      <p:sp>
        <p:nvSpPr>
          <p:cNvPr id="40" name="Text 38"/>
          <p:cNvSpPr/>
          <p:nvPr/>
        </p:nvSpPr>
        <p:spPr>
          <a:xfrm>
            <a:off x="5303520" y="3584448"/>
            <a:ext cx="3474720" cy="292608"/>
          </a:xfrm>
          <a:prstGeom prst="rect">
            <a:avLst/>
          </a:prstGeom>
          <a:noFill/>
          <a:ln/>
        </p:spPr>
        <p:txBody>
          <a:bodyPr wrap="square" lIns="0" tIns="0" rIns="0" bIns="0" rtlCol="0" anchor="ctr"/>
          <a:lstStyle/>
          <a:p>
            <a:pPr marL="0" indent="0">
              <a:buNone/>
            </a:pPr>
            <a:r>
              <a:rPr lang="en-US" sz="1100" b="1" dirty="0">
                <a:solidFill>
                  <a:srgbClr val="1A1A2E"/>
                </a:solidFill>
                <a:latin typeface="Calibri" pitchFamily="34" charset="0"/>
                <a:ea typeface="Calibri" pitchFamily="34" charset="-122"/>
                <a:cs typeface="Calibri" pitchFamily="34" charset="-120"/>
              </a:rPr>
              <a:t>No FAQ or Schema Markup</a:t>
            </a:r>
            <a:endParaRPr lang="en-US" sz="1100" dirty="0"/>
          </a:p>
        </p:txBody>
      </p:sp>
      <p:sp>
        <p:nvSpPr>
          <p:cNvPr id="41" name="Text 39"/>
          <p:cNvSpPr/>
          <p:nvPr/>
        </p:nvSpPr>
        <p:spPr>
          <a:xfrm>
            <a:off x="5303520" y="3886200"/>
            <a:ext cx="1371600" cy="182880"/>
          </a:xfrm>
          <a:prstGeom prst="rect">
            <a:avLst/>
          </a:prstGeom>
          <a:noFill/>
          <a:ln/>
        </p:spPr>
        <p:txBody>
          <a:bodyPr wrap="square" lIns="0" tIns="0" rIns="0" bIns="0" rtlCol="0" anchor="ctr"/>
          <a:lstStyle/>
          <a:p>
            <a:pPr marL="0" indent="0">
              <a:buNone/>
            </a:pPr>
            <a:r>
              <a:rPr lang="en-US" sz="750" b="1" kern="0" spc="100" dirty="0">
                <a:solidFill>
                  <a:srgbClr val="B45309"/>
                </a:solidFill>
                <a:latin typeface="Calibri" pitchFamily="34" charset="0"/>
                <a:ea typeface="Calibri" pitchFamily="34" charset="-122"/>
                <a:cs typeface="Calibri" pitchFamily="34" charset="-120"/>
              </a:rPr>
              <a:t>MEDIUM PRIORITY</a:t>
            </a:r>
            <a:endParaRPr lang="en-US" sz="750" dirty="0"/>
          </a:p>
        </p:txBody>
      </p:sp>
      <p:sp>
        <p:nvSpPr>
          <p:cNvPr id="42" name="Text 40"/>
          <p:cNvSpPr/>
          <p:nvPr/>
        </p:nvSpPr>
        <p:spPr>
          <a:xfrm>
            <a:off x="4818888" y="4133088"/>
            <a:ext cx="3977640" cy="548640"/>
          </a:xfrm>
          <a:prstGeom prst="rect">
            <a:avLst/>
          </a:prstGeom>
          <a:noFill/>
          <a:ln/>
        </p:spPr>
        <p:txBody>
          <a:bodyPr wrap="square" lIns="0" tIns="0" rIns="0" bIns="0" rtlCol="0" anchor="ctr"/>
          <a:lstStyle/>
          <a:p>
            <a:pPr marL="0" indent="0">
              <a:buNone/>
            </a:pPr>
            <a:r>
              <a:rPr lang="en-US" sz="950" dirty="0">
                <a:solidFill>
                  <a:srgbClr val="2D2D2D"/>
                </a:solidFill>
                <a:latin typeface="Calibri" pitchFamily="34" charset="0"/>
                <a:ea typeface="Calibri" pitchFamily="34" charset="-122"/>
                <a:cs typeface="Calibri" pitchFamily="34" charset="-120"/>
              </a:rPr>
              <a:t>No FAQ section means no featured snippets. Adding schema markup can get Snitch a prominent box in Google results.</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A1A2E"/>
          </a:solidFill>
          <a:ln w="12700">
            <a:solidFill>
              <a:srgbClr val="1A1A2E"/>
            </a:solidFill>
            <a:prstDash val="solid"/>
          </a:ln>
        </p:spPr>
      </p:sp>
      <p:sp>
        <p:nvSpPr>
          <p:cNvPr id="3" name="Shape 1"/>
          <p:cNvSpPr/>
          <p:nvPr/>
        </p:nvSpPr>
        <p:spPr>
          <a:xfrm>
            <a:off x="0" y="0"/>
            <a:ext cx="109728" cy="5143500"/>
          </a:xfrm>
          <a:prstGeom prst="rect">
            <a:avLst/>
          </a:prstGeom>
          <a:solidFill>
            <a:srgbClr val="E94560"/>
          </a:solidFill>
          <a:ln w="12700">
            <a:solidFill>
              <a:srgbClr val="E94560"/>
            </a:solidFill>
            <a:prstDash val="solid"/>
          </a:ln>
        </p:spPr>
      </p:sp>
      <p:sp>
        <p:nvSpPr>
          <p:cNvPr id="4" name="Text 2"/>
          <p:cNvSpPr/>
          <p:nvPr/>
        </p:nvSpPr>
        <p:spPr>
          <a:xfrm>
            <a:off x="274320" y="73152"/>
            <a:ext cx="8595360" cy="384048"/>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Expected Results — KPIs &amp; Growth Targets</a:t>
            </a:r>
            <a:endParaRPr lang="en-US" sz="1700" dirty="0"/>
          </a:p>
        </p:txBody>
      </p:sp>
      <p:sp>
        <p:nvSpPr>
          <p:cNvPr id="5" name="Shape 3"/>
          <p:cNvSpPr/>
          <p:nvPr/>
        </p:nvSpPr>
        <p:spPr>
          <a:xfrm>
            <a:off x="0" y="4892040"/>
            <a:ext cx="9144000" cy="251460"/>
          </a:xfrm>
          <a:prstGeom prst="rect">
            <a:avLst/>
          </a:prstGeom>
          <a:solidFill>
            <a:srgbClr val="1A1A2E"/>
          </a:solidFill>
          <a:ln w="12700">
            <a:solidFill>
              <a:srgbClr val="1A1A2E"/>
            </a:solidFill>
            <a:prstDash val="solid"/>
          </a:ln>
        </p:spPr>
      </p:sp>
      <p:sp>
        <p:nvSpPr>
          <p:cNvPr id="6" name="Text 4"/>
          <p:cNvSpPr/>
          <p:nvPr/>
        </p:nvSpPr>
        <p:spPr>
          <a:xfrm>
            <a:off x="182880" y="4892040"/>
            <a:ext cx="8778240" cy="25146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Snitch.com — SEO Strategy Report 2026  |  India B2C</a:t>
            </a:r>
            <a:endParaRPr lang="en-US" sz="900" dirty="0"/>
          </a:p>
        </p:txBody>
      </p:sp>
      <p:sp>
        <p:nvSpPr>
          <p:cNvPr id="7" name="Shape 5"/>
          <p:cNvSpPr/>
          <p:nvPr/>
        </p:nvSpPr>
        <p:spPr>
          <a:xfrm>
            <a:off x="201168" y="621792"/>
            <a:ext cx="8741664" cy="347472"/>
          </a:xfrm>
          <a:prstGeom prst="rect">
            <a:avLst/>
          </a:prstGeom>
          <a:solidFill>
            <a:srgbClr val="1A1A2E"/>
          </a:solidFill>
          <a:ln w="12700">
            <a:solidFill>
              <a:srgbClr val="1A1A2E"/>
            </a:solidFill>
            <a:prstDash val="solid"/>
          </a:ln>
        </p:spPr>
      </p:sp>
      <p:sp>
        <p:nvSpPr>
          <p:cNvPr id="8" name="Text 6"/>
          <p:cNvSpPr/>
          <p:nvPr/>
        </p:nvSpPr>
        <p:spPr>
          <a:xfrm>
            <a:off x="274320" y="649224"/>
            <a:ext cx="2926080" cy="27432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KPI</a:t>
            </a:r>
            <a:endParaRPr lang="en-US" sz="1000" dirty="0"/>
          </a:p>
        </p:txBody>
      </p:sp>
      <p:sp>
        <p:nvSpPr>
          <p:cNvPr id="9" name="Text 7"/>
          <p:cNvSpPr/>
          <p:nvPr/>
        </p:nvSpPr>
        <p:spPr>
          <a:xfrm>
            <a:off x="3364992" y="649224"/>
            <a:ext cx="1371600" cy="27432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Current</a:t>
            </a:r>
            <a:endParaRPr lang="en-US" sz="1000" dirty="0"/>
          </a:p>
        </p:txBody>
      </p:sp>
      <p:sp>
        <p:nvSpPr>
          <p:cNvPr id="10" name="Text 8"/>
          <p:cNvSpPr/>
          <p:nvPr/>
        </p:nvSpPr>
        <p:spPr>
          <a:xfrm>
            <a:off x="4828032" y="649224"/>
            <a:ext cx="1371600" cy="27432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3 Months</a:t>
            </a:r>
            <a:endParaRPr lang="en-US" sz="1000" dirty="0"/>
          </a:p>
        </p:txBody>
      </p:sp>
      <p:sp>
        <p:nvSpPr>
          <p:cNvPr id="11" name="Text 9"/>
          <p:cNvSpPr/>
          <p:nvPr/>
        </p:nvSpPr>
        <p:spPr>
          <a:xfrm>
            <a:off x="6291072" y="649224"/>
            <a:ext cx="1371600" cy="27432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6 Months</a:t>
            </a:r>
            <a:endParaRPr lang="en-US" sz="1000" dirty="0"/>
          </a:p>
        </p:txBody>
      </p:sp>
      <p:sp>
        <p:nvSpPr>
          <p:cNvPr id="12" name="Text 10"/>
          <p:cNvSpPr/>
          <p:nvPr/>
        </p:nvSpPr>
        <p:spPr>
          <a:xfrm>
            <a:off x="7754112" y="649224"/>
            <a:ext cx="1371600" cy="27432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12 Months</a:t>
            </a:r>
            <a:endParaRPr lang="en-US" sz="1000" dirty="0"/>
          </a:p>
        </p:txBody>
      </p:sp>
      <p:sp>
        <p:nvSpPr>
          <p:cNvPr id="13" name="Shape 11"/>
          <p:cNvSpPr/>
          <p:nvPr/>
        </p:nvSpPr>
        <p:spPr>
          <a:xfrm>
            <a:off x="201168" y="1005840"/>
            <a:ext cx="8741664" cy="420624"/>
          </a:xfrm>
          <a:prstGeom prst="rect">
            <a:avLst/>
          </a:prstGeom>
          <a:solidFill>
            <a:srgbClr val="FFFFFF"/>
          </a:solidFill>
          <a:ln w="3810">
            <a:solidFill>
              <a:srgbClr val="E2E8F0"/>
            </a:solidFill>
            <a:prstDash val="solid"/>
          </a:ln>
        </p:spPr>
      </p:sp>
      <p:sp>
        <p:nvSpPr>
          <p:cNvPr id="14" name="Text 12"/>
          <p:cNvSpPr/>
          <p:nvPr/>
        </p:nvSpPr>
        <p:spPr>
          <a:xfrm>
            <a:off x="274320" y="1088136"/>
            <a:ext cx="2926080" cy="256032"/>
          </a:xfrm>
          <a:prstGeom prst="rect">
            <a:avLst/>
          </a:prstGeom>
          <a:noFill/>
          <a:ln/>
        </p:spPr>
        <p:txBody>
          <a:bodyPr wrap="square" lIns="0" tIns="0" rIns="0" bIns="0" rtlCol="0" anchor="ctr"/>
          <a:lstStyle/>
          <a:p>
            <a:pPr marL="0" indent="0">
              <a:buNone/>
            </a:pPr>
            <a:r>
              <a:rPr lang="en-US" sz="1000" b="1" dirty="0">
                <a:solidFill>
                  <a:srgbClr val="2D2D2D"/>
                </a:solidFill>
                <a:latin typeface="Calibri" pitchFamily="34" charset="0"/>
                <a:ea typeface="Calibri" pitchFamily="34" charset="-122"/>
                <a:cs typeface="Calibri" pitchFamily="34" charset="-120"/>
              </a:rPr>
              <a:t>Monthly Organic Visits</a:t>
            </a:r>
            <a:endParaRPr lang="en-US" sz="1000" dirty="0"/>
          </a:p>
        </p:txBody>
      </p:sp>
      <p:sp>
        <p:nvSpPr>
          <p:cNvPr id="15" name="Text 13"/>
          <p:cNvSpPr/>
          <p:nvPr/>
        </p:nvSpPr>
        <p:spPr>
          <a:xfrm>
            <a:off x="3364992" y="1088136"/>
            <a:ext cx="1371600" cy="256032"/>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1.5–2M</a:t>
            </a:r>
            <a:endParaRPr lang="en-US" sz="1000" dirty="0"/>
          </a:p>
        </p:txBody>
      </p:sp>
      <p:sp>
        <p:nvSpPr>
          <p:cNvPr id="16" name="Text 14"/>
          <p:cNvSpPr/>
          <p:nvPr/>
        </p:nvSpPr>
        <p:spPr>
          <a:xfrm>
            <a:off x="4828032" y="1088136"/>
            <a:ext cx="1371600" cy="256032"/>
          </a:xfrm>
          <a:prstGeom prst="rect">
            <a:avLst/>
          </a:prstGeom>
          <a:noFill/>
          <a:ln/>
        </p:spPr>
        <p:txBody>
          <a:bodyPr wrap="square" lIns="0" tIns="0" rIns="0" bIns="0" rtlCol="0" anchor="ctr"/>
          <a:lstStyle/>
          <a:p>
            <a:pPr marL="0" indent="0">
              <a:buNone/>
            </a:pPr>
            <a:r>
              <a:rPr lang="en-US" sz="1000" b="1" dirty="0">
                <a:solidFill>
                  <a:srgbClr val="2D2D2D"/>
                </a:solidFill>
                <a:latin typeface="Calibri" pitchFamily="34" charset="0"/>
                <a:ea typeface="Calibri" pitchFamily="34" charset="-122"/>
                <a:cs typeface="Calibri" pitchFamily="34" charset="-120"/>
              </a:rPr>
              <a:t>2.5M+</a:t>
            </a:r>
            <a:endParaRPr lang="en-US" sz="1000" dirty="0"/>
          </a:p>
        </p:txBody>
      </p:sp>
      <p:sp>
        <p:nvSpPr>
          <p:cNvPr id="17" name="Text 15"/>
          <p:cNvSpPr/>
          <p:nvPr/>
        </p:nvSpPr>
        <p:spPr>
          <a:xfrm>
            <a:off x="6291072" y="1088136"/>
            <a:ext cx="1371600" cy="256032"/>
          </a:xfrm>
          <a:prstGeom prst="rect">
            <a:avLst/>
          </a:prstGeom>
          <a:noFill/>
          <a:ln/>
        </p:spPr>
        <p:txBody>
          <a:bodyPr wrap="square" lIns="0" tIns="0" rIns="0" bIns="0" rtlCol="0" anchor="ctr"/>
          <a:lstStyle/>
          <a:p>
            <a:pPr marL="0" indent="0">
              <a:buNone/>
            </a:pPr>
            <a:r>
              <a:rPr lang="en-US" sz="1000" b="1" dirty="0">
                <a:solidFill>
                  <a:srgbClr val="2D2D2D"/>
                </a:solidFill>
                <a:latin typeface="Calibri" pitchFamily="34" charset="0"/>
                <a:ea typeface="Calibri" pitchFamily="34" charset="-122"/>
                <a:cs typeface="Calibri" pitchFamily="34" charset="-120"/>
              </a:rPr>
              <a:t>3.5M+</a:t>
            </a:r>
            <a:endParaRPr lang="en-US" sz="1000" dirty="0"/>
          </a:p>
        </p:txBody>
      </p:sp>
      <p:sp>
        <p:nvSpPr>
          <p:cNvPr id="18" name="Text 16"/>
          <p:cNvSpPr/>
          <p:nvPr/>
        </p:nvSpPr>
        <p:spPr>
          <a:xfrm>
            <a:off x="7754112" y="1088136"/>
            <a:ext cx="1371600" cy="256032"/>
          </a:xfrm>
          <a:prstGeom prst="rect">
            <a:avLst/>
          </a:prstGeom>
          <a:noFill/>
          <a:ln/>
        </p:spPr>
        <p:txBody>
          <a:bodyPr wrap="square" lIns="0" tIns="0" rIns="0" bIns="0" rtlCol="0" anchor="ctr"/>
          <a:lstStyle/>
          <a:p>
            <a:pPr marL="0" indent="0">
              <a:buNone/>
            </a:pPr>
            <a:r>
              <a:rPr lang="en-US" sz="1000" b="1" dirty="0">
                <a:solidFill>
                  <a:srgbClr val="16A34A"/>
                </a:solidFill>
                <a:latin typeface="Calibri" pitchFamily="34" charset="0"/>
                <a:ea typeface="Calibri" pitchFamily="34" charset="-122"/>
                <a:cs typeface="Calibri" pitchFamily="34" charset="-120"/>
              </a:rPr>
              <a:t>5–6M</a:t>
            </a:r>
            <a:endParaRPr lang="en-US" sz="1000" dirty="0"/>
          </a:p>
        </p:txBody>
      </p:sp>
      <p:sp>
        <p:nvSpPr>
          <p:cNvPr id="19" name="Shape 17"/>
          <p:cNvSpPr/>
          <p:nvPr/>
        </p:nvSpPr>
        <p:spPr>
          <a:xfrm>
            <a:off x="201168" y="1463040"/>
            <a:ext cx="8741664" cy="420624"/>
          </a:xfrm>
          <a:prstGeom prst="rect">
            <a:avLst/>
          </a:prstGeom>
          <a:solidFill>
            <a:srgbClr val="F1F5F9"/>
          </a:solidFill>
          <a:ln w="3810">
            <a:solidFill>
              <a:srgbClr val="E2E8F0"/>
            </a:solidFill>
            <a:prstDash val="solid"/>
          </a:ln>
        </p:spPr>
      </p:sp>
      <p:sp>
        <p:nvSpPr>
          <p:cNvPr id="20" name="Text 18"/>
          <p:cNvSpPr/>
          <p:nvPr/>
        </p:nvSpPr>
        <p:spPr>
          <a:xfrm>
            <a:off x="274320" y="1545336"/>
            <a:ext cx="2926080" cy="256032"/>
          </a:xfrm>
          <a:prstGeom prst="rect">
            <a:avLst/>
          </a:prstGeom>
          <a:noFill/>
          <a:ln/>
        </p:spPr>
        <p:txBody>
          <a:bodyPr wrap="square" lIns="0" tIns="0" rIns="0" bIns="0" rtlCol="0" anchor="ctr"/>
          <a:lstStyle/>
          <a:p>
            <a:pPr marL="0" indent="0">
              <a:buNone/>
            </a:pPr>
            <a:r>
              <a:rPr lang="en-US" sz="1000" b="1" dirty="0">
                <a:solidFill>
                  <a:srgbClr val="2D2D2D"/>
                </a:solidFill>
                <a:latin typeface="Calibri" pitchFamily="34" charset="0"/>
                <a:ea typeface="Calibri" pitchFamily="34" charset="-122"/>
                <a:cs typeface="Calibri" pitchFamily="34" charset="-120"/>
              </a:rPr>
              <a:t>Organic Traffic Share</a:t>
            </a:r>
            <a:endParaRPr lang="en-US" sz="1000" dirty="0"/>
          </a:p>
        </p:txBody>
      </p:sp>
      <p:sp>
        <p:nvSpPr>
          <p:cNvPr id="21" name="Text 19"/>
          <p:cNvSpPr/>
          <p:nvPr/>
        </p:nvSpPr>
        <p:spPr>
          <a:xfrm>
            <a:off x="3364992" y="1545336"/>
            <a:ext cx="1371600" cy="256032"/>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~25–30%</a:t>
            </a:r>
            <a:endParaRPr lang="en-US" sz="1000" dirty="0"/>
          </a:p>
        </p:txBody>
      </p:sp>
      <p:sp>
        <p:nvSpPr>
          <p:cNvPr id="22" name="Text 20"/>
          <p:cNvSpPr/>
          <p:nvPr/>
        </p:nvSpPr>
        <p:spPr>
          <a:xfrm>
            <a:off x="4828032" y="1545336"/>
            <a:ext cx="1371600" cy="256032"/>
          </a:xfrm>
          <a:prstGeom prst="rect">
            <a:avLst/>
          </a:prstGeom>
          <a:noFill/>
          <a:ln/>
        </p:spPr>
        <p:txBody>
          <a:bodyPr wrap="square" lIns="0" tIns="0" rIns="0" bIns="0" rtlCol="0" anchor="ctr"/>
          <a:lstStyle/>
          <a:p>
            <a:pPr marL="0" indent="0">
              <a:buNone/>
            </a:pPr>
            <a:r>
              <a:rPr lang="en-US" sz="1000" b="1" dirty="0">
                <a:solidFill>
                  <a:srgbClr val="2D2D2D"/>
                </a:solidFill>
                <a:latin typeface="Calibri" pitchFamily="34" charset="0"/>
                <a:ea typeface="Calibri" pitchFamily="34" charset="-122"/>
                <a:cs typeface="Calibri" pitchFamily="34" charset="-120"/>
              </a:rPr>
              <a:t>35%</a:t>
            </a:r>
            <a:endParaRPr lang="en-US" sz="1000" dirty="0"/>
          </a:p>
        </p:txBody>
      </p:sp>
      <p:sp>
        <p:nvSpPr>
          <p:cNvPr id="23" name="Text 21"/>
          <p:cNvSpPr/>
          <p:nvPr/>
        </p:nvSpPr>
        <p:spPr>
          <a:xfrm>
            <a:off x="6291072" y="1545336"/>
            <a:ext cx="1371600" cy="256032"/>
          </a:xfrm>
          <a:prstGeom prst="rect">
            <a:avLst/>
          </a:prstGeom>
          <a:noFill/>
          <a:ln/>
        </p:spPr>
        <p:txBody>
          <a:bodyPr wrap="square" lIns="0" tIns="0" rIns="0" bIns="0" rtlCol="0" anchor="ctr"/>
          <a:lstStyle/>
          <a:p>
            <a:pPr marL="0" indent="0">
              <a:buNone/>
            </a:pPr>
            <a:r>
              <a:rPr lang="en-US" sz="1000" b="1" dirty="0">
                <a:solidFill>
                  <a:srgbClr val="2D2D2D"/>
                </a:solidFill>
                <a:latin typeface="Calibri" pitchFamily="34" charset="0"/>
                <a:ea typeface="Calibri" pitchFamily="34" charset="-122"/>
                <a:cs typeface="Calibri" pitchFamily="34" charset="-120"/>
              </a:rPr>
              <a:t>42%</a:t>
            </a:r>
            <a:endParaRPr lang="en-US" sz="1000" dirty="0"/>
          </a:p>
        </p:txBody>
      </p:sp>
      <p:sp>
        <p:nvSpPr>
          <p:cNvPr id="24" name="Text 22"/>
          <p:cNvSpPr/>
          <p:nvPr/>
        </p:nvSpPr>
        <p:spPr>
          <a:xfrm>
            <a:off x="7754112" y="1545336"/>
            <a:ext cx="1371600" cy="256032"/>
          </a:xfrm>
          <a:prstGeom prst="rect">
            <a:avLst/>
          </a:prstGeom>
          <a:noFill/>
          <a:ln/>
        </p:spPr>
        <p:txBody>
          <a:bodyPr wrap="square" lIns="0" tIns="0" rIns="0" bIns="0" rtlCol="0" anchor="ctr"/>
          <a:lstStyle/>
          <a:p>
            <a:pPr marL="0" indent="0">
              <a:buNone/>
            </a:pPr>
            <a:r>
              <a:rPr lang="en-US" sz="1000" b="1" dirty="0">
                <a:solidFill>
                  <a:srgbClr val="16A34A"/>
                </a:solidFill>
                <a:latin typeface="Calibri" pitchFamily="34" charset="0"/>
                <a:ea typeface="Calibri" pitchFamily="34" charset="-122"/>
                <a:cs typeface="Calibri" pitchFamily="34" charset="-120"/>
              </a:rPr>
              <a:t>50%+</a:t>
            </a:r>
            <a:endParaRPr lang="en-US" sz="1000" dirty="0"/>
          </a:p>
        </p:txBody>
      </p:sp>
      <p:sp>
        <p:nvSpPr>
          <p:cNvPr id="25" name="Shape 23"/>
          <p:cNvSpPr/>
          <p:nvPr/>
        </p:nvSpPr>
        <p:spPr>
          <a:xfrm>
            <a:off x="201168" y="1920240"/>
            <a:ext cx="8741664" cy="420624"/>
          </a:xfrm>
          <a:prstGeom prst="rect">
            <a:avLst/>
          </a:prstGeom>
          <a:solidFill>
            <a:srgbClr val="FFFFFF"/>
          </a:solidFill>
          <a:ln w="3810">
            <a:solidFill>
              <a:srgbClr val="E2E8F0"/>
            </a:solidFill>
            <a:prstDash val="solid"/>
          </a:ln>
        </p:spPr>
      </p:sp>
      <p:sp>
        <p:nvSpPr>
          <p:cNvPr id="26" name="Text 24"/>
          <p:cNvSpPr/>
          <p:nvPr/>
        </p:nvSpPr>
        <p:spPr>
          <a:xfrm>
            <a:off x="274320" y="2002536"/>
            <a:ext cx="2926080" cy="256032"/>
          </a:xfrm>
          <a:prstGeom prst="rect">
            <a:avLst/>
          </a:prstGeom>
          <a:noFill/>
          <a:ln/>
        </p:spPr>
        <p:txBody>
          <a:bodyPr wrap="square" lIns="0" tIns="0" rIns="0" bIns="0" rtlCol="0" anchor="ctr"/>
          <a:lstStyle/>
          <a:p>
            <a:pPr marL="0" indent="0">
              <a:buNone/>
            </a:pPr>
            <a:r>
              <a:rPr lang="en-US" sz="1000" b="1" dirty="0">
                <a:solidFill>
                  <a:srgbClr val="2D2D2D"/>
                </a:solidFill>
                <a:latin typeface="Calibri" pitchFamily="34" charset="0"/>
                <a:ea typeface="Calibri" pitchFamily="34" charset="-122"/>
                <a:cs typeface="Calibri" pitchFamily="34" charset="-120"/>
              </a:rPr>
              <a:t>Jeans Keywords in Top 10</a:t>
            </a:r>
            <a:endParaRPr lang="en-US" sz="1000" dirty="0"/>
          </a:p>
        </p:txBody>
      </p:sp>
      <p:sp>
        <p:nvSpPr>
          <p:cNvPr id="27" name="Text 25"/>
          <p:cNvSpPr/>
          <p:nvPr/>
        </p:nvSpPr>
        <p:spPr>
          <a:xfrm>
            <a:off x="3364992" y="2002536"/>
            <a:ext cx="1371600" cy="256032"/>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20–30</a:t>
            </a:r>
            <a:endParaRPr lang="en-US" sz="1000" dirty="0"/>
          </a:p>
        </p:txBody>
      </p:sp>
      <p:sp>
        <p:nvSpPr>
          <p:cNvPr id="28" name="Text 26"/>
          <p:cNvSpPr/>
          <p:nvPr/>
        </p:nvSpPr>
        <p:spPr>
          <a:xfrm>
            <a:off x="4828032" y="2002536"/>
            <a:ext cx="1371600" cy="256032"/>
          </a:xfrm>
          <a:prstGeom prst="rect">
            <a:avLst/>
          </a:prstGeom>
          <a:noFill/>
          <a:ln/>
        </p:spPr>
        <p:txBody>
          <a:bodyPr wrap="square" lIns="0" tIns="0" rIns="0" bIns="0" rtlCol="0" anchor="ctr"/>
          <a:lstStyle/>
          <a:p>
            <a:pPr marL="0" indent="0">
              <a:buNone/>
            </a:pPr>
            <a:r>
              <a:rPr lang="en-US" sz="1000" b="1" dirty="0">
                <a:solidFill>
                  <a:srgbClr val="2D2D2D"/>
                </a:solidFill>
                <a:latin typeface="Calibri" pitchFamily="34" charset="0"/>
                <a:ea typeface="Calibri" pitchFamily="34" charset="-122"/>
                <a:cs typeface="Calibri" pitchFamily="34" charset="-120"/>
              </a:rPr>
              <a:t>60+</a:t>
            </a:r>
            <a:endParaRPr lang="en-US" sz="1000" dirty="0"/>
          </a:p>
        </p:txBody>
      </p:sp>
      <p:sp>
        <p:nvSpPr>
          <p:cNvPr id="29" name="Text 27"/>
          <p:cNvSpPr/>
          <p:nvPr/>
        </p:nvSpPr>
        <p:spPr>
          <a:xfrm>
            <a:off x="6291072" y="2002536"/>
            <a:ext cx="1371600" cy="256032"/>
          </a:xfrm>
          <a:prstGeom prst="rect">
            <a:avLst/>
          </a:prstGeom>
          <a:noFill/>
          <a:ln/>
        </p:spPr>
        <p:txBody>
          <a:bodyPr wrap="square" lIns="0" tIns="0" rIns="0" bIns="0" rtlCol="0" anchor="ctr"/>
          <a:lstStyle/>
          <a:p>
            <a:pPr marL="0" indent="0">
              <a:buNone/>
            </a:pPr>
            <a:r>
              <a:rPr lang="en-US" sz="1000" b="1" dirty="0">
                <a:solidFill>
                  <a:srgbClr val="2D2D2D"/>
                </a:solidFill>
                <a:latin typeface="Calibri" pitchFamily="34" charset="0"/>
                <a:ea typeface="Calibri" pitchFamily="34" charset="-122"/>
                <a:cs typeface="Calibri" pitchFamily="34" charset="-120"/>
              </a:rPr>
              <a:t>120+</a:t>
            </a:r>
            <a:endParaRPr lang="en-US" sz="1000" dirty="0"/>
          </a:p>
        </p:txBody>
      </p:sp>
      <p:sp>
        <p:nvSpPr>
          <p:cNvPr id="30" name="Text 28"/>
          <p:cNvSpPr/>
          <p:nvPr/>
        </p:nvSpPr>
        <p:spPr>
          <a:xfrm>
            <a:off x="7754112" y="2002536"/>
            <a:ext cx="1371600" cy="256032"/>
          </a:xfrm>
          <a:prstGeom prst="rect">
            <a:avLst/>
          </a:prstGeom>
          <a:noFill/>
          <a:ln/>
        </p:spPr>
        <p:txBody>
          <a:bodyPr wrap="square" lIns="0" tIns="0" rIns="0" bIns="0" rtlCol="0" anchor="ctr"/>
          <a:lstStyle/>
          <a:p>
            <a:pPr marL="0" indent="0">
              <a:buNone/>
            </a:pPr>
            <a:r>
              <a:rPr lang="en-US" sz="1000" b="1" dirty="0">
                <a:solidFill>
                  <a:srgbClr val="16A34A"/>
                </a:solidFill>
                <a:latin typeface="Calibri" pitchFamily="34" charset="0"/>
                <a:ea typeface="Calibri" pitchFamily="34" charset="-122"/>
                <a:cs typeface="Calibri" pitchFamily="34" charset="-120"/>
              </a:rPr>
              <a:t>250+</a:t>
            </a:r>
            <a:endParaRPr lang="en-US" sz="1000" dirty="0"/>
          </a:p>
        </p:txBody>
      </p:sp>
      <p:sp>
        <p:nvSpPr>
          <p:cNvPr id="31" name="Shape 29"/>
          <p:cNvSpPr/>
          <p:nvPr/>
        </p:nvSpPr>
        <p:spPr>
          <a:xfrm>
            <a:off x="201168" y="2377440"/>
            <a:ext cx="8741664" cy="420624"/>
          </a:xfrm>
          <a:prstGeom prst="rect">
            <a:avLst/>
          </a:prstGeom>
          <a:solidFill>
            <a:srgbClr val="F1F5F9"/>
          </a:solidFill>
          <a:ln w="3810">
            <a:solidFill>
              <a:srgbClr val="E2E8F0"/>
            </a:solidFill>
            <a:prstDash val="solid"/>
          </a:ln>
        </p:spPr>
      </p:sp>
      <p:sp>
        <p:nvSpPr>
          <p:cNvPr id="32" name="Text 30"/>
          <p:cNvSpPr/>
          <p:nvPr/>
        </p:nvSpPr>
        <p:spPr>
          <a:xfrm>
            <a:off x="274320" y="2459736"/>
            <a:ext cx="2926080" cy="256032"/>
          </a:xfrm>
          <a:prstGeom prst="rect">
            <a:avLst/>
          </a:prstGeom>
          <a:noFill/>
          <a:ln/>
        </p:spPr>
        <p:txBody>
          <a:bodyPr wrap="square" lIns="0" tIns="0" rIns="0" bIns="0" rtlCol="0" anchor="ctr"/>
          <a:lstStyle/>
          <a:p>
            <a:pPr marL="0" indent="0">
              <a:buNone/>
            </a:pPr>
            <a:r>
              <a:rPr lang="en-US" sz="1000" b="1" dirty="0">
                <a:solidFill>
                  <a:srgbClr val="2D2D2D"/>
                </a:solidFill>
                <a:latin typeface="Calibri" pitchFamily="34" charset="0"/>
                <a:ea typeface="Calibri" pitchFamily="34" charset="-122"/>
                <a:cs typeface="Calibri" pitchFamily="34" charset="-120"/>
              </a:rPr>
              <a:t>Domain Authority (Semrush)</a:t>
            </a:r>
            <a:endParaRPr lang="en-US" sz="1000" dirty="0"/>
          </a:p>
        </p:txBody>
      </p:sp>
      <p:sp>
        <p:nvSpPr>
          <p:cNvPr id="33" name="Text 31"/>
          <p:cNvSpPr/>
          <p:nvPr/>
        </p:nvSpPr>
        <p:spPr>
          <a:xfrm>
            <a:off x="3364992" y="2459736"/>
            <a:ext cx="1371600" cy="256032"/>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38</a:t>
            </a:r>
            <a:endParaRPr lang="en-US" sz="1000" dirty="0"/>
          </a:p>
        </p:txBody>
      </p:sp>
      <p:sp>
        <p:nvSpPr>
          <p:cNvPr id="34" name="Text 32"/>
          <p:cNvSpPr/>
          <p:nvPr/>
        </p:nvSpPr>
        <p:spPr>
          <a:xfrm>
            <a:off x="4828032" y="2459736"/>
            <a:ext cx="1371600" cy="256032"/>
          </a:xfrm>
          <a:prstGeom prst="rect">
            <a:avLst/>
          </a:prstGeom>
          <a:noFill/>
          <a:ln/>
        </p:spPr>
        <p:txBody>
          <a:bodyPr wrap="square" lIns="0" tIns="0" rIns="0" bIns="0" rtlCol="0" anchor="ctr"/>
          <a:lstStyle/>
          <a:p>
            <a:pPr marL="0" indent="0">
              <a:buNone/>
            </a:pPr>
            <a:r>
              <a:rPr lang="en-US" sz="1000" b="1" dirty="0">
                <a:solidFill>
                  <a:srgbClr val="2D2D2D"/>
                </a:solidFill>
                <a:latin typeface="Calibri" pitchFamily="34" charset="0"/>
                <a:ea typeface="Calibri" pitchFamily="34" charset="-122"/>
                <a:cs typeface="Calibri" pitchFamily="34" charset="-120"/>
              </a:rPr>
              <a:t>42</a:t>
            </a:r>
            <a:endParaRPr lang="en-US" sz="1000" dirty="0"/>
          </a:p>
        </p:txBody>
      </p:sp>
      <p:sp>
        <p:nvSpPr>
          <p:cNvPr id="35" name="Text 33"/>
          <p:cNvSpPr/>
          <p:nvPr/>
        </p:nvSpPr>
        <p:spPr>
          <a:xfrm>
            <a:off x="6291072" y="2459736"/>
            <a:ext cx="1371600" cy="256032"/>
          </a:xfrm>
          <a:prstGeom prst="rect">
            <a:avLst/>
          </a:prstGeom>
          <a:noFill/>
          <a:ln/>
        </p:spPr>
        <p:txBody>
          <a:bodyPr wrap="square" lIns="0" tIns="0" rIns="0" bIns="0" rtlCol="0" anchor="ctr"/>
          <a:lstStyle/>
          <a:p>
            <a:pPr marL="0" indent="0">
              <a:buNone/>
            </a:pPr>
            <a:r>
              <a:rPr lang="en-US" sz="1000" b="1" dirty="0">
                <a:solidFill>
                  <a:srgbClr val="2D2D2D"/>
                </a:solidFill>
                <a:latin typeface="Calibri" pitchFamily="34" charset="0"/>
                <a:ea typeface="Calibri" pitchFamily="34" charset="-122"/>
                <a:cs typeface="Calibri" pitchFamily="34" charset="-120"/>
              </a:rPr>
              <a:t>48</a:t>
            </a:r>
            <a:endParaRPr lang="en-US" sz="1000" dirty="0"/>
          </a:p>
        </p:txBody>
      </p:sp>
      <p:sp>
        <p:nvSpPr>
          <p:cNvPr id="36" name="Text 34"/>
          <p:cNvSpPr/>
          <p:nvPr/>
        </p:nvSpPr>
        <p:spPr>
          <a:xfrm>
            <a:off x="7754112" y="2459736"/>
            <a:ext cx="1371600" cy="256032"/>
          </a:xfrm>
          <a:prstGeom prst="rect">
            <a:avLst/>
          </a:prstGeom>
          <a:noFill/>
          <a:ln/>
        </p:spPr>
        <p:txBody>
          <a:bodyPr wrap="square" lIns="0" tIns="0" rIns="0" bIns="0" rtlCol="0" anchor="ctr"/>
          <a:lstStyle/>
          <a:p>
            <a:pPr marL="0" indent="0">
              <a:buNone/>
            </a:pPr>
            <a:r>
              <a:rPr lang="en-US" sz="1000" b="1" dirty="0">
                <a:solidFill>
                  <a:srgbClr val="16A34A"/>
                </a:solidFill>
                <a:latin typeface="Calibri" pitchFamily="34" charset="0"/>
                <a:ea typeface="Calibri" pitchFamily="34" charset="-122"/>
                <a:cs typeface="Calibri" pitchFamily="34" charset="-120"/>
              </a:rPr>
              <a:t>55+</a:t>
            </a:r>
            <a:endParaRPr lang="en-US" sz="1000" dirty="0"/>
          </a:p>
        </p:txBody>
      </p:sp>
      <p:sp>
        <p:nvSpPr>
          <p:cNvPr id="37" name="Shape 35"/>
          <p:cNvSpPr/>
          <p:nvPr/>
        </p:nvSpPr>
        <p:spPr>
          <a:xfrm>
            <a:off x="201168" y="2834640"/>
            <a:ext cx="8741664" cy="420624"/>
          </a:xfrm>
          <a:prstGeom prst="rect">
            <a:avLst/>
          </a:prstGeom>
          <a:solidFill>
            <a:srgbClr val="FFFFFF"/>
          </a:solidFill>
          <a:ln w="3810">
            <a:solidFill>
              <a:srgbClr val="E2E8F0"/>
            </a:solidFill>
            <a:prstDash val="solid"/>
          </a:ln>
        </p:spPr>
      </p:sp>
      <p:sp>
        <p:nvSpPr>
          <p:cNvPr id="38" name="Text 36"/>
          <p:cNvSpPr/>
          <p:nvPr/>
        </p:nvSpPr>
        <p:spPr>
          <a:xfrm>
            <a:off x="274320" y="2916936"/>
            <a:ext cx="2926080" cy="256032"/>
          </a:xfrm>
          <a:prstGeom prst="rect">
            <a:avLst/>
          </a:prstGeom>
          <a:noFill/>
          <a:ln/>
        </p:spPr>
        <p:txBody>
          <a:bodyPr wrap="square" lIns="0" tIns="0" rIns="0" bIns="0" rtlCol="0" anchor="ctr"/>
          <a:lstStyle/>
          <a:p>
            <a:pPr marL="0" indent="0">
              <a:buNone/>
            </a:pPr>
            <a:r>
              <a:rPr lang="en-US" sz="1000" b="1" dirty="0">
                <a:solidFill>
                  <a:srgbClr val="2D2D2D"/>
                </a:solidFill>
                <a:latin typeface="Calibri" pitchFamily="34" charset="0"/>
                <a:ea typeface="Calibri" pitchFamily="34" charset="-122"/>
                <a:cs typeface="Calibri" pitchFamily="34" charset="-120"/>
              </a:rPr>
              <a:t>Referring Domains</a:t>
            </a:r>
            <a:endParaRPr lang="en-US" sz="1000" dirty="0"/>
          </a:p>
        </p:txBody>
      </p:sp>
      <p:sp>
        <p:nvSpPr>
          <p:cNvPr id="39" name="Text 37"/>
          <p:cNvSpPr/>
          <p:nvPr/>
        </p:nvSpPr>
        <p:spPr>
          <a:xfrm>
            <a:off x="3364992" y="2916936"/>
            <a:ext cx="1371600" cy="256032"/>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800–1,200</a:t>
            </a:r>
            <a:endParaRPr lang="en-US" sz="1000" dirty="0"/>
          </a:p>
        </p:txBody>
      </p:sp>
      <p:sp>
        <p:nvSpPr>
          <p:cNvPr id="40" name="Text 38"/>
          <p:cNvSpPr/>
          <p:nvPr/>
        </p:nvSpPr>
        <p:spPr>
          <a:xfrm>
            <a:off x="4828032" y="2916936"/>
            <a:ext cx="1371600" cy="256032"/>
          </a:xfrm>
          <a:prstGeom prst="rect">
            <a:avLst/>
          </a:prstGeom>
          <a:noFill/>
          <a:ln/>
        </p:spPr>
        <p:txBody>
          <a:bodyPr wrap="square" lIns="0" tIns="0" rIns="0" bIns="0" rtlCol="0" anchor="ctr"/>
          <a:lstStyle/>
          <a:p>
            <a:pPr marL="0" indent="0">
              <a:buNone/>
            </a:pPr>
            <a:r>
              <a:rPr lang="en-US" sz="1000" b="1" dirty="0">
                <a:solidFill>
                  <a:srgbClr val="2D2D2D"/>
                </a:solidFill>
                <a:latin typeface="Calibri" pitchFamily="34" charset="0"/>
                <a:ea typeface="Calibri" pitchFamily="34" charset="-122"/>
                <a:cs typeface="Calibri" pitchFamily="34" charset="-120"/>
              </a:rPr>
              <a:t>1,300+</a:t>
            </a:r>
            <a:endParaRPr lang="en-US" sz="1000" dirty="0"/>
          </a:p>
        </p:txBody>
      </p:sp>
      <p:sp>
        <p:nvSpPr>
          <p:cNvPr id="41" name="Text 39"/>
          <p:cNvSpPr/>
          <p:nvPr/>
        </p:nvSpPr>
        <p:spPr>
          <a:xfrm>
            <a:off x="6291072" y="2916936"/>
            <a:ext cx="1371600" cy="256032"/>
          </a:xfrm>
          <a:prstGeom prst="rect">
            <a:avLst/>
          </a:prstGeom>
          <a:noFill/>
          <a:ln/>
        </p:spPr>
        <p:txBody>
          <a:bodyPr wrap="square" lIns="0" tIns="0" rIns="0" bIns="0" rtlCol="0" anchor="ctr"/>
          <a:lstStyle/>
          <a:p>
            <a:pPr marL="0" indent="0">
              <a:buNone/>
            </a:pPr>
            <a:r>
              <a:rPr lang="en-US" sz="1000" b="1" dirty="0">
                <a:solidFill>
                  <a:srgbClr val="2D2D2D"/>
                </a:solidFill>
                <a:latin typeface="Calibri" pitchFamily="34" charset="0"/>
                <a:ea typeface="Calibri" pitchFamily="34" charset="-122"/>
                <a:cs typeface="Calibri" pitchFamily="34" charset="-120"/>
              </a:rPr>
              <a:t>1,800+</a:t>
            </a:r>
            <a:endParaRPr lang="en-US" sz="1000" dirty="0"/>
          </a:p>
        </p:txBody>
      </p:sp>
      <p:sp>
        <p:nvSpPr>
          <p:cNvPr id="42" name="Text 40"/>
          <p:cNvSpPr/>
          <p:nvPr/>
        </p:nvSpPr>
        <p:spPr>
          <a:xfrm>
            <a:off x="7754112" y="2916936"/>
            <a:ext cx="1371600" cy="256032"/>
          </a:xfrm>
          <a:prstGeom prst="rect">
            <a:avLst/>
          </a:prstGeom>
          <a:noFill/>
          <a:ln/>
        </p:spPr>
        <p:txBody>
          <a:bodyPr wrap="square" lIns="0" tIns="0" rIns="0" bIns="0" rtlCol="0" anchor="ctr"/>
          <a:lstStyle/>
          <a:p>
            <a:pPr marL="0" indent="0">
              <a:buNone/>
            </a:pPr>
            <a:r>
              <a:rPr lang="en-US" sz="1000" b="1" dirty="0">
                <a:solidFill>
                  <a:srgbClr val="16A34A"/>
                </a:solidFill>
                <a:latin typeface="Calibri" pitchFamily="34" charset="0"/>
                <a:ea typeface="Calibri" pitchFamily="34" charset="-122"/>
                <a:cs typeface="Calibri" pitchFamily="34" charset="-120"/>
              </a:rPr>
              <a:t>2,500+</a:t>
            </a:r>
            <a:endParaRPr lang="en-US" sz="1000" dirty="0"/>
          </a:p>
        </p:txBody>
      </p:sp>
      <p:sp>
        <p:nvSpPr>
          <p:cNvPr id="43" name="Shape 41"/>
          <p:cNvSpPr/>
          <p:nvPr/>
        </p:nvSpPr>
        <p:spPr>
          <a:xfrm>
            <a:off x="201168" y="3291840"/>
            <a:ext cx="8741664" cy="420624"/>
          </a:xfrm>
          <a:prstGeom prst="rect">
            <a:avLst/>
          </a:prstGeom>
          <a:solidFill>
            <a:srgbClr val="F1F5F9"/>
          </a:solidFill>
          <a:ln w="3810">
            <a:solidFill>
              <a:srgbClr val="E2E8F0"/>
            </a:solidFill>
            <a:prstDash val="solid"/>
          </a:ln>
        </p:spPr>
      </p:sp>
      <p:sp>
        <p:nvSpPr>
          <p:cNvPr id="44" name="Text 42"/>
          <p:cNvSpPr/>
          <p:nvPr/>
        </p:nvSpPr>
        <p:spPr>
          <a:xfrm>
            <a:off x="274320" y="3374136"/>
            <a:ext cx="2926080" cy="256032"/>
          </a:xfrm>
          <a:prstGeom prst="rect">
            <a:avLst/>
          </a:prstGeom>
          <a:noFill/>
          <a:ln/>
        </p:spPr>
        <p:txBody>
          <a:bodyPr wrap="square" lIns="0" tIns="0" rIns="0" bIns="0" rtlCol="0" anchor="ctr"/>
          <a:lstStyle/>
          <a:p>
            <a:pPr marL="0" indent="0">
              <a:buNone/>
            </a:pPr>
            <a:r>
              <a:rPr lang="en-US" sz="1000" b="1" dirty="0">
                <a:solidFill>
                  <a:srgbClr val="2D2D2D"/>
                </a:solidFill>
                <a:latin typeface="Calibri" pitchFamily="34" charset="0"/>
                <a:ea typeface="Calibri" pitchFamily="34" charset="-122"/>
                <a:cs typeface="Calibri" pitchFamily="34" charset="-120"/>
              </a:rPr>
              <a:t>Featured Snippets Owned</a:t>
            </a:r>
            <a:endParaRPr lang="en-US" sz="1000" dirty="0"/>
          </a:p>
        </p:txBody>
      </p:sp>
      <p:sp>
        <p:nvSpPr>
          <p:cNvPr id="45" name="Text 43"/>
          <p:cNvSpPr/>
          <p:nvPr/>
        </p:nvSpPr>
        <p:spPr>
          <a:xfrm>
            <a:off x="3364992" y="3374136"/>
            <a:ext cx="1371600" cy="256032"/>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0–2</a:t>
            </a:r>
            <a:endParaRPr lang="en-US" sz="1000" dirty="0"/>
          </a:p>
        </p:txBody>
      </p:sp>
      <p:sp>
        <p:nvSpPr>
          <p:cNvPr id="46" name="Text 44"/>
          <p:cNvSpPr/>
          <p:nvPr/>
        </p:nvSpPr>
        <p:spPr>
          <a:xfrm>
            <a:off x="4828032" y="3374136"/>
            <a:ext cx="1371600" cy="256032"/>
          </a:xfrm>
          <a:prstGeom prst="rect">
            <a:avLst/>
          </a:prstGeom>
          <a:noFill/>
          <a:ln/>
        </p:spPr>
        <p:txBody>
          <a:bodyPr wrap="square" lIns="0" tIns="0" rIns="0" bIns="0" rtlCol="0" anchor="ctr"/>
          <a:lstStyle/>
          <a:p>
            <a:pPr marL="0" indent="0">
              <a:buNone/>
            </a:pPr>
            <a:r>
              <a:rPr lang="en-US" sz="1000" b="1" dirty="0">
                <a:solidFill>
                  <a:srgbClr val="2D2D2D"/>
                </a:solidFill>
                <a:latin typeface="Calibri" pitchFamily="34" charset="0"/>
                <a:ea typeface="Calibri" pitchFamily="34" charset="-122"/>
                <a:cs typeface="Calibri" pitchFamily="34" charset="-120"/>
              </a:rPr>
              <a:t>5+</a:t>
            </a:r>
            <a:endParaRPr lang="en-US" sz="1000" dirty="0"/>
          </a:p>
        </p:txBody>
      </p:sp>
      <p:sp>
        <p:nvSpPr>
          <p:cNvPr id="47" name="Text 45"/>
          <p:cNvSpPr/>
          <p:nvPr/>
        </p:nvSpPr>
        <p:spPr>
          <a:xfrm>
            <a:off x="6291072" y="3374136"/>
            <a:ext cx="1371600" cy="256032"/>
          </a:xfrm>
          <a:prstGeom prst="rect">
            <a:avLst/>
          </a:prstGeom>
          <a:noFill/>
          <a:ln/>
        </p:spPr>
        <p:txBody>
          <a:bodyPr wrap="square" lIns="0" tIns="0" rIns="0" bIns="0" rtlCol="0" anchor="ctr"/>
          <a:lstStyle/>
          <a:p>
            <a:pPr marL="0" indent="0">
              <a:buNone/>
            </a:pPr>
            <a:r>
              <a:rPr lang="en-US" sz="1000" b="1" dirty="0">
                <a:solidFill>
                  <a:srgbClr val="2D2D2D"/>
                </a:solidFill>
                <a:latin typeface="Calibri" pitchFamily="34" charset="0"/>
                <a:ea typeface="Calibri" pitchFamily="34" charset="-122"/>
                <a:cs typeface="Calibri" pitchFamily="34" charset="-120"/>
              </a:rPr>
              <a:t>15+</a:t>
            </a:r>
            <a:endParaRPr lang="en-US" sz="1000" dirty="0"/>
          </a:p>
        </p:txBody>
      </p:sp>
      <p:sp>
        <p:nvSpPr>
          <p:cNvPr id="48" name="Text 46"/>
          <p:cNvSpPr/>
          <p:nvPr/>
        </p:nvSpPr>
        <p:spPr>
          <a:xfrm>
            <a:off x="7754112" y="3374136"/>
            <a:ext cx="1371600" cy="256032"/>
          </a:xfrm>
          <a:prstGeom prst="rect">
            <a:avLst/>
          </a:prstGeom>
          <a:noFill/>
          <a:ln/>
        </p:spPr>
        <p:txBody>
          <a:bodyPr wrap="square" lIns="0" tIns="0" rIns="0" bIns="0" rtlCol="0" anchor="ctr"/>
          <a:lstStyle/>
          <a:p>
            <a:pPr marL="0" indent="0">
              <a:buNone/>
            </a:pPr>
            <a:r>
              <a:rPr lang="en-US" sz="1000" b="1" dirty="0">
                <a:solidFill>
                  <a:srgbClr val="16A34A"/>
                </a:solidFill>
                <a:latin typeface="Calibri" pitchFamily="34" charset="0"/>
                <a:ea typeface="Calibri" pitchFamily="34" charset="-122"/>
                <a:cs typeface="Calibri" pitchFamily="34" charset="-120"/>
              </a:rPr>
              <a:t>30+</a:t>
            </a:r>
            <a:endParaRPr lang="en-US" sz="1000" dirty="0"/>
          </a:p>
        </p:txBody>
      </p:sp>
      <p:sp>
        <p:nvSpPr>
          <p:cNvPr id="49" name="Shape 47"/>
          <p:cNvSpPr/>
          <p:nvPr/>
        </p:nvSpPr>
        <p:spPr>
          <a:xfrm>
            <a:off x="201168" y="3749040"/>
            <a:ext cx="8741664" cy="420624"/>
          </a:xfrm>
          <a:prstGeom prst="rect">
            <a:avLst/>
          </a:prstGeom>
          <a:solidFill>
            <a:srgbClr val="FFFFFF"/>
          </a:solidFill>
          <a:ln w="3810">
            <a:solidFill>
              <a:srgbClr val="E2E8F0"/>
            </a:solidFill>
            <a:prstDash val="solid"/>
          </a:ln>
        </p:spPr>
      </p:sp>
      <p:sp>
        <p:nvSpPr>
          <p:cNvPr id="50" name="Text 48"/>
          <p:cNvSpPr/>
          <p:nvPr/>
        </p:nvSpPr>
        <p:spPr>
          <a:xfrm>
            <a:off x="274320" y="3831336"/>
            <a:ext cx="2926080" cy="256032"/>
          </a:xfrm>
          <a:prstGeom prst="rect">
            <a:avLst/>
          </a:prstGeom>
          <a:noFill/>
          <a:ln/>
        </p:spPr>
        <p:txBody>
          <a:bodyPr wrap="square" lIns="0" tIns="0" rIns="0" bIns="0" rtlCol="0" anchor="ctr"/>
          <a:lstStyle/>
          <a:p>
            <a:pPr marL="0" indent="0">
              <a:buNone/>
            </a:pPr>
            <a:r>
              <a:rPr lang="en-US" sz="1000" b="1" dirty="0">
                <a:solidFill>
                  <a:srgbClr val="2D2D2D"/>
                </a:solidFill>
                <a:latin typeface="Calibri" pitchFamily="34" charset="0"/>
                <a:ea typeface="Calibri" pitchFamily="34" charset="-122"/>
                <a:cs typeface="Calibri" pitchFamily="34" charset="-120"/>
              </a:rPr>
              <a:t>Avg. SERP Click-Through Rate</a:t>
            </a:r>
            <a:endParaRPr lang="en-US" sz="1000" dirty="0"/>
          </a:p>
        </p:txBody>
      </p:sp>
      <p:sp>
        <p:nvSpPr>
          <p:cNvPr id="51" name="Text 49"/>
          <p:cNvSpPr/>
          <p:nvPr/>
        </p:nvSpPr>
        <p:spPr>
          <a:xfrm>
            <a:off x="3364992" y="3831336"/>
            <a:ext cx="1371600" cy="256032"/>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~2–3%</a:t>
            </a:r>
            <a:endParaRPr lang="en-US" sz="1000" dirty="0"/>
          </a:p>
        </p:txBody>
      </p:sp>
      <p:sp>
        <p:nvSpPr>
          <p:cNvPr id="52" name="Text 50"/>
          <p:cNvSpPr/>
          <p:nvPr/>
        </p:nvSpPr>
        <p:spPr>
          <a:xfrm>
            <a:off x="4828032" y="3831336"/>
            <a:ext cx="1371600" cy="256032"/>
          </a:xfrm>
          <a:prstGeom prst="rect">
            <a:avLst/>
          </a:prstGeom>
          <a:noFill/>
          <a:ln/>
        </p:spPr>
        <p:txBody>
          <a:bodyPr wrap="square" lIns="0" tIns="0" rIns="0" bIns="0" rtlCol="0" anchor="ctr"/>
          <a:lstStyle/>
          <a:p>
            <a:pPr marL="0" indent="0">
              <a:buNone/>
            </a:pPr>
            <a:r>
              <a:rPr lang="en-US" sz="1000" b="1" dirty="0">
                <a:solidFill>
                  <a:srgbClr val="2D2D2D"/>
                </a:solidFill>
                <a:latin typeface="Calibri" pitchFamily="34" charset="0"/>
                <a:ea typeface="Calibri" pitchFamily="34" charset="-122"/>
                <a:cs typeface="Calibri" pitchFamily="34" charset="-120"/>
              </a:rPr>
              <a:t>3.5%+</a:t>
            </a:r>
            <a:endParaRPr lang="en-US" sz="1000" dirty="0"/>
          </a:p>
        </p:txBody>
      </p:sp>
      <p:sp>
        <p:nvSpPr>
          <p:cNvPr id="53" name="Text 51"/>
          <p:cNvSpPr/>
          <p:nvPr/>
        </p:nvSpPr>
        <p:spPr>
          <a:xfrm>
            <a:off x="6291072" y="3831336"/>
            <a:ext cx="1371600" cy="256032"/>
          </a:xfrm>
          <a:prstGeom prst="rect">
            <a:avLst/>
          </a:prstGeom>
          <a:noFill/>
          <a:ln/>
        </p:spPr>
        <p:txBody>
          <a:bodyPr wrap="square" lIns="0" tIns="0" rIns="0" bIns="0" rtlCol="0" anchor="ctr"/>
          <a:lstStyle/>
          <a:p>
            <a:pPr marL="0" indent="0">
              <a:buNone/>
            </a:pPr>
            <a:r>
              <a:rPr lang="en-US" sz="1000" b="1" dirty="0">
                <a:solidFill>
                  <a:srgbClr val="2D2D2D"/>
                </a:solidFill>
                <a:latin typeface="Calibri" pitchFamily="34" charset="0"/>
                <a:ea typeface="Calibri" pitchFamily="34" charset="-122"/>
                <a:cs typeface="Calibri" pitchFamily="34" charset="-120"/>
              </a:rPr>
              <a:t>4.5%+</a:t>
            </a:r>
            <a:endParaRPr lang="en-US" sz="1000" dirty="0"/>
          </a:p>
        </p:txBody>
      </p:sp>
      <p:sp>
        <p:nvSpPr>
          <p:cNvPr id="54" name="Text 52"/>
          <p:cNvSpPr/>
          <p:nvPr/>
        </p:nvSpPr>
        <p:spPr>
          <a:xfrm>
            <a:off x="7754112" y="3831336"/>
            <a:ext cx="1371600" cy="256032"/>
          </a:xfrm>
          <a:prstGeom prst="rect">
            <a:avLst/>
          </a:prstGeom>
          <a:noFill/>
          <a:ln/>
        </p:spPr>
        <p:txBody>
          <a:bodyPr wrap="square" lIns="0" tIns="0" rIns="0" bIns="0" rtlCol="0" anchor="ctr"/>
          <a:lstStyle/>
          <a:p>
            <a:pPr marL="0" indent="0">
              <a:buNone/>
            </a:pPr>
            <a:r>
              <a:rPr lang="en-US" sz="1000" b="1" dirty="0">
                <a:solidFill>
                  <a:srgbClr val="16A34A"/>
                </a:solidFill>
                <a:latin typeface="Calibri" pitchFamily="34" charset="0"/>
                <a:ea typeface="Calibri" pitchFamily="34" charset="-122"/>
                <a:cs typeface="Calibri" pitchFamily="34" charset="-120"/>
              </a:rPr>
              <a:t>6%+</a:t>
            </a:r>
            <a:endParaRPr lang="en-US" sz="1000" dirty="0"/>
          </a:p>
        </p:txBody>
      </p:sp>
      <p:sp>
        <p:nvSpPr>
          <p:cNvPr id="55" name="Shape 53"/>
          <p:cNvSpPr/>
          <p:nvPr/>
        </p:nvSpPr>
        <p:spPr>
          <a:xfrm>
            <a:off x="201168" y="4206240"/>
            <a:ext cx="8741664" cy="420624"/>
          </a:xfrm>
          <a:prstGeom prst="rect">
            <a:avLst/>
          </a:prstGeom>
          <a:solidFill>
            <a:srgbClr val="F1F5F9"/>
          </a:solidFill>
          <a:ln w="3810">
            <a:solidFill>
              <a:srgbClr val="E2E8F0"/>
            </a:solidFill>
            <a:prstDash val="solid"/>
          </a:ln>
        </p:spPr>
      </p:sp>
      <p:sp>
        <p:nvSpPr>
          <p:cNvPr id="56" name="Text 54"/>
          <p:cNvSpPr/>
          <p:nvPr/>
        </p:nvSpPr>
        <p:spPr>
          <a:xfrm>
            <a:off x="274320" y="4288536"/>
            <a:ext cx="2926080" cy="256032"/>
          </a:xfrm>
          <a:prstGeom prst="rect">
            <a:avLst/>
          </a:prstGeom>
          <a:noFill/>
          <a:ln/>
        </p:spPr>
        <p:txBody>
          <a:bodyPr wrap="square" lIns="0" tIns="0" rIns="0" bIns="0" rtlCol="0" anchor="ctr"/>
          <a:lstStyle/>
          <a:p>
            <a:pPr marL="0" indent="0">
              <a:buNone/>
            </a:pPr>
            <a:r>
              <a:rPr lang="en-US" sz="1000" b="1" dirty="0">
                <a:solidFill>
                  <a:srgbClr val="2D2D2D"/>
                </a:solidFill>
                <a:latin typeface="Calibri" pitchFamily="34" charset="0"/>
                <a:ea typeface="Calibri" pitchFamily="34" charset="-122"/>
                <a:cs typeface="Calibri" pitchFamily="34" charset="-120"/>
              </a:rPr>
              <a:t>Organic Conversion Rate</a:t>
            </a:r>
            <a:endParaRPr lang="en-US" sz="1000" dirty="0"/>
          </a:p>
        </p:txBody>
      </p:sp>
      <p:sp>
        <p:nvSpPr>
          <p:cNvPr id="57" name="Text 55"/>
          <p:cNvSpPr/>
          <p:nvPr/>
        </p:nvSpPr>
        <p:spPr>
          <a:xfrm>
            <a:off x="3364992" y="4288536"/>
            <a:ext cx="1371600" cy="256032"/>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2–2.5%</a:t>
            </a:r>
            <a:endParaRPr lang="en-US" sz="1000" dirty="0"/>
          </a:p>
        </p:txBody>
      </p:sp>
      <p:sp>
        <p:nvSpPr>
          <p:cNvPr id="58" name="Text 56"/>
          <p:cNvSpPr/>
          <p:nvPr/>
        </p:nvSpPr>
        <p:spPr>
          <a:xfrm>
            <a:off x="4828032" y="4288536"/>
            <a:ext cx="1371600" cy="256032"/>
          </a:xfrm>
          <a:prstGeom prst="rect">
            <a:avLst/>
          </a:prstGeom>
          <a:noFill/>
          <a:ln/>
        </p:spPr>
        <p:txBody>
          <a:bodyPr wrap="square" lIns="0" tIns="0" rIns="0" bIns="0" rtlCol="0" anchor="ctr"/>
          <a:lstStyle/>
          <a:p>
            <a:pPr marL="0" indent="0">
              <a:buNone/>
            </a:pPr>
            <a:r>
              <a:rPr lang="en-US" sz="1000" b="1" dirty="0">
                <a:solidFill>
                  <a:srgbClr val="2D2D2D"/>
                </a:solidFill>
                <a:latin typeface="Calibri" pitchFamily="34" charset="0"/>
                <a:ea typeface="Calibri" pitchFamily="34" charset="-122"/>
                <a:cs typeface="Calibri" pitchFamily="34" charset="-120"/>
              </a:rPr>
              <a:t>2.5%+</a:t>
            </a:r>
            <a:endParaRPr lang="en-US" sz="1000" dirty="0"/>
          </a:p>
        </p:txBody>
      </p:sp>
      <p:sp>
        <p:nvSpPr>
          <p:cNvPr id="59" name="Text 57"/>
          <p:cNvSpPr/>
          <p:nvPr/>
        </p:nvSpPr>
        <p:spPr>
          <a:xfrm>
            <a:off x="6291072" y="4288536"/>
            <a:ext cx="1371600" cy="256032"/>
          </a:xfrm>
          <a:prstGeom prst="rect">
            <a:avLst/>
          </a:prstGeom>
          <a:noFill/>
          <a:ln/>
        </p:spPr>
        <p:txBody>
          <a:bodyPr wrap="square" lIns="0" tIns="0" rIns="0" bIns="0" rtlCol="0" anchor="ctr"/>
          <a:lstStyle/>
          <a:p>
            <a:pPr marL="0" indent="0">
              <a:buNone/>
            </a:pPr>
            <a:r>
              <a:rPr lang="en-US" sz="1000" b="1" dirty="0">
                <a:solidFill>
                  <a:srgbClr val="2D2D2D"/>
                </a:solidFill>
                <a:latin typeface="Calibri" pitchFamily="34" charset="0"/>
                <a:ea typeface="Calibri" pitchFamily="34" charset="-122"/>
                <a:cs typeface="Calibri" pitchFamily="34" charset="-120"/>
              </a:rPr>
              <a:t>3%+</a:t>
            </a:r>
            <a:endParaRPr lang="en-US" sz="1000" dirty="0"/>
          </a:p>
        </p:txBody>
      </p:sp>
      <p:sp>
        <p:nvSpPr>
          <p:cNvPr id="60" name="Text 58"/>
          <p:cNvSpPr/>
          <p:nvPr/>
        </p:nvSpPr>
        <p:spPr>
          <a:xfrm>
            <a:off x="7754112" y="4288536"/>
            <a:ext cx="1371600" cy="256032"/>
          </a:xfrm>
          <a:prstGeom prst="rect">
            <a:avLst/>
          </a:prstGeom>
          <a:noFill/>
          <a:ln/>
        </p:spPr>
        <p:txBody>
          <a:bodyPr wrap="square" lIns="0" tIns="0" rIns="0" bIns="0" rtlCol="0" anchor="ctr"/>
          <a:lstStyle/>
          <a:p>
            <a:pPr marL="0" indent="0">
              <a:buNone/>
            </a:pPr>
            <a:r>
              <a:rPr lang="en-US" sz="1000" b="1" dirty="0">
                <a:solidFill>
                  <a:srgbClr val="16A34A"/>
                </a:solidFill>
                <a:latin typeface="Calibri" pitchFamily="34" charset="0"/>
                <a:ea typeface="Calibri" pitchFamily="34" charset="-122"/>
                <a:cs typeface="Calibri" pitchFamily="34" charset="-120"/>
              </a:rPr>
              <a:t>3.5%+</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E94560"/>
          </a:solidFill>
          <a:ln w="12700">
            <a:solidFill>
              <a:srgbClr val="E94560"/>
            </a:solidFill>
            <a:prstDash val="solid"/>
          </a:ln>
        </p:spPr>
      </p:sp>
      <p:sp>
        <p:nvSpPr>
          <p:cNvPr id="3" name="Shape 1"/>
          <p:cNvSpPr/>
          <p:nvPr/>
        </p:nvSpPr>
        <p:spPr>
          <a:xfrm>
            <a:off x="5943600" y="274320"/>
            <a:ext cx="91440" cy="91440"/>
          </a:xfrm>
          <a:prstGeom prst="ellipse">
            <a:avLst/>
          </a:prstGeom>
          <a:solidFill>
            <a:srgbClr val="E94560">
              <a:alpha val="40000"/>
            </a:srgbClr>
          </a:solidFill>
          <a:ln w="12700">
            <a:solidFill>
              <a:srgbClr val="E94560">
                <a:alpha val="40000"/>
              </a:srgbClr>
            </a:solidFill>
            <a:prstDash val="solid"/>
          </a:ln>
        </p:spPr>
      </p:sp>
      <p:sp>
        <p:nvSpPr>
          <p:cNvPr id="4" name="Shape 2"/>
          <p:cNvSpPr/>
          <p:nvPr/>
        </p:nvSpPr>
        <p:spPr>
          <a:xfrm>
            <a:off x="6446520" y="274320"/>
            <a:ext cx="91440" cy="91440"/>
          </a:xfrm>
          <a:prstGeom prst="ellipse">
            <a:avLst/>
          </a:prstGeom>
          <a:solidFill>
            <a:srgbClr val="E94560">
              <a:alpha val="40000"/>
            </a:srgbClr>
          </a:solidFill>
          <a:ln w="12700">
            <a:solidFill>
              <a:srgbClr val="E94560">
                <a:alpha val="40000"/>
              </a:srgbClr>
            </a:solidFill>
            <a:prstDash val="solid"/>
          </a:ln>
        </p:spPr>
      </p:sp>
      <p:sp>
        <p:nvSpPr>
          <p:cNvPr id="5" name="Shape 3"/>
          <p:cNvSpPr/>
          <p:nvPr/>
        </p:nvSpPr>
        <p:spPr>
          <a:xfrm>
            <a:off x="6949440" y="274320"/>
            <a:ext cx="91440" cy="91440"/>
          </a:xfrm>
          <a:prstGeom prst="ellipse">
            <a:avLst/>
          </a:prstGeom>
          <a:solidFill>
            <a:srgbClr val="E94560">
              <a:alpha val="40000"/>
            </a:srgbClr>
          </a:solidFill>
          <a:ln w="12700">
            <a:solidFill>
              <a:srgbClr val="E94560">
                <a:alpha val="40000"/>
              </a:srgbClr>
            </a:solidFill>
            <a:prstDash val="solid"/>
          </a:ln>
        </p:spPr>
      </p:sp>
      <p:sp>
        <p:nvSpPr>
          <p:cNvPr id="6" name="Shape 4"/>
          <p:cNvSpPr/>
          <p:nvPr/>
        </p:nvSpPr>
        <p:spPr>
          <a:xfrm>
            <a:off x="7452360" y="274320"/>
            <a:ext cx="91440" cy="91440"/>
          </a:xfrm>
          <a:prstGeom prst="ellipse">
            <a:avLst/>
          </a:prstGeom>
          <a:solidFill>
            <a:srgbClr val="E94560">
              <a:alpha val="40000"/>
            </a:srgbClr>
          </a:solidFill>
          <a:ln w="12700">
            <a:solidFill>
              <a:srgbClr val="E94560">
                <a:alpha val="40000"/>
              </a:srgbClr>
            </a:solidFill>
            <a:prstDash val="solid"/>
          </a:ln>
        </p:spPr>
      </p:sp>
      <p:sp>
        <p:nvSpPr>
          <p:cNvPr id="7" name="Shape 5"/>
          <p:cNvSpPr/>
          <p:nvPr/>
        </p:nvSpPr>
        <p:spPr>
          <a:xfrm>
            <a:off x="7955280" y="274320"/>
            <a:ext cx="91440" cy="91440"/>
          </a:xfrm>
          <a:prstGeom prst="ellipse">
            <a:avLst/>
          </a:prstGeom>
          <a:solidFill>
            <a:srgbClr val="E94560">
              <a:alpha val="40000"/>
            </a:srgbClr>
          </a:solidFill>
          <a:ln w="12700">
            <a:solidFill>
              <a:srgbClr val="E94560">
                <a:alpha val="40000"/>
              </a:srgbClr>
            </a:solidFill>
            <a:prstDash val="solid"/>
          </a:ln>
        </p:spPr>
      </p:sp>
      <p:sp>
        <p:nvSpPr>
          <p:cNvPr id="8" name="Shape 6"/>
          <p:cNvSpPr/>
          <p:nvPr/>
        </p:nvSpPr>
        <p:spPr>
          <a:xfrm>
            <a:off x="8458200" y="274320"/>
            <a:ext cx="91440" cy="91440"/>
          </a:xfrm>
          <a:prstGeom prst="ellipse">
            <a:avLst/>
          </a:prstGeom>
          <a:solidFill>
            <a:srgbClr val="E94560">
              <a:alpha val="40000"/>
            </a:srgbClr>
          </a:solidFill>
          <a:ln w="12700">
            <a:solidFill>
              <a:srgbClr val="E94560">
                <a:alpha val="40000"/>
              </a:srgbClr>
            </a:solidFill>
            <a:prstDash val="solid"/>
          </a:ln>
        </p:spPr>
      </p:sp>
      <p:sp>
        <p:nvSpPr>
          <p:cNvPr id="9" name="Shape 7"/>
          <p:cNvSpPr/>
          <p:nvPr/>
        </p:nvSpPr>
        <p:spPr>
          <a:xfrm>
            <a:off x="5943600" y="777240"/>
            <a:ext cx="91440" cy="91440"/>
          </a:xfrm>
          <a:prstGeom prst="ellipse">
            <a:avLst/>
          </a:prstGeom>
          <a:solidFill>
            <a:srgbClr val="E94560">
              <a:alpha val="40000"/>
            </a:srgbClr>
          </a:solidFill>
          <a:ln w="12700">
            <a:solidFill>
              <a:srgbClr val="E94560">
                <a:alpha val="40000"/>
              </a:srgbClr>
            </a:solidFill>
            <a:prstDash val="solid"/>
          </a:ln>
        </p:spPr>
      </p:sp>
      <p:sp>
        <p:nvSpPr>
          <p:cNvPr id="10" name="Shape 8"/>
          <p:cNvSpPr/>
          <p:nvPr/>
        </p:nvSpPr>
        <p:spPr>
          <a:xfrm>
            <a:off x="6446520" y="777240"/>
            <a:ext cx="91440" cy="91440"/>
          </a:xfrm>
          <a:prstGeom prst="ellipse">
            <a:avLst/>
          </a:prstGeom>
          <a:solidFill>
            <a:srgbClr val="E94560">
              <a:alpha val="40000"/>
            </a:srgbClr>
          </a:solidFill>
          <a:ln w="12700">
            <a:solidFill>
              <a:srgbClr val="E94560">
                <a:alpha val="40000"/>
              </a:srgbClr>
            </a:solidFill>
            <a:prstDash val="solid"/>
          </a:ln>
        </p:spPr>
      </p:sp>
      <p:sp>
        <p:nvSpPr>
          <p:cNvPr id="11" name="Shape 9"/>
          <p:cNvSpPr/>
          <p:nvPr/>
        </p:nvSpPr>
        <p:spPr>
          <a:xfrm>
            <a:off x="6949440" y="777240"/>
            <a:ext cx="91440" cy="91440"/>
          </a:xfrm>
          <a:prstGeom prst="ellipse">
            <a:avLst/>
          </a:prstGeom>
          <a:solidFill>
            <a:srgbClr val="E94560">
              <a:alpha val="40000"/>
            </a:srgbClr>
          </a:solidFill>
          <a:ln w="12700">
            <a:solidFill>
              <a:srgbClr val="E94560">
                <a:alpha val="40000"/>
              </a:srgbClr>
            </a:solidFill>
            <a:prstDash val="solid"/>
          </a:ln>
        </p:spPr>
      </p:sp>
      <p:sp>
        <p:nvSpPr>
          <p:cNvPr id="12" name="Shape 10"/>
          <p:cNvSpPr/>
          <p:nvPr/>
        </p:nvSpPr>
        <p:spPr>
          <a:xfrm>
            <a:off x="7452360" y="777240"/>
            <a:ext cx="91440" cy="91440"/>
          </a:xfrm>
          <a:prstGeom prst="ellipse">
            <a:avLst/>
          </a:prstGeom>
          <a:solidFill>
            <a:srgbClr val="E94560">
              <a:alpha val="40000"/>
            </a:srgbClr>
          </a:solidFill>
          <a:ln w="12700">
            <a:solidFill>
              <a:srgbClr val="E94560">
                <a:alpha val="40000"/>
              </a:srgbClr>
            </a:solidFill>
            <a:prstDash val="solid"/>
          </a:ln>
        </p:spPr>
      </p:sp>
      <p:sp>
        <p:nvSpPr>
          <p:cNvPr id="13" name="Shape 11"/>
          <p:cNvSpPr/>
          <p:nvPr/>
        </p:nvSpPr>
        <p:spPr>
          <a:xfrm>
            <a:off x="7955280" y="777240"/>
            <a:ext cx="91440" cy="91440"/>
          </a:xfrm>
          <a:prstGeom prst="ellipse">
            <a:avLst/>
          </a:prstGeom>
          <a:solidFill>
            <a:srgbClr val="E94560">
              <a:alpha val="40000"/>
            </a:srgbClr>
          </a:solidFill>
          <a:ln w="12700">
            <a:solidFill>
              <a:srgbClr val="E94560">
                <a:alpha val="40000"/>
              </a:srgbClr>
            </a:solidFill>
            <a:prstDash val="solid"/>
          </a:ln>
        </p:spPr>
      </p:sp>
      <p:sp>
        <p:nvSpPr>
          <p:cNvPr id="14" name="Shape 12"/>
          <p:cNvSpPr/>
          <p:nvPr/>
        </p:nvSpPr>
        <p:spPr>
          <a:xfrm>
            <a:off x="8458200" y="777240"/>
            <a:ext cx="91440" cy="91440"/>
          </a:xfrm>
          <a:prstGeom prst="ellipse">
            <a:avLst/>
          </a:prstGeom>
          <a:solidFill>
            <a:srgbClr val="E94560">
              <a:alpha val="40000"/>
            </a:srgbClr>
          </a:solidFill>
          <a:ln w="12700">
            <a:solidFill>
              <a:srgbClr val="E94560">
                <a:alpha val="40000"/>
              </a:srgbClr>
            </a:solidFill>
            <a:prstDash val="solid"/>
          </a:ln>
        </p:spPr>
      </p:sp>
      <p:sp>
        <p:nvSpPr>
          <p:cNvPr id="15" name="Shape 13"/>
          <p:cNvSpPr/>
          <p:nvPr/>
        </p:nvSpPr>
        <p:spPr>
          <a:xfrm>
            <a:off x="5943600" y="1280160"/>
            <a:ext cx="91440" cy="91440"/>
          </a:xfrm>
          <a:prstGeom prst="ellipse">
            <a:avLst/>
          </a:prstGeom>
          <a:solidFill>
            <a:srgbClr val="E94560">
              <a:alpha val="40000"/>
            </a:srgbClr>
          </a:solidFill>
          <a:ln w="12700">
            <a:solidFill>
              <a:srgbClr val="E94560">
                <a:alpha val="40000"/>
              </a:srgbClr>
            </a:solidFill>
            <a:prstDash val="solid"/>
          </a:ln>
        </p:spPr>
      </p:sp>
      <p:sp>
        <p:nvSpPr>
          <p:cNvPr id="16" name="Shape 14"/>
          <p:cNvSpPr/>
          <p:nvPr/>
        </p:nvSpPr>
        <p:spPr>
          <a:xfrm>
            <a:off x="6446520" y="1280160"/>
            <a:ext cx="91440" cy="91440"/>
          </a:xfrm>
          <a:prstGeom prst="ellipse">
            <a:avLst/>
          </a:prstGeom>
          <a:solidFill>
            <a:srgbClr val="E94560">
              <a:alpha val="40000"/>
            </a:srgbClr>
          </a:solidFill>
          <a:ln w="12700">
            <a:solidFill>
              <a:srgbClr val="E94560">
                <a:alpha val="40000"/>
              </a:srgbClr>
            </a:solidFill>
            <a:prstDash val="solid"/>
          </a:ln>
        </p:spPr>
      </p:sp>
      <p:sp>
        <p:nvSpPr>
          <p:cNvPr id="17" name="Shape 15"/>
          <p:cNvSpPr/>
          <p:nvPr/>
        </p:nvSpPr>
        <p:spPr>
          <a:xfrm>
            <a:off x="6949440" y="1280160"/>
            <a:ext cx="91440" cy="91440"/>
          </a:xfrm>
          <a:prstGeom prst="ellipse">
            <a:avLst/>
          </a:prstGeom>
          <a:solidFill>
            <a:srgbClr val="E94560">
              <a:alpha val="40000"/>
            </a:srgbClr>
          </a:solidFill>
          <a:ln w="12700">
            <a:solidFill>
              <a:srgbClr val="E94560">
                <a:alpha val="40000"/>
              </a:srgbClr>
            </a:solidFill>
            <a:prstDash val="solid"/>
          </a:ln>
        </p:spPr>
      </p:sp>
      <p:sp>
        <p:nvSpPr>
          <p:cNvPr id="18" name="Shape 16"/>
          <p:cNvSpPr/>
          <p:nvPr/>
        </p:nvSpPr>
        <p:spPr>
          <a:xfrm>
            <a:off x="7452360" y="1280160"/>
            <a:ext cx="91440" cy="91440"/>
          </a:xfrm>
          <a:prstGeom prst="ellipse">
            <a:avLst/>
          </a:prstGeom>
          <a:solidFill>
            <a:srgbClr val="E94560">
              <a:alpha val="40000"/>
            </a:srgbClr>
          </a:solidFill>
          <a:ln w="12700">
            <a:solidFill>
              <a:srgbClr val="E94560">
                <a:alpha val="40000"/>
              </a:srgbClr>
            </a:solidFill>
            <a:prstDash val="solid"/>
          </a:ln>
        </p:spPr>
      </p:sp>
      <p:sp>
        <p:nvSpPr>
          <p:cNvPr id="19" name="Shape 17"/>
          <p:cNvSpPr/>
          <p:nvPr/>
        </p:nvSpPr>
        <p:spPr>
          <a:xfrm>
            <a:off x="7955280" y="1280160"/>
            <a:ext cx="91440" cy="91440"/>
          </a:xfrm>
          <a:prstGeom prst="ellipse">
            <a:avLst/>
          </a:prstGeom>
          <a:solidFill>
            <a:srgbClr val="E94560">
              <a:alpha val="40000"/>
            </a:srgbClr>
          </a:solidFill>
          <a:ln w="12700">
            <a:solidFill>
              <a:srgbClr val="E94560">
                <a:alpha val="40000"/>
              </a:srgbClr>
            </a:solidFill>
            <a:prstDash val="solid"/>
          </a:ln>
        </p:spPr>
      </p:sp>
      <p:sp>
        <p:nvSpPr>
          <p:cNvPr id="20" name="Shape 18"/>
          <p:cNvSpPr/>
          <p:nvPr/>
        </p:nvSpPr>
        <p:spPr>
          <a:xfrm>
            <a:off x="8458200" y="1280160"/>
            <a:ext cx="91440" cy="91440"/>
          </a:xfrm>
          <a:prstGeom prst="ellipse">
            <a:avLst/>
          </a:prstGeom>
          <a:solidFill>
            <a:srgbClr val="E94560">
              <a:alpha val="40000"/>
            </a:srgbClr>
          </a:solidFill>
          <a:ln w="12700">
            <a:solidFill>
              <a:srgbClr val="E94560">
                <a:alpha val="40000"/>
              </a:srgbClr>
            </a:solidFill>
            <a:prstDash val="solid"/>
          </a:ln>
        </p:spPr>
      </p:sp>
      <p:sp>
        <p:nvSpPr>
          <p:cNvPr id="21" name="Shape 19"/>
          <p:cNvSpPr/>
          <p:nvPr/>
        </p:nvSpPr>
        <p:spPr>
          <a:xfrm>
            <a:off x="5943600" y="1783080"/>
            <a:ext cx="91440" cy="91440"/>
          </a:xfrm>
          <a:prstGeom prst="ellipse">
            <a:avLst/>
          </a:prstGeom>
          <a:solidFill>
            <a:srgbClr val="E94560">
              <a:alpha val="40000"/>
            </a:srgbClr>
          </a:solidFill>
          <a:ln w="12700">
            <a:solidFill>
              <a:srgbClr val="E94560">
                <a:alpha val="40000"/>
              </a:srgbClr>
            </a:solidFill>
            <a:prstDash val="solid"/>
          </a:ln>
        </p:spPr>
      </p:sp>
      <p:sp>
        <p:nvSpPr>
          <p:cNvPr id="22" name="Shape 20"/>
          <p:cNvSpPr/>
          <p:nvPr/>
        </p:nvSpPr>
        <p:spPr>
          <a:xfrm>
            <a:off x="6446520" y="1783080"/>
            <a:ext cx="91440" cy="91440"/>
          </a:xfrm>
          <a:prstGeom prst="ellipse">
            <a:avLst/>
          </a:prstGeom>
          <a:solidFill>
            <a:srgbClr val="E94560">
              <a:alpha val="40000"/>
            </a:srgbClr>
          </a:solidFill>
          <a:ln w="12700">
            <a:solidFill>
              <a:srgbClr val="E94560">
                <a:alpha val="40000"/>
              </a:srgbClr>
            </a:solidFill>
            <a:prstDash val="solid"/>
          </a:ln>
        </p:spPr>
      </p:sp>
      <p:sp>
        <p:nvSpPr>
          <p:cNvPr id="23" name="Shape 21"/>
          <p:cNvSpPr/>
          <p:nvPr/>
        </p:nvSpPr>
        <p:spPr>
          <a:xfrm>
            <a:off x="6949440" y="1783080"/>
            <a:ext cx="91440" cy="91440"/>
          </a:xfrm>
          <a:prstGeom prst="ellipse">
            <a:avLst/>
          </a:prstGeom>
          <a:solidFill>
            <a:srgbClr val="E94560">
              <a:alpha val="40000"/>
            </a:srgbClr>
          </a:solidFill>
          <a:ln w="12700">
            <a:solidFill>
              <a:srgbClr val="E94560">
                <a:alpha val="40000"/>
              </a:srgbClr>
            </a:solidFill>
            <a:prstDash val="solid"/>
          </a:ln>
        </p:spPr>
      </p:sp>
      <p:sp>
        <p:nvSpPr>
          <p:cNvPr id="24" name="Shape 22"/>
          <p:cNvSpPr/>
          <p:nvPr/>
        </p:nvSpPr>
        <p:spPr>
          <a:xfrm>
            <a:off x="7452360" y="1783080"/>
            <a:ext cx="91440" cy="91440"/>
          </a:xfrm>
          <a:prstGeom prst="ellipse">
            <a:avLst/>
          </a:prstGeom>
          <a:solidFill>
            <a:srgbClr val="E94560">
              <a:alpha val="40000"/>
            </a:srgbClr>
          </a:solidFill>
          <a:ln w="12700">
            <a:solidFill>
              <a:srgbClr val="E94560">
                <a:alpha val="40000"/>
              </a:srgbClr>
            </a:solidFill>
            <a:prstDash val="solid"/>
          </a:ln>
        </p:spPr>
      </p:sp>
      <p:sp>
        <p:nvSpPr>
          <p:cNvPr id="25" name="Shape 23"/>
          <p:cNvSpPr/>
          <p:nvPr/>
        </p:nvSpPr>
        <p:spPr>
          <a:xfrm>
            <a:off x="7955280" y="1783080"/>
            <a:ext cx="91440" cy="91440"/>
          </a:xfrm>
          <a:prstGeom prst="ellipse">
            <a:avLst/>
          </a:prstGeom>
          <a:solidFill>
            <a:srgbClr val="E94560">
              <a:alpha val="40000"/>
            </a:srgbClr>
          </a:solidFill>
          <a:ln w="12700">
            <a:solidFill>
              <a:srgbClr val="E94560">
                <a:alpha val="40000"/>
              </a:srgbClr>
            </a:solidFill>
            <a:prstDash val="solid"/>
          </a:ln>
        </p:spPr>
      </p:sp>
      <p:sp>
        <p:nvSpPr>
          <p:cNvPr id="26" name="Shape 24"/>
          <p:cNvSpPr/>
          <p:nvPr/>
        </p:nvSpPr>
        <p:spPr>
          <a:xfrm>
            <a:off x="8458200" y="1783080"/>
            <a:ext cx="91440" cy="91440"/>
          </a:xfrm>
          <a:prstGeom prst="ellipse">
            <a:avLst/>
          </a:prstGeom>
          <a:solidFill>
            <a:srgbClr val="E94560">
              <a:alpha val="40000"/>
            </a:srgbClr>
          </a:solidFill>
          <a:ln w="12700">
            <a:solidFill>
              <a:srgbClr val="E94560">
                <a:alpha val="40000"/>
              </a:srgbClr>
            </a:solidFill>
            <a:prstDash val="solid"/>
          </a:ln>
        </p:spPr>
      </p:sp>
      <p:sp>
        <p:nvSpPr>
          <p:cNvPr id="27" name="Text 25"/>
          <p:cNvSpPr/>
          <p:nvPr/>
        </p:nvSpPr>
        <p:spPr>
          <a:xfrm>
            <a:off x="365760" y="320040"/>
            <a:ext cx="5486400" cy="411480"/>
          </a:xfrm>
          <a:prstGeom prst="rect">
            <a:avLst/>
          </a:prstGeom>
          <a:noFill/>
          <a:ln/>
        </p:spPr>
        <p:txBody>
          <a:bodyPr wrap="square" lIns="0" tIns="0" rIns="0" bIns="0" rtlCol="0" anchor="ctr"/>
          <a:lstStyle/>
          <a:p>
            <a:pPr marL="0" indent="0">
              <a:buNone/>
            </a:pPr>
            <a:r>
              <a:rPr lang="en-US" sz="1400" b="1" kern="0" spc="300" dirty="0">
                <a:solidFill>
                  <a:srgbClr val="E94560"/>
                </a:solidFill>
                <a:latin typeface="Calibri" pitchFamily="34" charset="0"/>
                <a:ea typeface="Calibri" pitchFamily="34" charset="-122"/>
                <a:cs typeface="Calibri" pitchFamily="34" charset="-120"/>
              </a:rPr>
              <a:t>Conclusion</a:t>
            </a:r>
            <a:endParaRPr lang="en-US" sz="1400" dirty="0"/>
          </a:p>
        </p:txBody>
      </p:sp>
      <p:sp>
        <p:nvSpPr>
          <p:cNvPr id="28" name="Text 26"/>
          <p:cNvSpPr/>
          <p:nvPr/>
        </p:nvSpPr>
        <p:spPr>
          <a:xfrm>
            <a:off x="365760" y="777240"/>
            <a:ext cx="8412480" cy="1371600"/>
          </a:xfrm>
          <a:prstGeom prst="rect">
            <a:avLst/>
          </a:prstGeom>
          <a:noFill/>
          <a:ln/>
        </p:spPr>
        <p:txBody>
          <a:bodyPr wrap="square" lIns="0" tIns="0" rIns="0" bIns="0" rtlCol="0" anchor="ctr"/>
          <a:lstStyle/>
          <a:p>
            <a:pPr marL="0" indent="0">
              <a:lnSpc>
                <a:spcPct val="115000"/>
              </a:lnSpc>
              <a:buNone/>
            </a:pPr>
            <a:r>
              <a:rPr lang="en-US" sz="3000" b="1" dirty="0">
                <a:solidFill>
                  <a:srgbClr val="FFFFFF"/>
                </a:solidFill>
                <a:latin typeface="Calibri" pitchFamily="34" charset="0"/>
                <a:ea typeface="Calibri" pitchFamily="34" charset="-122"/>
                <a:cs typeface="Calibri" pitchFamily="34" charset="-120"/>
              </a:rPr>
              <a:t>Snitch Has a Massive SEO</a:t>
            </a:r>
            <a:endParaRPr lang="en-US" sz="3000" dirty="0"/>
          </a:p>
          <a:p>
            <a:pPr marL="0" indent="0">
              <a:lnSpc>
                <a:spcPct val="115000"/>
              </a:lnSpc>
              <a:buNone/>
            </a:pPr>
            <a:r>
              <a:rPr lang="en-US" sz="3000" b="1" dirty="0">
                <a:solidFill>
                  <a:srgbClr val="FFFFFF"/>
                </a:solidFill>
                <a:latin typeface="Calibri" pitchFamily="34" charset="0"/>
                <a:ea typeface="Calibri" pitchFamily="34" charset="-122"/>
                <a:cs typeface="Calibri" pitchFamily="34" charset="-120"/>
              </a:rPr>
              <a:t>Opportunity — Let's Capture It</a:t>
            </a:r>
            <a:endParaRPr lang="en-US" sz="3000" dirty="0"/>
          </a:p>
        </p:txBody>
      </p:sp>
      <p:sp>
        <p:nvSpPr>
          <p:cNvPr id="29" name="Shape 27"/>
          <p:cNvSpPr/>
          <p:nvPr/>
        </p:nvSpPr>
        <p:spPr>
          <a:xfrm>
            <a:off x="365760" y="2331720"/>
            <a:ext cx="2011680" cy="2286000"/>
          </a:xfrm>
          <a:prstGeom prst="rect">
            <a:avLst/>
          </a:prstGeom>
          <a:solidFill>
            <a:srgbClr val="0F3460"/>
          </a:solidFill>
          <a:ln w="12700">
            <a:solidFill>
              <a:srgbClr val="E94560"/>
            </a:solidFill>
            <a:prstDash val="solid"/>
          </a:ln>
          <a:effectLst>
            <a:outerShdw blurRad="63500" dist="25400" dir="8100000" algn="bl" rotWithShape="0">
              <a:srgbClr val="000000">
                <a:alpha val="10000"/>
              </a:srgbClr>
            </a:outerShdw>
          </a:effectLst>
        </p:spPr>
      </p:sp>
      <p:sp>
        <p:nvSpPr>
          <p:cNvPr id="30" name="Text 28"/>
          <p:cNvSpPr/>
          <p:nvPr/>
        </p:nvSpPr>
        <p:spPr>
          <a:xfrm>
            <a:off x="365760" y="2423160"/>
            <a:ext cx="2011680" cy="411480"/>
          </a:xfrm>
          <a:prstGeom prst="rect">
            <a:avLst/>
          </a:prstGeom>
          <a:noFill/>
          <a:ln/>
        </p:spPr>
        <p:txBody>
          <a:bodyPr wrap="square" lIns="0" tIns="0" rIns="0" bIns="0" rtlCol="0" anchor="ctr"/>
          <a:lstStyle/>
          <a:p>
            <a:pPr marL="0" indent="0" algn="ctr">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31" name="Text 29"/>
          <p:cNvSpPr/>
          <p:nvPr/>
        </p:nvSpPr>
        <p:spPr>
          <a:xfrm>
            <a:off x="457200" y="2880360"/>
            <a:ext cx="182880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Strong Foundation</a:t>
            </a:r>
            <a:endParaRPr lang="en-US" sz="1100" dirty="0"/>
          </a:p>
        </p:txBody>
      </p:sp>
      <p:sp>
        <p:nvSpPr>
          <p:cNvPr id="32" name="Text 30"/>
          <p:cNvSpPr/>
          <p:nvPr/>
        </p:nvSpPr>
        <p:spPr>
          <a:xfrm>
            <a:off x="457200" y="3246120"/>
            <a:ext cx="1828800" cy="1188720"/>
          </a:xfrm>
          <a:prstGeom prst="rect">
            <a:avLst/>
          </a:prstGeom>
          <a:noFill/>
          <a:ln/>
        </p:spPr>
        <p:txBody>
          <a:bodyPr wrap="square" lIns="0" tIns="0" rIns="0" bIns="0" rtlCol="0" anchor="ctr"/>
          <a:lstStyle/>
          <a:p>
            <a:pPr marL="0" indent="0" algn="ctr">
              <a:buNone/>
            </a:pPr>
            <a:r>
              <a:rPr lang="en-US" sz="950" dirty="0">
                <a:solidFill>
                  <a:srgbClr val="CADCFC"/>
                </a:solidFill>
                <a:latin typeface="Calibri" pitchFamily="34" charset="0"/>
                <a:ea typeface="Calibri" pitchFamily="34" charset="-122"/>
                <a:cs typeface="Calibri" pitchFamily="34" charset="-120"/>
              </a:rPr>
              <a:t>Brand equity, Shark Tank PR, 7M monthly visits — the base is there.</a:t>
            </a:r>
            <a:endParaRPr lang="en-US" sz="950" dirty="0"/>
          </a:p>
        </p:txBody>
      </p:sp>
      <p:sp>
        <p:nvSpPr>
          <p:cNvPr id="33" name="Shape 31"/>
          <p:cNvSpPr/>
          <p:nvPr/>
        </p:nvSpPr>
        <p:spPr>
          <a:xfrm>
            <a:off x="2542032" y="2331720"/>
            <a:ext cx="2011680" cy="2286000"/>
          </a:xfrm>
          <a:prstGeom prst="rect">
            <a:avLst/>
          </a:prstGeom>
          <a:solidFill>
            <a:srgbClr val="0F3460"/>
          </a:solidFill>
          <a:ln w="12700">
            <a:solidFill>
              <a:srgbClr val="E94560"/>
            </a:solidFill>
            <a:prstDash val="solid"/>
          </a:ln>
          <a:effectLst>
            <a:outerShdw blurRad="63500" dist="25400" dir="8100000" algn="bl" rotWithShape="0">
              <a:srgbClr val="000000">
                <a:alpha val="10000"/>
              </a:srgbClr>
            </a:outerShdw>
          </a:effectLst>
        </p:spPr>
      </p:sp>
      <p:sp>
        <p:nvSpPr>
          <p:cNvPr id="34" name="Text 32"/>
          <p:cNvSpPr/>
          <p:nvPr/>
        </p:nvSpPr>
        <p:spPr>
          <a:xfrm>
            <a:off x="2542032" y="2423160"/>
            <a:ext cx="2011680" cy="411480"/>
          </a:xfrm>
          <a:prstGeom prst="rect">
            <a:avLst/>
          </a:prstGeom>
          <a:noFill/>
          <a:ln/>
        </p:spPr>
        <p:txBody>
          <a:bodyPr wrap="square" lIns="0" tIns="0" rIns="0" bIns="0" rtlCol="0" anchor="ctr"/>
          <a:lstStyle/>
          <a:p>
            <a:pPr marL="0" indent="0" algn="ctr">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35" name="Text 33"/>
          <p:cNvSpPr/>
          <p:nvPr/>
        </p:nvSpPr>
        <p:spPr>
          <a:xfrm>
            <a:off x="2633472" y="2880360"/>
            <a:ext cx="182880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Untapped SEO</a:t>
            </a:r>
            <a:endParaRPr lang="en-US" sz="1100" dirty="0"/>
          </a:p>
        </p:txBody>
      </p:sp>
      <p:sp>
        <p:nvSpPr>
          <p:cNvPr id="36" name="Text 34"/>
          <p:cNvSpPr/>
          <p:nvPr/>
        </p:nvSpPr>
        <p:spPr>
          <a:xfrm>
            <a:off x="2633472" y="3246120"/>
            <a:ext cx="1828800" cy="1188720"/>
          </a:xfrm>
          <a:prstGeom prst="rect">
            <a:avLst/>
          </a:prstGeom>
          <a:noFill/>
          <a:ln/>
        </p:spPr>
        <p:txBody>
          <a:bodyPr wrap="square" lIns="0" tIns="0" rIns="0" bIns="0" rtlCol="0" anchor="ctr"/>
          <a:lstStyle/>
          <a:p>
            <a:pPr marL="0" indent="0" algn="ctr">
              <a:buNone/>
            </a:pPr>
            <a:r>
              <a:rPr lang="en-US" sz="950" dirty="0">
                <a:solidFill>
                  <a:srgbClr val="CADCFC"/>
                </a:solidFill>
                <a:latin typeface="Calibri" pitchFamily="34" charset="0"/>
                <a:ea typeface="Calibri" pitchFamily="34" charset="-122"/>
                <a:cs typeface="Calibri" pitchFamily="34" charset="-120"/>
              </a:rPr>
              <a:t>Only 25–30% of traffic comes from Google. Huge growth headroom.</a:t>
            </a:r>
            <a:endParaRPr lang="en-US" sz="950" dirty="0"/>
          </a:p>
        </p:txBody>
      </p:sp>
      <p:sp>
        <p:nvSpPr>
          <p:cNvPr id="37" name="Shape 35"/>
          <p:cNvSpPr/>
          <p:nvPr/>
        </p:nvSpPr>
        <p:spPr>
          <a:xfrm>
            <a:off x="4718304" y="2331720"/>
            <a:ext cx="2011680" cy="2286000"/>
          </a:xfrm>
          <a:prstGeom prst="rect">
            <a:avLst/>
          </a:prstGeom>
          <a:solidFill>
            <a:srgbClr val="0F3460"/>
          </a:solidFill>
          <a:ln w="12700">
            <a:solidFill>
              <a:srgbClr val="E94560"/>
            </a:solidFill>
            <a:prstDash val="solid"/>
          </a:ln>
          <a:effectLst>
            <a:outerShdw blurRad="63500" dist="25400" dir="8100000" algn="bl" rotWithShape="0">
              <a:srgbClr val="000000">
                <a:alpha val="10000"/>
              </a:srgbClr>
            </a:outerShdw>
          </a:effectLst>
        </p:spPr>
      </p:sp>
      <p:sp>
        <p:nvSpPr>
          <p:cNvPr id="38" name="Text 36"/>
          <p:cNvSpPr/>
          <p:nvPr/>
        </p:nvSpPr>
        <p:spPr>
          <a:xfrm>
            <a:off x="4718304" y="2423160"/>
            <a:ext cx="2011680" cy="411480"/>
          </a:xfrm>
          <a:prstGeom prst="rect">
            <a:avLst/>
          </a:prstGeom>
          <a:noFill/>
          <a:ln/>
        </p:spPr>
        <p:txBody>
          <a:bodyPr wrap="square" lIns="0" tIns="0" rIns="0" bIns="0" rtlCol="0" anchor="ctr"/>
          <a:lstStyle/>
          <a:p>
            <a:pPr marL="0" indent="0" algn="ctr">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39" name="Text 37"/>
          <p:cNvSpPr/>
          <p:nvPr/>
        </p:nvSpPr>
        <p:spPr>
          <a:xfrm>
            <a:off x="4809744" y="2880360"/>
            <a:ext cx="182880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Content Gap</a:t>
            </a:r>
            <a:endParaRPr lang="en-US" sz="1100" dirty="0"/>
          </a:p>
        </p:txBody>
      </p:sp>
      <p:sp>
        <p:nvSpPr>
          <p:cNvPr id="40" name="Text 38"/>
          <p:cNvSpPr/>
          <p:nvPr/>
        </p:nvSpPr>
        <p:spPr>
          <a:xfrm>
            <a:off x="4809744" y="3246120"/>
            <a:ext cx="1828800" cy="1188720"/>
          </a:xfrm>
          <a:prstGeom prst="rect">
            <a:avLst/>
          </a:prstGeom>
          <a:noFill/>
          <a:ln/>
        </p:spPr>
        <p:txBody>
          <a:bodyPr wrap="square" lIns="0" tIns="0" rIns="0" bIns="0" rtlCol="0" anchor="ctr"/>
          <a:lstStyle/>
          <a:p>
            <a:pPr marL="0" indent="0" algn="ctr">
              <a:buNone/>
            </a:pPr>
            <a:r>
              <a:rPr lang="en-US" sz="950" dirty="0">
                <a:solidFill>
                  <a:srgbClr val="CADCFC"/>
                </a:solidFill>
                <a:latin typeface="Calibri" pitchFamily="34" charset="0"/>
                <a:ea typeface="Calibri" pitchFamily="34" charset="-122"/>
                <a:cs typeface="Calibri" pitchFamily="34" charset="-120"/>
              </a:rPr>
              <a:t>No editorial blog, weak page content — quick wins available now.</a:t>
            </a:r>
            <a:endParaRPr lang="en-US" sz="950" dirty="0"/>
          </a:p>
        </p:txBody>
      </p:sp>
      <p:sp>
        <p:nvSpPr>
          <p:cNvPr id="41" name="Shape 39"/>
          <p:cNvSpPr/>
          <p:nvPr/>
        </p:nvSpPr>
        <p:spPr>
          <a:xfrm>
            <a:off x="6894576" y="2331720"/>
            <a:ext cx="2011680" cy="2286000"/>
          </a:xfrm>
          <a:prstGeom prst="rect">
            <a:avLst/>
          </a:prstGeom>
          <a:solidFill>
            <a:srgbClr val="0F3460"/>
          </a:solidFill>
          <a:ln w="12700">
            <a:solidFill>
              <a:srgbClr val="E94560"/>
            </a:solidFill>
            <a:prstDash val="solid"/>
          </a:ln>
          <a:effectLst>
            <a:outerShdw blurRad="63500" dist="25400" dir="8100000" algn="bl" rotWithShape="0">
              <a:srgbClr val="000000">
                <a:alpha val="10000"/>
              </a:srgbClr>
            </a:outerShdw>
          </a:effectLst>
        </p:spPr>
      </p:sp>
      <p:sp>
        <p:nvSpPr>
          <p:cNvPr id="42" name="Text 40"/>
          <p:cNvSpPr/>
          <p:nvPr/>
        </p:nvSpPr>
        <p:spPr>
          <a:xfrm>
            <a:off x="6894576" y="2423160"/>
            <a:ext cx="2011680" cy="411480"/>
          </a:xfrm>
          <a:prstGeom prst="rect">
            <a:avLst/>
          </a:prstGeom>
          <a:noFill/>
          <a:ln/>
        </p:spPr>
        <p:txBody>
          <a:bodyPr wrap="square" lIns="0" tIns="0" rIns="0" bIns="0" rtlCol="0" anchor="ctr"/>
          <a:lstStyle/>
          <a:p>
            <a:pPr marL="0" indent="0" algn="ctr">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43" name="Text 41"/>
          <p:cNvSpPr/>
          <p:nvPr/>
        </p:nvSpPr>
        <p:spPr>
          <a:xfrm>
            <a:off x="6986016" y="2880360"/>
            <a:ext cx="182880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Clear Roadmap</a:t>
            </a:r>
            <a:endParaRPr lang="en-US" sz="1100" dirty="0"/>
          </a:p>
        </p:txBody>
      </p:sp>
      <p:sp>
        <p:nvSpPr>
          <p:cNvPr id="44" name="Text 42"/>
          <p:cNvSpPr/>
          <p:nvPr/>
        </p:nvSpPr>
        <p:spPr>
          <a:xfrm>
            <a:off x="6986016" y="3246120"/>
            <a:ext cx="1828800" cy="1188720"/>
          </a:xfrm>
          <a:prstGeom prst="rect">
            <a:avLst/>
          </a:prstGeom>
          <a:noFill/>
          <a:ln/>
        </p:spPr>
        <p:txBody>
          <a:bodyPr wrap="square" lIns="0" tIns="0" rIns="0" bIns="0" rtlCol="0" anchor="ctr"/>
          <a:lstStyle/>
          <a:p>
            <a:pPr marL="0" indent="0" algn="ctr">
              <a:buNone/>
            </a:pPr>
            <a:r>
              <a:rPr lang="en-US" sz="950" dirty="0">
                <a:solidFill>
                  <a:srgbClr val="CADCFC"/>
                </a:solidFill>
                <a:latin typeface="Calibri" pitchFamily="34" charset="0"/>
                <a:ea typeface="Calibri" pitchFamily="34" charset="-122"/>
                <a:cs typeface="Calibri" pitchFamily="34" charset="-120"/>
              </a:rPr>
              <a:t>3-phase plan across 12 months will double organic traffic.</a:t>
            </a:r>
            <a:endParaRPr lang="en-US" sz="950" dirty="0"/>
          </a:p>
        </p:txBody>
      </p:sp>
      <p:sp>
        <p:nvSpPr>
          <p:cNvPr id="45" name="Text 43"/>
          <p:cNvSpPr/>
          <p:nvPr/>
        </p:nvSpPr>
        <p:spPr>
          <a:xfrm>
            <a:off x="365760" y="4754880"/>
            <a:ext cx="841248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  March 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1543</Words>
  <Application>Microsoft Office PowerPoint</Application>
  <PresentationFormat>On-screen Show (16:9)</PresentationFormat>
  <Paragraphs>246</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Snitch SEO Audit Report 2026</dc:title>
  <dc:subject>PptxGenJS Presentation</dc:subject>
  <dc:creator>PptxGenJS</dc:creator>
  <cp:lastModifiedBy>Naga Prasanna</cp:lastModifiedBy>
  <cp:revision>2</cp:revision>
  <dcterms:created xsi:type="dcterms:W3CDTF">2026-03-25T09:37:32Z</dcterms:created>
  <dcterms:modified xsi:type="dcterms:W3CDTF">2026-03-25T09:45:22Z</dcterms:modified>
</cp:coreProperties>
</file>